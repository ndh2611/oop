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256" r:id="rId2"/>
    <p:sldId id="28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257" r:id="rId54"/>
  </p:sldIdLst>
  <p:sldSz cx="9906000" cy="6858000" type="A4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et Tran Hoang" initials="VTH" lastIdx="1" clrIdx="0">
    <p:extLst>
      <p:ext uri="{19B8F6BF-5375-455C-9EA6-DF929625EA0E}">
        <p15:presenceInfo xmlns:p15="http://schemas.microsoft.com/office/powerpoint/2012/main" userId="Viet Tran Ho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66667" autoAdjust="0"/>
  </p:normalViewPr>
  <p:slideViewPr>
    <p:cSldViewPr>
      <p:cViewPr varScale="1">
        <p:scale>
          <a:sx n="49" d="100"/>
          <a:sy n="49" d="100"/>
        </p:scale>
        <p:origin x="1872" y="42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3846" y="-96"/>
      </p:cViewPr>
      <p:guideLst>
        <p:guide orient="horz" pos="2909"/>
        <p:guide pos="218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748AC-93B4-487F-A96C-BA994DE4E7E8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 Khanh Trinh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9D8547-35A4-4EEA-B872-4474869B3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4104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82CEB1-7062-46D9-BB31-314D962DF5FD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74725" y="692150"/>
            <a:ext cx="5000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 Khanh Trinh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78E64-6641-4E4F-82C1-AAE95B32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9060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74725" y="692150"/>
            <a:ext cx="5000625" cy="34639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C78E64-6641-4E4F-82C1-AAE95B32853E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 Khanh Trinh</a:t>
            </a:r>
          </a:p>
        </p:txBody>
      </p:sp>
    </p:spTree>
    <p:extLst>
      <p:ext uri="{BB962C8B-B14F-4D97-AF65-F5344CB8AC3E}">
        <p14:creationId xmlns:p14="http://schemas.microsoft.com/office/powerpoint/2010/main" val="2348688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AA7B04D-9CF8-458D-9604-0087ABB58D48}" type="slidenum">
              <a:rPr lang="en-US"/>
              <a:pPr/>
              <a:t>3</a:t>
            </a:fld>
            <a:endParaRPr lang="en-US"/>
          </a:p>
        </p:txBody>
      </p:sp>
      <p:sp>
        <p:nvSpPr>
          <p:cNvPr id="5836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837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39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7FF1D18-4312-43C6-BB7B-1F0D0AD52796}" type="slidenum">
              <a:rPr lang="en-US"/>
              <a:pPr/>
              <a:t>4</a:t>
            </a:fld>
            <a:endParaRPr lang="en-US"/>
          </a:p>
        </p:txBody>
      </p:sp>
      <p:sp>
        <p:nvSpPr>
          <p:cNvPr id="59393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C563B934-8DAD-4F8E-9B9F-94B0940381B7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4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59394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9395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19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7DED794-8B31-4238-AEE3-652F28A7B3DA}" type="slidenum">
              <a:rPr lang="en-US"/>
              <a:pPr/>
              <a:t>5</a:t>
            </a:fld>
            <a:endParaRPr lang="en-US"/>
          </a:p>
        </p:txBody>
      </p:sp>
      <p:sp>
        <p:nvSpPr>
          <p:cNvPr id="60417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0711FA2-BB03-4675-BB4D-3795DD9FD4FF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5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60418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0419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/>
              <a:t>Java có từ khóa var</a:t>
            </a:r>
          </a:p>
        </p:txBody>
      </p:sp>
    </p:spTree>
    <p:extLst>
      <p:ext uri="{BB962C8B-B14F-4D97-AF65-F5344CB8AC3E}">
        <p14:creationId xmlns:p14="http://schemas.microsoft.com/office/powerpoint/2010/main" val="4087532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EC3B8B4-3381-40D3-BE49-895ED96CB14F}" type="slidenum">
              <a:rPr lang="en-US"/>
              <a:pPr/>
              <a:t>6</a:t>
            </a:fld>
            <a:endParaRPr lang="en-US"/>
          </a:p>
        </p:txBody>
      </p:sp>
      <p:sp>
        <p:nvSpPr>
          <p:cNvPr id="61441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6C203D6-D9E6-429C-82C2-B4F74A604F23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6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61442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443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01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51E1747-C400-47D6-A05F-6561FCA54C88}" type="slidenum">
              <a:rPr lang="en-US"/>
              <a:pPr/>
              <a:t>7</a:t>
            </a:fld>
            <a:endParaRPr lang="en-US"/>
          </a:p>
        </p:txBody>
      </p:sp>
      <p:sp>
        <p:nvSpPr>
          <p:cNvPr id="62465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8AE741C3-F52B-4AC7-90E4-3939DCA472CB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7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62466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2467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92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C029137-BB2A-47CF-A74B-5FE528EB0F05}" type="slidenum">
              <a:rPr lang="en-US"/>
              <a:pPr/>
              <a:t>8</a:t>
            </a:fld>
            <a:endParaRPr lang="en-US"/>
          </a:p>
        </p:txBody>
      </p:sp>
      <p:sp>
        <p:nvSpPr>
          <p:cNvPr id="63489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97A02D84-35AA-48E3-8B2E-93C2464BAA1F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8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63490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3491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19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60AC518-D005-406B-89F4-187252EB1EE5}" type="slidenum">
              <a:rPr lang="en-US"/>
              <a:pPr/>
              <a:t>9</a:t>
            </a:fld>
            <a:endParaRPr lang="en-US"/>
          </a:p>
        </p:txBody>
      </p:sp>
      <p:sp>
        <p:nvSpPr>
          <p:cNvPr id="6451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451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lvl="1"/>
            <a:r>
              <a:rPr lang="en-US" dirty="0"/>
              <a:t>Registers: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can </a:t>
            </a:r>
            <a:r>
              <a:rPr lang="en-US" dirty="0" err="1"/>
              <a:t>thiệp</a:t>
            </a:r>
            <a:endParaRPr lang="en-US" dirty="0"/>
          </a:p>
          <a:p>
            <a:pPr lvl="1"/>
            <a:r>
              <a:rPr lang="en-US" dirty="0"/>
              <a:t>Stack: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  <a:p>
            <a:pPr lvl="1"/>
            <a:r>
              <a:rPr lang="en-US" dirty="0"/>
              <a:t>Heap: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  <a:p>
            <a:pPr lvl="1"/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tĩnh</a:t>
            </a:r>
            <a:r>
              <a:rPr lang="en-US" dirty="0"/>
              <a:t> (static storage):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liêu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suốt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endParaRPr lang="en-US" dirty="0"/>
          </a:p>
          <a:p>
            <a:pPr lvl="1"/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hằng</a:t>
            </a:r>
            <a:r>
              <a:rPr lang="en-US" dirty="0"/>
              <a:t> (constant storage):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hằng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  <a:p>
            <a:pPr lvl="1"/>
            <a:r>
              <a:rPr lang="en-US" dirty="0" err="1"/>
              <a:t>Vùng</a:t>
            </a:r>
            <a:r>
              <a:rPr lang="en-US" dirty="0"/>
              <a:t> Non-RAM: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luồng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87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4612F59-D74A-4CC4-80B7-C8627E348C23}" type="slidenum">
              <a:rPr lang="en-US"/>
              <a:pPr/>
              <a:t>10</a:t>
            </a:fld>
            <a:endParaRPr lang="en-US"/>
          </a:p>
        </p:txBody>
      </p:sp>
      <p:sp>
        <p:nvSpPr>
          <p:cNvPr id="65537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62ADF5B-DD85-4CBF-A5D2-B1A3728D4FDA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10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65538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5539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06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6DC85C0-0228-4896-B37E-0AA441038CD5}" type="slidenum">
              <a:rPr lang="en-US"/>
              <a:pPr/>
              <a:t>11</a:t>
            </a:fld>
            <a:endParaRPr lang="en-US"/>
          </a:p>
        </p:txBody>
      </p:sp>
      <p:sp>
        <p:nvSpPr>
          <p:cNvPr id="6656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656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566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30F9282-2FDF-4A10-BD14-30A1280B2018}" type="slidenum">
              <a:rPr lang="en-US"/>
              <a:pPr/>
              <a:t>12</a:t>
            </a:fld>
            <a:endParaRPr lang="en-US"/>
          </a:p>
        </p:txBody>
      </p:sp>
      <p:sp>
        <p:nvSpPr>
          <p:cNvPr id="67585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3BD3D5D-E01D-4C7E-863C-903E127EA5C4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12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67586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7587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862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42EE7FE-5C29-492C-8FFC-B48191B90445}" type="slidenum">
              <a:rPr lang="en-US"/>
              <a:pPr/>
              <a:t>13</a:t>
            </a:fld>
            <a:endParaRPr lang="en-US"/>
          </a:p>
        </p:txBody>
      </p:sp>
      <p:sp>
        <p:nvSpPr>
          <p:cNvPr id="68609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1AFDE9A-68D9-4BC4-84B0-8ABFEFB98F4C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13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68610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1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50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7082274-7D1B-4F89-9D6C-A35B904F4034}" type="slidenum">
              <a:rPr lang="en-US"/>
              <a:pPr/>
              <a:t>14</a:t>
            </a:fld>
            <a:endParaRPr lang="en-US"/>
          </a:p>
        </p:txBody>
      </p:sp>
      <p:sp>
        <p:nvSpPr>
          <p:cNvPr id="69633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60CBCA3-FE20-4BDC-9F69-995EE7D02423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14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69634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9635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05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629272F-C22F-48BA-9690-329FDA6DE248}" type="slidenum">
              <a:rPr lang="en-US"/>
              <a:pPr/>
              <a:t>15</a:t>
            </a:fld>
            <a:endParaRPr lang="en-US"/>
          </a:p>
        </p:txBody>
      </p:sp>
      <p:sp>
        <p:nvSpPr>
          <p:cNvPr id="70657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2774D7B-0A71-4EF4-8DFE-30B8D3F72C6D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15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70658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0659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11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276FBEE-30E1-4945-A0B6-C56126B1386F}" type="slidenum">
              <a:rPr lang="en-US"/>
              <a:pPr/>
              <a:t>16</a:t>
            </a:fld>
            <a:endParaRPr lang="en-US"/>
          </a:p>
        </p:txBody>
      </p:sp>
      <p:sp>
        <p:nvSpPr>
          <p:cNvPr id="71681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95C1440-076A-4F0F-AF6F-01A6B268EA1D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16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71682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3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94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FA9ABBE-22D8-475A-843A-F31B1FBE80E0}" type="slidenum">
              <a:rPr lang="en-US"/>
              <a:pPr/>
              <a:t>17</a:t>
            </a:fld>
            <a:endParaRPr lang="en-US"/>
          </a:p>
        </p:txBody>
      </p:sp>
      <p:sp>
        <p:nvSpPr>
          <p:cNvPr id="72705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05DD871-DFFD-4959-B26B-D0BAC64BBFCA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17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72706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2707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36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5DFAA07-0E77-4A4F-9BE5-C19EFABBCE54}" type="slidenum">
              <a:rPr lang="en-US"/>
              <a:pPr/>
              <a:t>18</a:t>
            </a:fld>
            <a:endParaRPr lang="en-US"/>
          </a:p>
        </p:txBody>
      </p:sp>
      <p:sp>
        <p:nvSpPr>
          <p:cNvPr id="73729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8B1AC22F-EF40-4885-8D00-2730B2C6F279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18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73730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3731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7603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CB41D24-CB2F-4218-B209-F046BF83DAF2}" type="slidenum">
              <a:rPr lang="en-US"/>
              <a:pPr/>
              <a:t>19</a:t>
            </a:fld>
            <a:endParaRPr lang="en-US"/>
          </a:p>
        </p:txBody>
      </p:sp>
      <p:sp>
        <p:nvSpPr>
          <p:cNvPr id="7475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475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/>
              <a:t>Đối</a:t>
            </a:r>
            <a:r>
              <a:rPr lang="en-US" baseline="0" dirty="0"/>
              <a:t> </a:t>
            </a:r>
            <a:r>
              <a:rPr lang="en-US" baseline="0" dirty="0" err="1"/>
              <a:t>tượng</a:t>
            </a:r>
            <a:r>
              <a:rPr lang="en-US" baseline="0" dirty="0"/>
              <a:t> </a:t>
            </a:r>
            <a:r>
              <a:rPr lang="en-US" baseline="0" dirty="0" err="1"/>
              <a:t>MyDate</a:t>
            </a:r>
            <a:r>
              <a:rPr lang="en-US" baseline="0" dirty="0"/>
              <a:t> </a:t>
            </a:r>
            <a:r>
              <a:rPr lang="en-US" baseline="0" dirty="0" err="1"/>
              <a:t>ứng</a:t>
            </a:r>
            <a:r>
              <a:rPr lang="en-US" baseline="0" dirty="0"/>
              <a:t> </a:t>
            </a:r>
            <a:r>
              <a:rPr lang="en-US" baseline="0" dirty="0" err="1"/>
              <a:t>với</a:t>
            </a:r>
            <a:r>
              <a:rPr lang="en-US" baseline="0" dirty="0"/>
              <a:t> “2-9-2019” </a:t>
            </a:r>
            <a:r>
              <a:rPr lang="en-US" baseline="0" dirty="0" err="1"/>
              <a:t>được</a:t>
            </a:r>
            <a:r>
              <a:rPr lang="en-US" baseline="0" dirty="0"/>
              <a:t> </a:t>
            </a:r>
            <a:r>
              <a:rPr lang="en-US" baseline="0" dirty="0" err="1"/>
              <a:t>giải</a:t>
            </a:r>
            <a:r>
              <a:rPr lang="en-US" baseline="0" dirty="0"/>
              <a:t> </a:t>
            </a:r>
            <a:r>
              <a:rPr lang="en-US" baseline="0" dirty="0" err="1"/>
              <a:t>phóng</a:t>
            </a:r>
            <a:r>
              <a:rPr lang="en-US" baseline="0" dirty="0"/>
              <a:t> </a:t>
            </a:r>
            <a:r>
              <a:rPr lang="en-US" baseline="0" dirty="0" err="1"/>
              <a:t>tự</a:t>
            </a:r>
            <a:r>
              <a:rPr lang="en-US" baseline="0" dirty="0"/>
              <a:t> </a:t>
            </a:r>
            <a:r>
              <a:rPr lang="en-US" baseline="0" dirty="0" err="1"/>
              <a:t>động</a:t>
            </a:r>
            <a:r>
              <a:rPr lang="en-US" baseline="0" dirty="0"/>
              <a:t> </a:t>
            </a:r>
            <a:r>
              <a:rPr lang="en-US" baseline="0" dirty="0" err="1"/>
              <a:t>vì</a:t>
            </a:r>
            <a:r>
              <a:rPr lang="en-US" baseline="0" dirty="0"/>
              <a:t> </a:t>
            </a:r>
            <a:r>
              <a:rPr lang="en-US" baseline="0" dirty="0" err="1"/>
              <a:t>không</a:t>
            </a:r>
            <a:r>
              <a:rPr lang="en-US" baseline="0" dirty="0"/>
              <a:t> </a:t>
            </a:r>
            <a:r>
              <a:rPr lang="en-US" baseline="0" dirty="0" err="1"/>
              <a:t>có</a:t>
            </a:r>
            <a:r>
              <a:rPr lang="en-US" baseline="0" dirty="0"/>
              <a:t> </a:t>
            </a:r>
            <a:r>
              <a:rPr lang="en-US" baseline="0" dirty="0" err="1"/>
              <a:t>tham</a:t>
            </a:r>
            <a:r>
              <a:rPr lang="en-US" baseline="0" dirty="0"/>
              <a:t> </a:t>
            </a:r>
            <a:r>
              <a:rPr lang="en-US" baseline="0" dirty="0" err="1"/>
              <a:t>chiếu</a:t>
            </a:r>
            <a:r>
              <a:rPr lang="en-US" baseline="0" dirty="0"/>
              <a:t> </a:t>
            </a:r>
            <a:r>
              <a:rPr lang="en-US" baseline="0" dirty="0" err="1"/>
              <a:t>nào</a:t>
            </a:r>
            <a:r>
              <a:rPr lang="en-US" baseline="0" dirty="0"/>
              <a:t> </a:t>
            </a:r>
            <a:r>
              <a:rPr lang="en-US" baseline="0" dirty="0" err="1"/>
              <a:t>trỏ</a:t>
            </a:r>
            <a:r>
              <a:rPr lang="en-US" baseline="0" dirty="0"/>
              <a:t> </a:t>
            </a:r>
            <a:r>
              <a:rPr lang="en-US" baseline="0" dirty="0" err="1"/>
              <a:t>đến</a:t>
            </a:r>
            <a:r>
              <a:rPr lang="en-US" baseline="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9308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C3FBE02-1EF2-4E07-82BC-481392EA5178}" type="slidenum">
              <a:rPr lang="en-US"/>
              <a:pPr/>
              <a:t>20</a:t>
            </a:fld>
            <a:endParaRPr lang="en-US"/>
          </a:p>
        </p:txBody>
      </p:sp>
      <p:sp>
        <p:nvSpPr>
          <p:cNvPr id="757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57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777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2E7CA77-E17C-4563-88F5-3E2A54676275}" type="slidenum">
              <a:rPr lang="en-US"/>
              <a:pPr/>
              <a:t>21</a:t>
            </a:fld>
            <a:endParaRPr lang="en-US"/>
          </a:p>
        </p:txBody>
      </p:sp>
      <p:sp>
        <p:nvSpPr>
          <p:cNvPr id="76801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D4DB078-9FAD-4514-A8E4-45141C5A314D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21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76802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6803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9392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8E77DCC-BD57-4D73-8B29-3064CD9E4921}" type="slidenum">
              <a:rPr lang="en-US"/>
              <a:pPr/>
              <a:t>22</a:t>
            </a:fld>
            <a:endParaRPr lang="en-US"/>
          </a:p>
        </p:txBody>
      </p:sp>
      <p:sp>
        <p:nvSpPr>
          <p:cNvPr id="77825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35079E5-1ED3-44A2-8F99-60E598768631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22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77826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7827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/>
              <a:t>Cần</a:t>
            </a:r>
            <a:r>
              <a:rPr lang="en-US" baseline="0" dirty="0"/>
              <a:t> </a:t>
            </a:r>
            <a:r>
              <a:rPr lang="en-US" baseline="0" dirty="0" err="1"/>
              <a:t>phân</a:t>
            </a:r>
            <a:r>
              <a:rPr lang="en-US" baseline="0" dirty="0"/>
              <a:t> </a:t>
            </a:r>
            <a:r>
              <a:rPr lang="en-US" baseline="0" dirty="0" err="1"/>
              <a:t>biệt</a:t>
            </a:r>
            <a:r>
              <a:rPr lang="en-US" baseline="0" dirty="0"/>
              <a:t> </a:t>
            </a:r>
            <a:r>
              <a:rPr lang="en-US" baseline="0" dirty="0" err="1"/>
              <a:t>hai</a:t>
            </a:r>
            <a:r>
              <a:rPr lang="en-US" baseline="0" dirty="0"/>
              <a:t> </a:t>
            </a:r>
            <a:r>
              <a:rPr lang="en-US" baseline="0" dirty="0" err="1"/>
              <a:t>trường</a:t>
            </a:r>
            <a:r>
              <a:rPr lang="en-US" baseline="0" dirty="0"/>
              <a:t> </a:t>
            </a:r>
            <a:r>
              <a:rPr lang="en-US" baseline="0" dirty="0" err="1"/>
              <a:t>hợp</a:t>
            </a:r>
            <a:r>
              <a:rPr lang="en-US" baseline="0" dirty="0"/>
              <a:t>: </a:t>
            </a:r>
            <a:r>
              <a:rPr lang="en-US" baseline="0" dirty="0" err="1"/>
              <a:t>DataType</a:t>
            </a:r>
            <a:r>
              <a:rPr lang="en-US" baseline="0" dirty="0"/>
              <a:t> </a:t>
            </a:r>
            <a:r>
              <a:rPr lang="en-US" baseline="0" dirty="0" err="1"/>
              <a:t>kiểu</a:t>
            </a:r>
            <a:r>
              <a:rPr lang="en-US" baseline="0" dirty="0"/>
              <a:t> </a:t>
            </a:r>
            <a:r>
              <a:rPr lang="en-US" baseline="0" dirty="0" err="1"/>
              <a:t>nguyên</a:t>
            </a:r>
            <a:r>
              <a:rPr lang="en-US" baseline="0" dirty="0"/>
              <a:t> </a:t>
            </a:r>
            <a:r>
              <a:rPr lang="en-US" baseline="0" dirty="0" err="1"/>
              <a:t>thủy</a:t>
            </a:r>
            <a:r>
              <a:rPr lang="en-US" baseline="0" dirty="0"/>
              <a:t> &amp; </a:t>
            </a:r>
            <a:r>
              <a:rPr lang="en-US" baseline="0" dirty="0" err="1"/>
              <a:t>kiểu</a:t>
            </a:r>
            <a:r>
              <a:rPr lang="en-US" baseline="0" dirty="0"/>
              <a:t> </a:t>
            </a:r>
            <a:r>
              <a:rPr lang="en-US" baseline="0" dirty="0" err="1"/>
              <a:t>tham</a:t>
            </a:r>
            <a:r>
              <a:rPr lang="en-US" baseline="0" dirty="0"/>
              <a:t> </a:t>
            </a:r>
            <a:r>
              <a:rPr lang="en-US" baseline="0" dirty="0" err="1"/>
              <a:t>chiếu</a:t>
            </a:r>
            <a:r>
              <a:rPr lang="en-US" baseline="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6259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A00C79D-0F92-4E68-9CA0-8521EF9F9399}" type="slidenum">
              <a:rPr lang="en-US"/>
              <a:pPr/>
              <a:t>23</a:t>
            </a:fld>
            <a:endParaRPr lang="en-US"/>
          </a:p>
        </p:txBody>
      </p:sp>
      <p:sp>
        <p:nvSpPr>
          <p:cNvPr id="78849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88AD98BC-16A7-45E9-94B0-84C9CBF5D284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23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78850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8851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50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260A80C-FFF1-4D73-A6EA-157AE6E1FFE5}" type="slidenum">
              <a:rPr lang="en-US"/>
              <a:pPr/>
              <a:t>24</a:t>
            </a:fld>
            <a:endParaRPr lang="en-US"/>
          </a:p>
        </p:txBody>
      </p:sp>
      <p:sp>
        <p:nvSpPr>
          <p:cNvPr id="79873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2F84F53-50A3-4479-A982-AA4506BFB7D6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24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79874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9875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25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9C0BEAC-6A07-493A-9A2B-6D9A9211E678}" type="slidenum">
              <a:rPr lang="en-US"/>
              <a:pPr/>
              <a:t>25</a:t>
            </a:fld>
            <a:endParaRPr lang="en-US"/>
          </a:p>
        </p:txBody>
      </p:sp>
      <p:sp>
        <p:nvSpPr>
          <p:cNvPr id="80897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2DEC32C-9DF8-4223-8049-0C9C7A0D325D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25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80898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899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836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7C9084F-DEAC-4D43-BD87-784AA62A5526}" type="slidenum">
              <a:rPr lang="en-US"/>
              <a:pPr/>
              <a:t>26</a:t>
            </a:fld>
            <a:endParaRPr lang="en-US"/>
          </a:p>
        </p:txBody>
      </p:sp>
      <p:sp>
        <p:nvSpPr>
          <p:cNvPr id="81921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B918DE37-EC15-45FB-AA09-F13C1C28E89A}" type="slidenum">
              <a:rPr lang="en-US" sz="1300" b="1"/>
              <a:pPr algn="r" eaLnBrk="1" hangingPunct="1">
                <a:buClrTx/>
                <a:buFontTx/>
                <a:buNone/>
              </a:pPr>
              <a:t>26</a:t>
            </a:fld>
            <a:endParaRPr lang="en-US" sz="1300" b="1"/>
          </a:p>
        </p:txBody>
      </p:sp>
      <p:sp>
        <p:nvSpPr>
          <p:cNvPr id="81922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23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333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C0E03D0-81DC-46EA-A159-7A7180CD82C2}" type="slidenum">
              <a:rPr lang="en-US"/>
              <a:pPr/>
              <a:t>27</a:t>
            </a:fld>
            <a:endParaRPr lang="en-US"/>
          </a:p>
        </p:txBody>
      </p:sp>
      <p:sp>
        <p:nvSpPr>
          <p:cNvPr id="82945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D6C4804D-2EF9-4346-A5A0-7BB3CFAA4E88}" type="slidenum">
              <a:rPr lang="en-US" sz="1300" b="1"/>
              <a:pPr algn="r" eaLnBrk="1" hangingPunct="1">
                <a:buClrTx/>
                <a:buFontTx/>
                <a:buNone/>
              </a:pPr>
              <a:t>27</a:t>
            </a:fld>
            <a:endParaRPr lang="en-US" sz="1300" b="1"/>
          </a:p>
        </p:txBody>
      </p:sp>
      <p:sp>
        <p:nvSpPr>
          <p:cNvPr id="82946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2947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120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E88C2BE-D09B-45E4-A3B2-9F9F1F376FF4}" type="slidenum">
              <a:rPr lang="en-US"/>
              <a:pPr/>
              <a:t>28</a:t>
            </a:fld>
            <a:endParaRPr lang="en-US"/>
          </a:p>
        </p:txBody>
      </p:sp>
      <p:sp>
        <p:nvSpPr>
          <p:cNvPr id="83969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F4497DF-DDFE-41F5-B48B-AB8370D5CE61}" type="slidenum">
              <a:rPr lang="en-US" sz="1300" b="1"/>
              <a:pPr algn="r" eaLnBrk="1" hangingPunct="1">
                <a:buClrTx/>
                <a:buFontTx/>
                <a:buNone/>
              </a:pPr>
              <a:t>28</a:t>
            </a:fld>
            <a:endParaRPr lang="en-US" sz="1300" b="1"/>
          </a:p>
        </p:txBody>
      </p:sp>
      <p:sp>
        <p:nvSpPr>
          <p:cNvPr id="83970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3971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863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6EFB5DE-08CC-4955-985E-BAFE8F7D4B2A}" type="slidenum">
              <a:rPr lang="en-US"/>
              <a:pPr/>
              <a:t>29</a:t>
            </a:fld>
            <a:endParaRPr lang="en-US"/>
          </a:p>
        </p:txBody>
      </p:sp>
      <p:sp>
        <p:nvSpPr>
          <p:cNvPr id="84993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7BB389-14FB-4AC6-A6F5-5C32D9165D35}" type="slidenum">
              <a:rPr lang="en-US" sz="1300" b="1"/>
              <a:pPr algn="r" eaLnBrk="1" hangingPunct="1">
                <a:buClrTx/>
                <a:buFontTx/>
                <a:buNone/>
              </a:pPr>
              <a:t>29</a:t>
            </a:fld>
            <a:endParaRPr lang="en-US" sz="1300" b="1"/>
          </a:p>
        </p:txBody>
      </p:sp>
      <p:sp>
        <p:nvSpPr>
          <p:cNvPr id="84994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4995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/>
              <a:t>Lời</a:t>
            </a:r>
            <a:r>
              <a:rPr lang="en-US" baseline="0" dirty="0"/>
              <a:t> </a:t>
            </a:r>
            <a:r>
              <a:rPr lang="en-US" baseline="0" dirty="0" err="1"/>
              <a:t>gọi</a:t>
            </a:r>
            <a:r>
              <a:rPr lang="en-US" baseline="0" dirty="0"/>
              <a:t> </a:t>
            </a:r>
            <a:r>
              <a:rPr lang="en-US" baseline="0" dirty="0" err="1"/>
              <a:t>phương</a:t>
            </a:r>
            <a:r>
              <a:rPr lang="en-US" baseline="0" dirty="0"/>
              <a:t> </a:t>
            </a:r>
            <a:r>
              <a:rPr lang="en-US" baseline="0" dirty="0" err="1"/>
              <a:t>thức</a:t>
            </a:r>
            <a:r>
              <a:rPr lang="en-US" baseline="0" dirty="0"/>
              <a:t> </a:t>
            </a:r>
            <a:r>
              <a:rPr lang="en-US" baseline="0" dirty="0" err="1"/>
              <a:t>vi.display</a:t>
            </a:r>
            <a:r>
              <a:rPr lang="en-US" baseline="0" dirty="0"/>
              <a:t>(this) </a:t>
            </a:r>
            <a:r>
              <a:rPr lang="en-US" baseline="0" dirty="0" err="1"/>
              <a:t>sẽ</a:t>
            </a:r>
            <a:r>
              <a:rPr lang="en-US" baseline="0" dirty="0"/>
              <a:t> </a:t>
            </a:r>
            <a:r>
              <a:rPr lang="en-US" baseline="0" dirty="0" err="1"/>
              <a:t>nhận</a:t>
            </a:r>
            <a:r>
              <a:rPr lang="en-US" baseline="0" dirty="0"/>
              <a:t> </a:t>
            </a:r>
            <a:r>
              <a:rPr lang="en-US" baseline="0" dirty="0" err="1"/>
              <a:t>đầu</a:t>
            </a:r>
            <a:r>
              <a:rPr lang="en-US" baseline="0" dirty="0"/>
              <a:t> </a:t>
            </a:r>
            <a:r>
              <a:rPr lang="en-US" baseline="0" dirty="0" err="1"/>
              <a:t>vào</a:t>
            </a:r>
            <a:r>
              <a:rPr lang="en-US" baseline="0" dirty="0"/>
              <a:t> </a:t>
            </a:r>
            <a:r>
              <a:rPr lang="en-US" baseline="0" dirty="0" err="1"/>
              <a:t>là</a:t>
            </a:r>
            <a:r>
              <a:rPr lang="en-US" baseline="0" dirty="0"/>
              <a:t> </a:t>
            </a:r>
            <a:r>
              <a:rPr lang="en-US" baseline="0" dirty="0" err="1"/>
              <a:t>đối</a:t>
            </a:r>
            <a:r>
              <a:rPr lang="en-US" baseline="0" dirty="0"/>
              <a:t> </a:t>
            </a:r>
            <a:r>
              <a:rPr lang="en-US" baseline="0" dirty="0" err="1"/>
              <a:t>tượng</a:t>
            </a:r>
            <a:r>
              <a:rPr lang="en-US" baseline="0" dirty="0"/>
              <a:t> </a:t>
            </a:r>
            <a:r>
              <a:rPr lang="en-US" baseline="0" dirty="0" err="1"/>
              <a:t>hiện</a:t>
            </a:r>
            <a:r>
              <a:rPr lang="en-US" baseline="0" dirty="0"/>
              <a:t> </a:t>
            </a:r>
            <a:r>
              <a:rPr lang="en-US" baseline="0" dirty="0" err="1"/>
              <a:t>thời</a:t>
            </a:r>
            <a:r>
              <a:rPr lang="en-US" baseline="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0857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448A240-48C0-4521-8970-4A2E1066E837}" type="slidenum">
              <a:rPr lang="en-US"/>
              <a:pPr/>
              <a:t>30</a:t>
            </a:fld>
            <a:endParaRPr lang="en-US"/>
          </a:p>
        </p:txBody>
      </p:sp>
      <p:sp>
        <p:nvSpPr>
          <p:cNvPr id="86017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E01C81C-D490-4B8C-9827-59AA2F7077DC}" type="slidenum">
              <a:rPr lang="en-US" sz="1300" b="1"/>
              <a:pPr algn="r" eaLnBrk="1" hangingPunct="1">
                <a:buClrTx/>
                <a:buFontTx/>
                <a:buNone/>
              </a:pPr>
              <a:t>30</a:t>
            </a:fld>
            <a:endParaRPr lang="en-US" sz="1300" b="1"/>
          </a:p>
        </p:txBody>
      </p:sp>
      <p:sp>
        <p:nvSpPr>
          <p:cNvPr id="86018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6019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/>
              <a:t>Chỉ</a:t>
            </a:r>
            <a:r>
              <a:rPr lang="en-US" baseline="0" dirty="0"/>
              <a:t> </a:t>
            </a:r>
            <a:r>
              <a:rPr lang="en-US" baseline="0" dirty="0" err="1"/>
              <a:t>có</a:t>
            </a:r>
            <a:r>
              <a:rPr lang="en-US" baseline="0" dirty="0"/>
              <a:t> </a:t>
            </a:r>
            <a:r>
              <a:rPr lang="en-US" baseline="0" dirty="0" err="1"/>
              <a:t>một</a:t>
            </a:r>
            <a:r>
              <a:rPr lang="en-US" baseline="0" dirty="0"/>
              <a:t> </a:t>
            </a:r>
            <a:r>
              <a:rPr lang="en-US" baseline="0" dirty="0" err="1"/>
              <a:t>đối</a:t>
            </a:r>
            <a:r>
              <a:rPr lang="en-US" baseline="0" dirty="0"/>
              <a:t> </a:t>
            </a:r>
            <a:r>
              <a:rPr lang="en-US" baseline="0" dirty="0" err="1"/>
              <a:t>tượng</a:t>
            </a:r>
            <a:r>
              <a:rPr lang="en-US" baseline="0" dirty="0"/>
              <a:t> Counter </a:t>
            </a:r>
            <a:r>
              <a:rPr lang="en-US" baseline="0" dirty="0" err="1"/>
              <a:t>được</a:t>
            </a:r>
            <a:r>
              <a:rPr lang="en-US" baseline="0" dirty="0"/>
              <a:t> </a:t>
            </a:r>
            <a:r>
              <a:rPr lang="en-US" baseline="0" dirty="0" err="1"/>
              <a:t>tạo</a:t>
            </a:r>
            <a:r>
              <a:rPr lang="en-US" baseline="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211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F8F0DCC-B565-4F34-8902-FC795078FDEC}" type="slidenum">
              <a:rPr lang="en-US"/>
              <a:pPr/>
              <a:t>31</a:t>
            </a:fld>
            <a:endParaRPr lang="en-US"/>
          </a:p>
        </p:txBody>
      </p:sp>
      <p:sp>
        <p:nvSpPr>
          <p:cNvPr id="87041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CA15C89-CC24-4FE8-83C3-EF0F8898B507}" type="slidenum">
              <a:rPr lang="en-US" sz="1300" b="1"/>
              <a:pPr algn="r" eaLnBrk="1" hangingPunct="1">
                <a:buClrTx/>
                <a:buFontTx/>
                <a:buNone/>
              </a:pPr>
              <a:t>31</a:t>
            </a:fld>
            <a:endParaRPr lang="en-US" sz="1300" b="1"/>
          </a:p>
        </p:txBody>
      </p:sp>
      <p:sp>
        <p:nvSpPr>
          <p:cNvPr id="87042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7043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7509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7FF1D18-4312-43C6-BB7B-1F0D0AD52796}" type="slidenum">
              <a:rPr lang="en-US"/>
              <a:pPr/>
              <a:t>32</a:t>
            </a:fld>
            <a:endParaRPr lang="en-US"/>
          </a:p>
        </p:txBody>
      </p:sp>
      <p:sp>
        <p:nvSpPr>
          <p:cNvPr id="59393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C563B934-8DAD-4F8E-9B9F-94B0940381B7}" type="slidenum">
              <a:rPr lang="en-US" sz="1300" b="1">
                <a:ea typeface="DejaVu Sans" charset="0"/>
                <a:cs typeface="DejaVu Sans" charset="0"/>
              </a:rPr>
              <a:pPr algn="r" eaLnBrk="1" hangingPunct="1">
                <a:buClrTx/>
                <a:buFontTx/>
                <a:buNone/>
              </a:pPr>
              <a:t>32</a:t>
            </a:fld>
            <a:endParaRPr lang="en-US" sz="1300" b="1">
              <a:ea typeface="DejaVu Sans" charset="0"/>
              <a:cs typeface="DejaVu Sans" charset="0"/>
            </a:endParaRPr>
          </a:p>
        </p:txBody>
      </p:sp>
      <p:sp>
        <p:nvSpPr>
          <p:cNvPr id="59394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9395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172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BA914A2-75C7-44CB-9FA4-CE33EB017372}" type="slidenum">
              <a:rPr lang="en-US"/>
              <a:pPr/>
              <a:t>33</a:t>
            </a:fld>
            <a:endParaRPr lang="en-US"/>
          </a:p>
        </p:txBody>
      </p:sp>
      <p:sp>
        <p:nvSpPr>
          <p:cNvPr id="88065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6F9C7B4-01F7-444C-99D5-AC7C2941E023}" type="slidenum">
              <a:rPr lang="en-US" sz="1300" b="1"/>
              <a:pPr algn="r" eaLnBrk="1" hangingPunct="1">
                <a:buClrTx/>
                <a:buFontTx/>
                <a:buNone/>
              </a:pPr>
              <a:t>33</a:t>
            </a:fld>
            <a:endParaRPr lang="en-US" sz="1300" b="1"/>
          </a:p>
        </p:txBody>
      </p:sp>
      <p:sp>
        <p:nvSpPr>
          <p:cNvPr id="88066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7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9663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7F9784C-7761-472A-8571-7F8D7CC7B0C5}" type="slidenum">
              <a:rPr lang="en-US"/>
              <a:pPr/>
              <a:t>34</a:t>
            </a:fld>
            <a:endParaRPr lang="en-US"/>
          </a:p>
        </p:txBody>
      </p:sp>
      <p:sp>
        <p:nvSpPr>
          <p:cNvPr id="89089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BF59937E-A726-4899-BD7D-1C6B8DB98098}" type="slidenum">
              <a:rPr lang="en-US" sz="1300" b="1"/>
              <a:pPr algn="r" eaLnBrk="1" hangingPunct="1">
                <a:buClrTx/>
                <a:buFontTx/>
                <a:buNone/>
              </a:pPr>
              <a:t>34</a:t>
            </a:fld>
            <a:endParaRPr lang="en-US" sz="1300" b="1"/>
          </a:p>
        </p:txBody>
      </p:sp>
      <p:sp>
        <p:nvSpPr>
          <p:cNvPr id="89090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9091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133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D717336-1916-4F7C-899D-415466AD2E6D}" type="slidenum">
              <a:rPr lang="en-US"/>
              <a:pPr/>
              <a:t>35</a:t>
            </a:fld>
            <a:endParaRPr lang="en-US"/>
          </a:p>
        </p:txBody>
      </p:sp>
      <p:sp>
        <p:nvSpPr>
          <p:cNvPr id="90113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0467879D-E9AA-4F7A-B17A-1764D576140B}" type="slidenum">
              <a:rPr lang="en-US" sz="1300" b="1"/>
              <a:pPr algn="r" eaLnBrk="1" hangingPunct="1">
                <a:buClrTx/>
                <a:buFontTx/>
                <a:buNone/>
              </a:pPr>
              <a:t>35</a:t>
            </a:fld>
            <a:endParaRPr lang="en-US" sz="1300" b="1"/>
          </a:p>
        </p:txBody>
      </p:sp>
      <p:sp>
        <p:nvSpPr>
          <p:cNvPr id="90114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0115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 err="1"/>
              <a:t>Phương</a:t>
            </a:r>
            <a:r>
              <a:rPr lang="en-US" baseline="0" dirty="0"/>
              <a:t> </a:t>
            </a:r>
            <a:r>
              <a:rPr lang="en-US" baseline="0" dirty="0" err="1"/>
              <a:t>thức</a:t>
            </a:r>
            <a:r>
              <a:rPr lang="en-US" baseline="0" dirty="0"/>
              <a:t> </a:t>
            </a:r>
            <a:r>
              <a:rPr lang="en-US" baseline="0" dirty="0" err="1"/>
              <a:t>tĩnh</a:t>
            </a:r>
            <a:r>
              <a:rPr lang="en-US" baseline="0" dirty="0"/>
              <a:t> </a:t>
            </a:r>
            <a:r>
              <a:rPr lang="en-US" baseline="0" dirty="0" err="1"/>
              <a:t>k</a:t>
            </a:r>
            <a:r>
              <a:rPr lang="en-US" dirty="0" err="1"/>
              <a:t>hông</a:t>
            </a:r>
            <a:r>
              <a:rPr lang="en-US" baseline="0" dirty="0"/>
              <a:t> </a:t>
            </a:r>
            <a:r>
              <a:rPr lang="en-US" baseline="0" dirty="0" err="1"/>
              <a:t>có</a:t>
            </a:r>
            <a:r>
              <a:rPr lang="en-US" baseline="0" dirty="0"/>
              <a:t> </a:t>
            </a:r>
            <a:r>
              <a:rPr lang="en-US" baseline="0" dirty="0" err="1"/>
              <a:t>tham</a:t>
            </a:r>
            <a:r>
              <a:rPr lang="en-US" baseline="0" dirty="0"/>
              <a:t> </a:t>
            </a:r>
            <a:r>
              <a:rPr lang="en-US" baseline="0" dirty="0" err="1"/>
              <a:t>số</a:t>
            </a:r>
            <a:r>
              <a:rPr lang="en-US" baseline="0" dirty="0"/>
              <a:t> </a:t>
            </a:r>
            <a:r>
              <a:rPr lang="en-US" baseline="0" dirty="0" err="1"/>
              <a:t>ngầm</a:t>
            </a:r>
            <a:r>
              <a:rPr lang="en-US" baseline="0" dirty="0"/>
              <a:t> </a:t>
            </a:r>
            <a:r>
              <a:rPr lang="en-US" baseline="0" dirty="0" err="1"/>
              <a:t>định</a:t>
            </a:r>
            <a:r>
              <a:rPr lang="en-US" baseline="0" dirty="0"/>
              <a:t> this </a:t>
            </a:r>
            <a:r>
              <a:rPr lang="en-US" baseline="0" dirty="0" err="1"/>
              <a:t>nên</a:t>
            </a:r>
            <a:r>
              <a:rPr lang="en-US" baseline="0" dirty="0"/>
              <a:t> </a:t>
            </a:r>
            <a:r>
              <a:rPr lang="en-US" baseline="0" dirty="0" err="1"/>
              <a:t>không</a:t>
            </a:r>
            <a:r>
              <a:rPr lang="en-US" baseline="0" dirty="0"/>
              <a:t> </a:t>
            </a:r>
            <a:r>
              <a:rPr lang="en-US" baseline="0" dirty="0" err="1"/>
              <a:t>thể</a:t>
            </a:r>
            <a:r>
              <a:rPr lang="en-US" baseline="0" dirty="0"/>
              <a:t> </a:t>
            </a:r>
            <a:r>
              <a:rPr lang="en-US" baseline="0" dirty="0" err="1"/>
              <a:t>truy</a:t>
            </a:r>
            <a:r>
              <a:rPr lang="en-US" baseline="0" dirty="0"/>
              <a:t> </a:t>
            </a:r>
            <a:r>
              <a:rPr lang="en-US" baseline="0" dirty="0" err="1"/>
              <a:t>cập</a:t>
            </a:r>
            <a:r>
              <a:rPr lang="en-US" baseline="0" dirty="0"/>
              <a:t> </a:t>
            </a:r>
            <a:r>
              <a:rPr lang="en-US" baseline="0" dirty="0" err="1"/>
              <a:t>thành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non-static </a:t>
            </a:r>
            <a:r>
              <a:rPr lang="en-US" baseline="0" dirty="0" err="1"/>
              <a:t>hoặc</a:t>
            </a:r>
            <a:r>
              <a:rPr lang="en-US" baseline="0" dirty="0"/>
              <a:t> </a:t>
            </a:r>
            <a:r>
              <a:rPr lang="en-US" baseline="0" dirty="0" err="1"/>
              <a:t>gọi</a:t>
            </a:r>
            <a:r>
              <a:rPr lang="en-US" baseline="0" dirty="0"/>
              <a:t> </a:t>
            </a:r>
            <a:r>
              <a:rPr lang="en-US" baseline="0" dirty="0" err="1"/>
              <a:t>phương</a:t>
            </a:r>
            <a:r>
              <a:rPr lang="en-US" baseline="0" dirty="0"/>
              <a:t> </a:t>
            </a:r>
            <a:r>
              <a:rPr lang="en-US" baseline="0" dirty="0" err="1"/>
              <a:t>thức</a:t>
            </a:r>
            <a:r>
              <a:rPr lang="en-US" baseline="0" dirty="0"/>
              <a:t> non-static.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1458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1ECB08F-A7FC-4B19-B939-0F852003E04A}" type="slidenum">
              <a:rPr lang="en-US"/>
              <a:pPr/>
              <a:t>36</a:t>
            </a:fld>
            <a:endParaRPr lang="en-US"/>
          </a:p>
        </p:txBody>
      </p:sp>
      <p:sp>
        <p:nvSpPr>
          <p:cNvPr id="911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11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889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4194988-D68E-4563-B8DD-3983FCA0B338}" type="slidenum">
              <a:rPr lang="en-US"/>
              <a:pPr/>
              <a:t>37</a:t>
            </a:fld>
            <a:endParaRPr lang="en-US"/>
          </a:p>
        </p:txBody>
      </p:sp>
      <p:sp>
        <p:nvSpPr>
          <p:cNvPr id="9216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16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9211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63DA1CB-A454-42F9-9F38-2E82B90D6A95}" type="slidenum">
              <a:rPr lang="en-US"/>
              <a:pPr/>
              <a:t>38</a:t>
            </a:fld>
            <a:endParaRPr lang="en-US"/>
          </a:p>
        </p:txBody>
      </p:sp>
      <p:sp>
        <p:nvSpPr>
          <p:cNvPr id="931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31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4370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6845E32-FB4E-40A7-90C2-33FA8027E138}" type="slidenum">
              <a:rPr lang="en-US"/>
              <a:pPr/>
              <a:t>39</a:t>
            </a:fld>
            <a:endParaRPr lang="en-US"/>
          </a:p>
        </p:txBody>
      </p:sp>
      <p:sp>
        <p:nvSpPr>
          <p:cNvPr id="94209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84570983-020A-472C-873E-2D5F96AB4374}" type="slidenum">
              <a:rPr lang="en-US" sz="1300" b="1"/>
              <a:pPr algn="r" eaLnBrk="1" hangingPunct="1">
                <a:buClrTx/>
                <a:buFontTx/>
                <a:buNone/>
              </a:pPr>
              <a:t>39</a:t>
            </a:fld>
            <a:endParaRPr lang="en-US" sz="1300" b="1"/>
          </a:p>
        </p:txBody>
      </p:sp>
      <p:sp>
        <p:nvSpPr>
          <p:cNvPr id="94210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1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338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DCBF6F3-7000-49BB-B29F-92965EC7307B}" type="slidenum">
              <a:rPr lang="en-US"/>
              <a:pPr/>
              <a:t>40</a:t>
            </a:fld>
            <a:endParaRPr lang="en-US"/>
          </a:p>
        </p:txBody>
      </p:sp>
      <p:sp>
        <p:nvSpPr>
          <p:cNvPr id="95233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7621B5A-BB08-44E8-BEE4-49536E22D80E}" type="slidenum">
              <a:rPr lang="en-US" sz="1300" b="1"/>
              <a:pPr algn="r" eaLnBrk="1" hangingPunct="1">
                <a:buClrTx/>
                <a:buFontTx/>
                <a:buNone/>
              </a:pPr>
              <a:t>40</a:t>
            </a:fld>
            <a:endParaRPr lang="en-US" sz="1300" b="1"/>
          </a:p>
        </p:txBody>
      </p:sp>
      <p:sp>
        <p:nvSpPr>
          <p:cNvPr id="95234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5235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153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CF48588-069B-44DF-B251-FA8EC11F109C}" type="slidenum">
              <a:rPr lang="en-US"/>
              <a:pPr/>
              <a:t>41</a:t>
            </a:fld>
            <a:endParaRPr lang="en-US"/>
          </a:p>
        </p:txBody>
      </p:sp>
      <p:sp>
        <p:nvSpPr>
          <p:cNvPr id="96257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92039003-257A-4103-B020-2CE7D8DABDDE}" type="slidenum">
              <a:rPr lang="en-US" sz="1300" b="1"/>
              <a:pPr algn="r" eaLnBrk="1" hangingPunct="1">
                <a:buClrTx/>
                <a:buFontTx/>
                <a:buNone/>
              </a:pPr>
              <a:t>41</a:t>
            </a:fld>
            <a:endParaRPr lang="en-US" sz="1300" b="1"/>
          </a:p>
        </p:txBody>
      </p:sp>
      <p:sp>
        <p:nvSpPr>
          <p:cNvPr id="96258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6259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725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5BA676F-50DF-42B7-ABBB-44D928F0E5A7}" type="slidenum">
              <a:rPr lang="en-US"/>
              <a:pPr/>
              <a:t>42</a:t>
            </a:fld>
            <a:endParaRPr lang="en-US"/>
          </a:p>
        </p:txBody>
      </p:sp>
      <p:sp>
        <p:nvSpPr>
          <p:cNvPr id="9728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728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650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9374D93-C410-4846-86C8-1053384D4E8F}" type="slidenum">
              <a:rPr lang="en-US"/>
              <a:pPr/>
              <a:t>43</a:t>
            </a:fld>
            <a:endParaRPr lang="en-US"/>
          </a:p>
        </p:txBody>
      </p:sp>
      <p:sp>
        <p:nvSpPr>
          <p:cNvPr id="9830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830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001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1065796-7671-44B1-9321-01E553CB0BBE}" type="slidenum">
              <a:rPr lang="en-US"/>
              <a:pPr/>
              <a:t>44</a:t>
            </a:fld>
            <a:endParaRPr lang="en-US"/>
          </a:p>
        </p:txBody>
      </p:sp>
      <p:sp>
        <p:nvSpPr>
          <p:cNvPr id="99329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F7D895A-073E-46E4-BBCC-47670D2E339C}" type="slidenum">
              <a:rPr lang="en-US" sz="1300" b="1"/>
              <a:pPr algn="r" eaLnBrk="1" hangingPunct="1">
                <a:buClrTx/>
                <a:buFontTx/>
                <a:buNone/>
              </a:pPr>
              <a:t>44</a:t>
            </a:fld>
            <a:endParaRPr lang="en-US" sz="1300" b="1"/>
          </a:p>
        </p:txBody>
      </p:sp>
      <p:sp>
        <p:nvSpPr>
          <p:cNvPr id="99330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9331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26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09E16F8-B1B9-45A2-997C-D2545BBAABD3}" type="slidenum">
              <a:rPr lang="en-US"/>
              <a:pPr/>
              <a:t>45</a:t>
            </a:fld>
            <a:endParaRPr lang="en-US"/>
          </a:p>
        </p:txBody>
      </p:sp>
      <p:sp>
        <p:nvSpPr>
          <p:cNvPr id="100353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65E81FB-2F3E-457B-9054-ACC9D4C27532}" type="slidenum">
              <a:rPr lang="en-US" sz="1300" b="1"/>
              <a:pPr algn="r" eaLnBrk="1" hangingPunct="1">
                <a:buClrTx/>
                <a:buFontTx/>
                <a:buNone/>
              </a:pPr>
              <a:t>45</a:t>
            </a:fld>
            <a:endParaRPr lang="en-US" sz="1300" b="1"/>
          </a:p>
        </p:txBody>
      </p:sp>
      <p:sp>
        <p:nvSpPr>
          <p:cNvPr id="100354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0355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4030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D6F2FC4-EE7D-4FD5-9E56-42D6960DF16B}" type="slidenum">
              <a:rPr lang="en-US"/>
              <a:pPr/>
              <a:t>46</a:t>
            </a:fld>
            <a:endParaRPr lang="en-US"/>
          </a:p>
        </p:txBody>
      </p:sp>
      <p:sp>
        <p:nvSpPr>
          <p:cNvPr id="101377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1AAF356-E639-4057-8457-979F7E198A5A}" type="slidenum">
              <a:rPr lang="en-US" sz="1300" b="1"/>
              <a:pPr algn="r" eaLnBrk="1" hangingPunct="1">
                <a:buClrTx/>
                <a:buFontTx/>
                <a:buNone/>
              </a:pPr>
              <a:t>46</a:t>
            </a:fld>
            <a:endParaRPr lang="en-US" sz="1300" b="1"/>
          </a:p>
        </p:txBody>
      </p:sp>
      <p:sp>
        <p:nvSpPr>
          <p:cNvPr id="101378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1379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894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4C721C0-C547-4E8A-B7DE-F084FA59627F}" type="slidenum">
              <a:rPr lang="en-US"/>
              <a:pPr/>
              <a:t>47</a:t>
            </a:fld>
            <a:endParaRPr lang="en-US"/>
          </a:p>
        </p:txBody>
      </p:sp>
      <p:sp>
        <p:nvSpPr>
          <p:cNvPr id="1024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0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798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B743EF1-0E25-4C0E-8F49-3DAC672D0249}" type="slidenum">
              <a:rPr lang="en-US"/>
              <a:pPr/>
              <a:t>48</a:t>
            </a:fld>
            <a:endParaRPr lang="en-US"/>
          </a:p>
        </p:txBody>
      </p:sp>
      <p:sp>
        <p:nvSpPr>
          <p:cNvPr id="10342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342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dirty="0"/>
              <a:t>Theo </a:t>
            </a:r>
            <a:r>
              <a:rPr lang="en-US" dirty="0" err="1"/>
              <a:t>cách</a:t>
            </a:r>
            <a:r>
              <a:rPr lang="en-US" baseline="0" dirty="0"/>
              <a:t> </a:t>
            </a:r>
            <a:r>
              <a:rPr lang="en-US" baseline="0" dirty="0" err="1"/>
              <a:t>hai</a:t>
            </a:r>
            <a:r>
              <a:rPr lang="en-US" baseline="0" dirty="0"/>
              <a:t> </a:t>
            </a:r>
            <a:r>
              <a:rPr lang="en-US" baseline="0" dirty="0" err="1"/>
              <a:t>sẽ</a:t>
            </a:r>
            <a:r>
              <a:rPr lang="en-US" baseline="0" dirty="0"/>
              <a:t> </a:t>
            </a:r>
            <a:r>
              <a:rPr lang="en-US" baseline="0" dirty="0" err="1"/>
              <a:t>đảm</a:t>
            </a:r>
            <a:r>
              <a:rPr lang="en-US" baseline="0" dirty="0"/>
              <a:t> </a:t>
            </a:r>
            <a:r>
              <a:rPr lang="en-US" baseline="0" dirty="0" err="1"/>
              <a:t>bảo</a:t>
            </a:r>
            <a:r>
              <a:rPr lang="en-US" baseline="0" dirty="0"/>
              <a:t> </a:t>
            </a:r>
            <a:r>
              <a:rPr lang="en-US" baseline="0" dirty="0" err="1"/>
              <a:t>rằng</a:t>
            </a:r>
            <a:r>
              <a:rPr lang="en-US" baseline="0" dirty="0"/>
              <a:t> </a:t>
            </a:r>
            <a:r>
              <a:rPr lang="en-US" baseline="0" dirty="0" err="1"/>
              <a:t>chỉ</a:t>
            </a:r>
            <a:r>
              <a:rPr lang="en-US" baseline="0" dirty="0"/>
              <a:t> </a:t>
            </a:r>
            <a:r>
              <a:rPr lang="en-US" baseline="0" dirty="0" err="1"/>
              <a:t>đối</a:t>
            </a:r>
            <a:r>
              <a:rPr lang="en-US" baseline="0" dirty="0"/>
              <a:t> </a:t>
            </a:r>
            <a:r>
              <a:rPr lang="en-US" baseline="0" dirty="0" err="1"/>
              <a:t>tượng</a:t>
            </a:r>
            <a:r>
              <a:rPr lang="en-US" baseline="0" dirty="0"/>
              <a:t> </a:t>
            </a:r>
            <a:r>
              <a:rPr lang="en-US" baseline="0" dirty="0" err="1"/>
              <a:t>chứa</a:t>
            </a:r>
            <a:r>
              <a:rPr lang="en-US" baseline="0" dirty="0"/>
              <a:t> </a:t>
            </a:r>
            <a:r>
              <a:rPr lang="en-US" baseline="0" dirty="0" err="1"/>
              <a:t>mới</a:t>
            </a:r>
            <a:r>
              <a:rPr lang="en-US" baseline="0" dirty="0"/>
              <a:t> </a:t>
            </a:r>
            <a:r>
              <a:rPr lang="en-US" baseline="0" dirty="0" err="1"/>
              <a:t>có</a:t>
            </a:r>
            <a:r>
              <a:rPr lang="en-US" baseline="0" dirty="0"/>
              <a:t> </a:t>
            </a:r>
            <a:r>
              <a:rPr lang="en-US" baseline="0" dirty="0" err="1"/>
              <a:t>quyền</a:t>
            </a:r>
            <a:r>
              <a:rPr lang="en-US" baseline="0" dirty="0"/>
              <a:t> </a:t>
            </a:r>
            <a:r>
              <a:rPr lang="en-US" baseline="0" dirty="0" err="1"/>
              <a:t>thao</a:t>
            </a:r>
            <a:r>
              <a:rPr lang="en-US" baseline="0" dirty="0"/>
              <a:t> </a:t>
            </a:r>
            <a:r>
              <a:rPr lang="en-US" baseline="0" dirty="0" err="1"/>
              <a:t>tác</a:t>
            </a:r>
            <a:r>
              <a:rPr lang="en-US" baseline="0" dirty="0"/>
              <a:t> </a:t>
            </a:r>
            <a:r>
              <a:rPr lang="en-US" baseline="0" dirty="0" err="1"/>
              <a:t>trực</a:t>
            </a:r>
            <a:r>
              <a:rPr lang="en-US" baseline="0" dirty="0"/>
              <a:t> </a:t>
            </a:r>
            <a:r>
              <a:rPr lang="en-US" baseline="0" dirty="0" err="1"/>
              <a:t>tiếp</a:t>
            </a:r>
            <a:r>
              <a:rPr lang="en-US" baseline="0" dirty="0"/>
              <a:t> </a:t>
            </a:r>
            <a:r>
              <a:rPr lang="en-US" baseline="0" dirty="0" err="1"/>
              <a:t>trên</a:t>
            </a:r>
            <a:r>
              <a:rPr lang="en-US" baseline="0" dirty="0"/>
              <a:t> </a:t>
            </a:r>
            <a:r>
              <a:rPr lang="en-US" baseline="0" dirty="0" err="1"/>
              <a:t>đối</a:t>
            </a:r>
            <a:r>
              <a:rPr lang="en-US" baseline="0" dirty="0"/>
              <a:t> </a:t>
            </a:r>
            <a:r>
              <a:rPr lang="en-US" baseline="0" dirty="0" err="1"/>
              <a:t>tượng</a:t>
            </a:r>
            <a:r>
              <a:rPr lang="en-US" baseline="0" dirty="0"/>
              <a:t> </a:t>
            </a:r>
            <a:r>
              <a:rPr lang="en-US" baseline="0" dirty="0" err="1"/>
              <a:t>được</a:t>
            </a:r>
            <a:r>
              <a:rPr lang="en-US" baseline="0" dirty="0"/>
              <a:t> </a:t>
            </a:r>
            <a:r>
              <a:rPr lang="en-US" baseline="0" dirty="0" err="1"/>
              <a:t>chứa</a:t>
            </a:r>
            <a:r>
              <a:rPr lang="en-US" baseline="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992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2B25AB2-53C4-4F5E-9A6D-622F7A6E8C82}" type="slidenum">
              <a:rPr lang="en-US"/>
              <a:pPr/>
              <a:t>49</a:t>
            </a:fld>
            <a:endParaRPr lang="en-US"/>
          </a:p>
        </p:txBody>
      </p:sp>
      <p:sp>
        <p:nvSpPr>
          <p:cNvPr id="104449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0A7C9D0-CDC7-4FC8-84DB-C256DD80B417}" type="slidenum">
              <a:rPr lang="en-US" sz="1300" b="1"/>
              <a:pPr algn="r" eaLnBrk="1" hangingPunct="1">
                <a:buClrTx/>
                <a:buFontTx/>
                <a:buNone/>
              </a:pPr>
              <a:t>49</a:t>
            </a:fld>
            <a:endParaRPr lang="en-US" sz="1300" b="1"/>
          </a:p>
        </p:txBody>
      </p:sp>
      <p:sp>
        <p:nvSpPr>
          <p:cNvPr id="104450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4451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8306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71BE61F-43C9-4A34-98FB-083508C061C2}" type="slidenum">
              <a:rPr lang="en-US"/>
              <a:pPr/>
              <a:t>50</a:t>
            </a:fld>
            <a:endParaRPr lang="en-US"/>
          </a:p>
        </p:txBody>
      </p:sp>
      <p:sp>
        <p:nvSpPr>
          <p:cNvPr id="105473" name="Text Box 1"/>
          <p:cNvSpPr txBox="1">
            <a:spLocks noChangeArrowheads="1"/>
          </p:cNvSpPr>
          <p:nvPr/>
        </p:nvSpPr>
        <p:spPr bwMode="auto">
          <a:xfrm>
            <a:off x="4199004" y="9212024"/>
            <a:ext cx="3212801" cy="48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954" tIns="48795" rIns="97954" bIns="48795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0FD84BB-CEC4-4EDA-A456-B3E09499CFC5}" type="slidenum">
              <a:rPr lang="en-US" sz="1300" b="1"/>
              <a:pPr algn="r" eaLnBrk="1" hangingPunct="1">
                <a:buClrTx/>
                <a:buFontTx/>
                <a:buNone/>
              </a:pPr>
              <a:t>50</a:t>
            </a:fld>
            <a:endParaRPr lang="en-US" sz="1300" b="1"/>
          </a:p>
        </p:txBody>
      </p:sp>
      <p:sp>
        <p:nvSpPr>
          <p:cNvPr id="105474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082675" y="728663"/>
            <a:ext cx="5248275" cy="36353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5475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41664" y="4606814"/>
            <a:ext cx="5930087" cy="436308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9447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8CE9CBA-1475-44DE-BB70-6C8F1F4F8BD9}" type="slidenum">
              <a:rPr lang="en-US"/>
              <a:pPr/>
              <a:t>51</a:t>
            </a:fld>
            <a:endParaRPr lang="en-US"/>
          </a:p>
        </p:txBody>
      </p:sp>
      <p:sp>
        <p:nvSpPr>
          <p:cNvPr id="1064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64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8207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5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1878606-9DB5-4B73-97F3-D17905617DB8}" type="slidenum">
              <a:rPr lang="en-US"/>
              <a:pPr/>
              <a:t>52</a:t>
            </a:fld>
            <a:endParaRPr lang="en-US"/>
          </a:p>
        </p:txBody>
      </p:sp>
      <p:sp>
        <p:nvSpPr>
          <p:cNvPr id="10752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752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08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Le Khanh Trinh\Desktop\2267_physics_lessons\template_internal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90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676400"/>
            <a:ext cx="84201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1148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2" descr="C:\Users\Trinh Le\Desktop\slider-blue-bar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659505"/>
            <a:ext cx="8915400" cy="51435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917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-9525"/>
            <a:ext cx="8915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 marL="1143000" indent="-228600">
              <a:buFont typeface="Courier New" panose="02070309020205020404" pitchFamily="49" charset="0"/>
              <a:buChar char="o"/>
              <a:defRPr sz="2400"/>
            </a:lvl3pPr>
            <a:lvl4pPr marL="1600200" indent="-228600">
              <a:buFont typeface="Wingdings" panose="05000000000000000000" pitchFamily="2" charset="2"/>
              <a:buChar char="Ø"/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22D15-846A-4C98-A7E5-4990BAC7405C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901766" cy="6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Le Khanh Trinh\Desktop\logo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152400"/>
            <a:ext cx="83820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Le Khanh Trinh\Desktop\3-VNU-UET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100" y="136525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16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AEB6-0A3D-4417-A493-A968E6A7CDA3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8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423" y="-9525"/>
            <a:ext cx="8915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 marL="1600200" indent="-228600">
              <a:buFont typeface="Wingdings" panose="05000000000000000000" pitchFamily="2" charset="2"/>
              <a:buChar char="Ø"/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 marL="1600200" indent="-228600">
              <a:buFont typeface="Wingdings" panose="05000000000000000000" pitchFamily="2" charset="2"/>
              <a:buChar char="Ø"/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4072E-3FF1-4FA7-878D-251604ECDDDD}" type="datetime1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901766" cy="6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:\Users\Le Khanh Trinh\Desktop\logo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152400"/>
            <a:ext cx="83820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Le Khanh Trinh\Desktop\3-VNU-UET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100" y="136525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904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4DBC-6527-4219-98E8-9CA8A1652F75}" type="datetime1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901766" cy="6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28600" y="-9525"/>
            <a:ext cx="8915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2" descr="C:\Users\Le Khanh Trinh\Desktop\logo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152400"/>
            <a:ext cx="83820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Le Khanh Trinh\Desktop\3-VNU-UET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100" y="136525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673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E0D73-0128-4B6F-BCA4-AC3B8E00A978}" type="datetime1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84284"/>
            <a:ext cx="9901766" cy="6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28600" y="-9525"/>
            <a:ext cx="8915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2" descr="C:\Users\Le Khanh Trinh\Desktop\logo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152400"/>
            <a:ext cx="83820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Le Khanh Trinh\Desktop\3-VNU-UET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100" y="136525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12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B48D-D348-44E6-BF13-DCBBB2B116F6}" type="datetime1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63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B14FD-42B5-4FC7-B399-C753163FC191}" type="datetime1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12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B6FA5-997F-4E82-A32C-ED8E49CD8FE2}" type="datetime1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51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5123-BC3F-43B8-A2F3-240919755E13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901766" cy="6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8375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F5DC-A520-4431-B5AB-E2DC76251A14}" type="datetime1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3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Trinh Le\Desktop\slider-blue-bar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34" y="6324600"/>
            <a:ext cx="9906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3183" y="0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="0">
                <a:solidFill>
                  <a:schemeClr val="bg1"/>
                </a:solidFill>
                <a:latin typeface="Candara" pitchFamily="34" charset="0"/>
              </a:defRPr>
            </a:lvl1pPr>
          </a:lstStyle>
          <a:p>
            <a:fld id="{35107FF3-59C2-41A8-8A1D-962050BA0453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  <a:latin typeface="Candara" pitchFamily="34" charset="0"/>
              </a:defRPr>
            </a:lvl1pPr>
          </a:lstStyle>
          <a:p>
            <a:r>
              <a:rPr lang="en-US"/>
              <a:t>Hiểu thêm về Java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  <a:latin typeface="Candara" pitchFamily="34" charset="0"/>
              </a:defRPr>
            </a:lvl1pPr>
          </a:lstStyle>
          <a:p>
            <a:fld id="{C102E81D-EE5C-4746-BACE-D5CEA6BB4F6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7"/>
          <p:cNvSpPr txBox="1">
            <a:spLocks/>
          </p:cNvSpPr>
          <p:nvPr userDrawn="1"/>
        </p:nvSpPr>
        <p:spPr>
          <a:xfrm>
            <a:off x="495300" y="1143000"/>
            <a:ext cx="5365750" cy="457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81314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Candara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650" y="1600201"/>
            <a:ext cx="95758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 err="1"/>
              <a:t>Bài</a:t>
            </a:r>
            <a:r>
              <a:rPr lang="en-US" sz="5400" dirty="0"/>
              <a:t> 4:</a:t>
            </a:r>
            <a:br>
              <a:rPr lang="en-US" sz="5400" dirty="0"/>
            </a:br>
            <a:r>
              <a:rPr lang="en-US" sz="5400" dirty="0" err="1"/>
              <a:t>Hiểu</a:t>
            </a:r>
            <a:r>
              <a:rPr lang="en-US" sz="5400" dirty="0"/>
              <a:t> </a:t>
            </a:r>
            <a:r>
              <a:rPr lang="en-US" sz="5400" dirty="0" err="1"/>
              <a:t>thêm</a:t>
            </a:r>
            <a:r>
              <a:rPr lang="en-US" sz="5400" dirty="0"/>
              <a:t> </a:t>
            </a:r>
            <a:r>
              <a:rPr lang="en-US" sz="5400" dirty="0" err="1"/>
              <a:t>về</a:t>
            </a:r>
            <a:r>
              <a:rPr lang="en-US" sz="5400" dirty="0"/>
              <a:t>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343400"/>
            <a:ext cx="6934200" cy="1752600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Candara" pitchFamily="34" charset="0"/>
              </a:rPr>
              <a:t>Trường</a:t>
            </a:r>
            <a:r>
              <a:rPr lang="en-US" sz="2000" dirty="0">
                <a:latin typeface="Candara" pitchFamily="34" charset="0"/>
              </a:rPr>
              <a:t> ĐH </a:t>
            </a:r>
            <a:r>
              <a:rPr lang="en-US" sz="2000" dirty="0" err="1">
                <a:latin typeface="Candara" pitchFamily="34" charset="0"/>
              </a:rPr>
              <a:t>Công</a:t>
            </a:r>
            <a:r>
              <a:rPr lang="en-US" sz="2000" dirty="0">
                <a:latin typeface="Candara" pitchFamily="34" charset="0"/>
              </a:rPr>
              <a:t> </a:t>
            </a:r>
            <a:r>
              <a:rPr lang="en-US" sz="2000" dirty="0" err="1">
                <a:latin typeface="Candara" pitchFamily="34" charset="0"/>
              </a:rPr>
              <a:t>nghệ</a:t>
            </a:r>
            <a:r>
              <a:rPr lang="en-US" sz="2000" dirty="0">
                <a:latin typeface="Candara" pitchFamily="34" charset="0"/>
              </a:rPr>
              <a:t>, ĐHQG </a:t>
            </a:r>
            <a:r>
              <a:rPr lang="en-US" sz="2000" dirty="0" err="1">
                <a:latin typeface="Candara" pitchFamily="34" charset="0"/>
              </a:rPr>
              <a:t>Hà</a:t>
            </a:r>
            <a:r>
              <a:rPr lang="en-US" sz="2000" dirty="0">
                <a:latin typeface="Candara" pitchFamily="34" charset="0"/>
              </a:rPr>
              <a:t> </a:t>
            </a:r>
            <a:r>
              <a:rPr lang="en-US" sz="2000" dirty="0" err="1">
                <a:latin typeface="Candara" pitchFamily="34" charset="0"/>
              </a:rPr>
              <a:t>Nội</a:t>
            </a:r>
            <a:endParaRPr lang="en-US" sz="1600" dirty="0">
              <a:latin typeface="Candara" pitchFamily="34" charset="0"/>
            </a:endParaRPr>
          </a:p>
        </p:txBody>
      </p:sp>
      <p:pic>
        <p:nvPicPr>
          <p:cNvPr id="4" name="Picture 3" descr="C:\Users\Le Khanh Trinh\Desktop\3-VNU-UET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57200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68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A0BBD-CA88-4423-AF0E-39DDBD8B3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Đã học (</a:t>
            </a:r>
            <a:r>
              <a:rPr lang="en-US" sz="4800"/>
              <a:t>Lớp và Đối tượng trong Java)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2A8E9-90FB-4857-927F-F9C4B71D8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Khai báo lớp, thuộc tính, phương thức</a:t>
            </a:r>
          </a:p>
          <a:p>
            <a:r>
              <a:rPr lang="en-US"/>
              <a:t>Phạm vi truy cập của lớp, thuộc tính, phương thức</a:t>
            </a:r>
          </a:p>
          <a:p>
            <a:r>
              <a:rPr lang="en-US"/>
              <a:t>Vùng nhớ lưu trữ biến, đối tượng, v.v.</a:t>
            </a:r>
          </a:p>
          <a:p>
            <a:r>
              <a:rPr lang="en-US"/>
              <a:t>Nạp chồng, ghi đè phương thức</a:t>
            </a:r>
          </a:p>
          <a:p>
            <a:r>
              <a:rPr lang="en-US"/>
              <a:t>Hàm khởi tạo của lớp, hàm khởi tạo mặc định</a:t>
            </a:r>
          </a:p>
          <a:p>
            <a:r>
              <a:rPr lang="en-US"/>
              <a:t>Bao gói, che dấu thông tin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EBFFD-19E7-44CE-94DE-B887006AA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832BC9-40D0-4130-8FA4-61B52644D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5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Tài liệu tham khảo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err="1"/>
              <a:t>Giáo</a:t>
            </a:r>
            <a:r>
              <a:rPr lang="en-US" i="1" dirty="0"/>
              <a:t> </a:t>
            </a:r>
            <a:r>
              <a:rPr lang="en-US" i="1" dirty="0" err="1"/>
              <a:t>trình</a:t>
            </a:r>
            <a:r>
              <a:rPr lang="en-US" i="1" dirty="0"/>
              <a:t> </a:t>
            </a:r>
            <a:r>
              <a:rPr lang="en-US" i="1" dirty="0" err="1"/>
              <a:t>Lập</a:t>
            </a:r>
            <a:r>
              <a:rPr lang="en-US" i="1" dirty="0"/>
              <a:t> </a:t>
            </a:r>
            <a:r>
              <a:rPr lang="en-US" i="1" dirty="0" err="1"/>
              <a:t>trình</a:t>
            </a:r>
            <a:r>
              <a:rPr lang="en-US" i="1" dirty="0"/>
              <a:t> HĐT</a:t>
            </a:r>
            <a:r>
              <a:rPr lang="en-US" dirty="0"/>
              <a:t>, </a:t>
            </a:r>
            <a:r>
              <a:rPr lang="en-US" dirty="0" err="1"/>
              <a:t>Chương</a:t>
            </a:r>
            <a:r>
              <a:rPr lang="en-US" dirty="0"/>
              <a:t> 3, 4</a:t>
            </a:r>
          </a:p>
          <a:p>
            <a:r>
              <a:rPr lang="en-US" i="1" dirty="0"/>
              <a:t>Java How to Program</a:t>
            </a:r>
            <a:r>
              <a:rPr lang="en-US" dirty="0"/>
              <a:t>, Chapters 3-8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469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Dữ liệu kiểu nguyên thủy</a:t>
            </a:r>
          </a:p>
          <a:p>
            <a:r>
              <a:rPr lang="en-US"/>
              <a:t>Tham chiếu</a:t>
            </a:r>
          </a:p>
          <a:p>
            <a:r>
              <a:rPr lang="en-US"/>
              <a:t>Giải phóng bộ nhớ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527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kiểu dữ liệu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Java là ngôn ngữ định kiểu mạnh</a:t>
            </a:r>
          </a:p>
          <a:p>
            <a:pPr lvl="1"/>
            <a:r>
              <a:rPr lang="en-US"/>
              <a:t>Tất cả các biến đều phải có kiểu</a:t>
            </a:r>
          </a:p>
          <a:p>
            <a:r>
              <a:rPr lang="en-US"/>
              <a:t>Kiểu dữ liệu nguyên thủy</a:t>
            </a:r>
          </a:p>
          <a:p>
            <a:pPr lvl="1"/>
            <a:r>
              <a:rPr lang="en-US"/>
              <a:t>Các biến được thao tác thông qua tên biến</a:t>
            </a:r>
          </a:p>
          <a:p>
            <a:pPr lvl="2"/>
            <a:r>
              <a:rPr lang="en-US"/>
              <a:t>int a = 5; </a:t>
            </a:r>
          </a:p>
          <a:p>
            <a:pPr lvl="2"/>
            <a:r>
              <a:rPr lang="en-US"/>
              <a:t>if (a == b)…</a:t>
            </a:r>
          </a:p>
          <a:p>
            <a:r>
              <a:rPr lang="en-US"/>
              <a:t>Các kiểu tham chiếu (references)</a:t>
            </a:r>
          </a:p>
          <a:p>
            <a:pPr lvl="1"/>
            <a:r>
              <a:rPr lang="en-US"/>
              <a:t>Tham chiếu đến các đối tượng</a:t>
            </a:r>
          </a:p>
          <a:p>
            <a:pPr lvl="1"/>
            <a:r>
              <a:rPr lang="en-US"/>
              <a:t>Các đối tượng được thao tác qua các tham chiếu</a:t>
            </a:r>
          </a:p>
          <a:p>
            <a:pPr lvl="2"/>
            <a:r>
              <a:rPr lang="en-US"/>
              <a:t>GradeBook myGradeBook = new GradeBook();</a:t>
            </a:r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  <a:endParaRPr lang="en-US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9982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kiểu dữ liệu nguyên thủy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Các kiểu dữ liệu nguyên thủy trong Java</a:t>
            </a:r>
          </a:p>
          <a:p>
            <a:pPr lvl="1"/>
            <a:r>
              <a:rPr lang="en-US"/>
              <a:t>Numerical: byte, int, long, float, double</a:t>
            </a:r>
          </a:p>
          <a:p>
            <a:pPr lvl="2"/>
            <a:r>
              <a:rPr lang="en-US"/>
              <a:t>No unsigned</a:t>
            </a:r>
          </a:p>
          <a:p>
            <a:pPr lvl="2"/>
            <a:r>
              <a:rPr lang="en-US"/>
              <a:t>Same size in all platforms</a:t>
            </a:r>
          </a:p>
          <a:p>
            <a:pPr lvl="1"/>
            <a:r>
              <a:rPr lang="en-US"/>
              <a:t>Logical: boolean (true/false)</a:t>
            </a:r>
          </a:p>
          <a:p>
            <a:pPr lvl="1"/>
            <a:r>
              <a:rPr lang="en-US"/>
              <a:t>Characters: char</a:t>
            </a:r>
          </a:p>
          <a:p>
            <a:r>
              <a:rPr lang="en-US"/>
              <a:t>Dữ liệu nguyên thủy KHÔNG PHẢI là các đối tượng</a:t>
            </a:r>
          </a:p>
          <a:p>
            <a:pPr lvl="1"/>
            <a:r>
              <a:rPr lang="en-US"/>
              <a:t>int count = 0; </a:t>
            </a:r>
          </a:p>
          <a:p>
            <a:pPr lvl="1"/>
            <a:r>
              <a:rPr lang="en-US"/>
              <a:t>if (count == 5) …</a:t>
            </a:r>
          </a:p>
          <a:p>
            <a:r>
              <a:rPr lang="en-US"/>
              <a:t>Có các lớp tương ứng gói kiểu nguyên thủy (wrapper classes)</a:t>
            </a:r>
          </a:p>
          <a:p>
            <a:pPr lvl="1"/>
            <a:r>
              <a:rPr lang="en-US"/>
              <a:t>Integer, Float, …</a:t>
            </a:r>
          </a:p>
          <a:p>
            <a:pPr lvl="1"/>
            <a:r>
              <a:rPr lang="en-US"/>
              <a:t>Integer count = new Integer(0);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305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906589"/>
              </p:ext>
            </p:extLst>
          </p:nvPr>
        </p:nvGraphicFramePr>
        <p:xfrm>
          <a:off x="303543" y="1333706"/>
          <a:ext cx="9298914" cy="4856280"/>
        </p:xfrm>
        <a:graphic>
          <a:graphicData uri="http://schemas.openxmlformats.org/drawingml/2006/table">
            <a:tbl>
              <a:tblPr/>
              <a:tblGrid>
                <a:gridCol w="1394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9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7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7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9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Kiểu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Kích cỡ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Giá trị cực tiểu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Giá trị cực đại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Lớp tương ứng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char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16 bits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0x0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0xffff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Character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byte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8 bits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-2</a:t>
                      </a:r>
                      <a:r>
                        <a:rPr kumimoji="0" lang="en-US" sz="22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7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2</a:t>
                      </a:r>
                      <a:r>
                        <a:rPr kumimoji="0" lang="en-US" sz="22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7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- 1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Byte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short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16 bits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-2</a:t>
                      </a:r>
                      <a:r>
                        <a:rPr kumimoji="0" lang="en-US" sz="22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15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2</a:t>
                      </a:r>
                      <a:r>
                        <a:rPr kumimoji="0" lang="en-US" sz="22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15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- 1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Short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int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32 bits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-2</a:t>
                      </a:r>
                      <a:r>
                        <a:rPr kumimoji="0" lang="en-US" sz="22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31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2</a:t>
                      </a:r>
                      <a:r>
                        <a:rPr kumimoji="0" lang="en-US" sz="22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31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- 1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Integer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long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64 bits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-2</a:t>
                      </a:r>
                      <a:r>
                        <a:rPr kumimoji="0" lang="en-US" sz="22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63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2</a:t>
                      </a:r>
                      <a:r>
                        <a:rPr kumimoji="0" lang="en-US" sz="2200" b="0" i="0" u="none" strike="noStrike" cap="none" normalizeH="0" baseline="33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63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- 1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Long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float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32 bits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1.40129846432481707e-45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3.40282346638528860e+38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Float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double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64 bits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4.94065645841246544e-324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1.79769313486231570e+308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Double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boolean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-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7500" marR="97500" marT="92358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0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7500" marR="97500" marT="92358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0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Noto Sans CJK SC Regular" charset="0"/>
                          <a:cs typeface="Noto Sans CJK SC Regular" charset="0"/>
                        </a:rPr>
                        <a:t>Boolean</a:t>
                      </a:r>
                    </a:p>
                  </a:txBody>
                  <a:tcPr marL="97500" marR="97500" marT="102561" marB="46800" horzOverflow="overflow">
                    <a:lnL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ea typeface="DejaVu Sans" charset="0"/>
                <a:cs typeface="DejaVu Sans" charset="0"/>
              </a:rPr>
              <a:t>Các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kiểu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dữ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liệu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nguyên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thủy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660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Dữ liệu được lưu ở đâu?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thủy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ở </a:t>
            </a:r>
            <a:r>
              <a:rPr lang="en-US" dirty="0" err="1"/>
              <a:t>đâu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Registers: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can </a:t>
            </a:r>
            <a:r>
              <a:rPr lang="en-US" dirty="0" err="1"/>
              <a:t>thiệp</a:t>
            </a:r>
            <a:endParaRPr lang="en-US" dirty="0"/>
          </a:p>
          <a:p>
            <a:pPr lvl="1"/>
            <a:r>
              <a:rPr lang="en-US" dirty="0"/>
              <a:t>Stack: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  <a:p>
            <a:pPr lvl="1"/>
            <a:r>
              <a:rPr lang="en-US" dirty="0"/>
              <a:t>Heap: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endParaRPr lang="en-US" dirty="0"/>
          </a:p>
          <a:p>
            <a:pPr lvl="1"/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tĩnh</a:t>
            </a:r>
            <a:r>
              <a:rPr lang="en-US" dirty="0"/>
              <a:t> (static storage): </a:t>
            </a:r>
            <a:r>
              <a:rPr lang="en-US" err="1"/>
              <a:t>dữ</a:t>
            </a:r>
            <a:r>
              <a:rPr lang="en-US"/>
              <a:t> liệu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suốt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endParaRPr lang="en-US" dirty="0"/>
          </a:p>
          <a:p>
            <a:pPr lvl="1"/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hằng</a:t>
            </a:r>
            <a:r>
              <a:rPr lang="en-US" dirty="0"/>
              <a:t> (constant storage):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hằng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  <a:p>
            <a:pPr lvl="1"/>
            <a:r>
              <a:rPr lang="en-US" dirty="0" err="1"/>
              <a:t>Vùng</a:t>
            </a:r>
            <a:r>
              <a:rPr lang="en-US" dirty="0"/>
              <a:t> Non-RAM: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err="1"/>
              <a:t>các</a:t>
            </a:r>
            <a:r>
              <a:rPr lang="en-US"/>
              <a:t> luồng (tồn tại ngay cả khi chương trình đã dừng)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559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579806" y="1981200"/>
            <a:ext cx="2724150" cy="3962400"/>
          </a:xfrm>
          <a:prstGeom prst="rect">
            <a:avLst/>
          </a:prstGeom>
          <a:solidFill>
            <a:srgbClr val="CC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4622800" y="2133600"/>
            <a:ext cx="162446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>
                <a:latin typeface="Tahoma" pitchFamily="32" charset="0"/>
              </a:rPr>
              <a:t>static memory</a:t>
            </a:r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>
            <a:off x="4579806" y="3048000"/>
            <a:ext cx="2724150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4627960" y="3200400"/>
            <a:ext cx="1610034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>
                <a:latin typeface="Tahoma" pitchFamily="32" charset="0"/>
              </a:rPr>
              <a:t>stack memory</a:t>
            </a:r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>
            <a:off x="4579806" y="4191000"/>
            <a:ext cx="2724150" cy="5334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4660635" y="5410200"/>
            <a:ext cx="158759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>
                <a:latin typeface="Tahoma" pitchFamily="32" charset="0"/>
              </a:rPr>
              <a:t>heap memory</a:t>
            </a:r>
          </a:p>
        </p:txBody>
      </p:sp>
      <p:sp>
        <p:nvSpPr>
          <p:cNvPr id="12296" name="AutoShape 8"/>
          <p:cNvSpPr>
            <a:spLocks/>
          </p:cNvSpPr>
          <p:nvPr/>
        </p:nvSpPr>
        <p:spPr bwMode="auto">
          <a:xfrm>
            <a:off x="4084506" y="1981200"/>
            <a:ext cx="247650" cy="1066800"/>
          </a:xfrm>
          <a:prstGeom prst="leftBrace">
            <a:avLst>
              <a:gd name="adj1" fmla="val 38889"/>
              <a:gd name="adj2" fmla="val 50000"/>
            </a:avLst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2261526" y="1981201"/>
            <a:ext cx="1239740" cy="925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>
                <a:latin typeface="Tahoma" pitchFamily="32" charset="0"/>
              </a:rPr>
              <a:t>code</a:t>
            </a:r>
          </a:p>
          <a:p>
            <a:pPr eaLnBrk="1" hangingPunct="1">
              <a:buClrTx/>
              <a:buFontTx/>
              <a:buNone/>
            </a:pPr>
            <a:r>
              <a:rPr lang="en-US">
                <a:latin typeface="Tahoma" pitchFamily="32" charset="0"/>
              </a:rPr>
              <a:t>static data</a:t>
            </a:r>
          </a:p>
          <a:p>
            <a:pPr eaLnBrk="1" hangingPunct="1">
              <a:buClrTx/>
              <a:buFontTx/>
              <a:buNone/>
            </a:pPr>
            <a:r>
              <a:rPr lang="en-US">
                <a:latin typeface="Tahoma" pitchFamily="32" charset="0"/>
              </a:rPr>
              <a:t>constants</a:t>
            </a:r>
          </a:p>
        </p:txBody>
      </p:sp>
      <p:sp>
        <p:nvSpPr>
          <p:cNvPr id="12298" name="AutoShape 10"/>
          <p:cNvSpPr>
            <a:spLocks/>
          </p:cNvSpPr>
          <p:nvPr/>
        </p:nvSpPr>
        <p:spPr bwMode="auto">
          <a:xfrm>
            <a:off x="4084506" y="3124200"/>
            <a:ext cx="247650" cy="990600"/>
          </a:xfrm>
          <a:prstGeom prst="leftBrace">
            <a:avLst>
              <a:gd name="adj1" fmla="val 36111"/>
              <a:gd name="adj2" fmla="val 50000"/>
            </a:avLst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2225411" y="3244850"/>
            <a:ext cx="1227750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>
                <a:latin typeface="Tahoma" pitchFamily="32" charset="0"/>
              </a:rPr>
              <a:t>temporary</a:t>
            </a:r>
          </a:p>
          <a:p>
            <a:pPr eaLnBrk="1" hangingPunct="1">
              <a:buClrTx/>
              <a:buFontTx/>
              <a:buNone/>
            </a:pPr>
            <a:r>
              <a:rPr lang="en-US">
                <a:latin typeface="Tahoma" pitchFamily="32" charset="0"/>
              </a:rPr>
              <a:t>data</a:t>
            </a:r>
          </a:p>
        </p:txBody>
      </p:sp>
      <p:sp>
        <p:nvSpPr>
          <p:cNvPr id="12300" name="AutoShape 12"/>
          <p:cNvSpPr>
            <a:spLocks/>
          </p:cNvSpPr>
          <p:nvPr/>
        </p:nvSpPr>
        <p:spPr bwMode="auto">
          <a:xfrm>
            <a:off x="4124061" y="4267200"/>
            <a:ext cx="208095" cy="1600200"/>
          </a:xfrm>
          <a:prstGeom prst="leftBrace">
            <a:avLst>
              <a:gd name="adj1" fmla="val 69421"/>
              <a:gd name="adj2" fmla="val 50000"/>
            </a:avLst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1" name="Text Box 13"/>
          <p:cNvSpPr txBox="1">
            <a:spLocks noChangeArrowheads="1"/>
          </p:cNvSpPr>
          <p:nvPr/>
        </p:nvSpPr>
        <p:spPr bwMode="auto">
          <a:xfrm>
            <a:off x="2277004" y="4692650"/>
            <a:ext cx="1028143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>
                <a:latin typeface="Tahoma" pitchFamily="32" charset="0"/>
              </a:rPr>
              <a:t>dynamic</a:t>
            </a:r>
          </a:p>
          <a:p>
            <a:pPr eaLnBrk="1" hangingPunct="1">
              <a:buClrTx/>
              <a:buFontTx/>
              <a:buNone/>
            </a:pPr>
            <a:r>
              <a:rPr lang="en-US">
                <a:latin typeface="Tahoma" pitchFamily="32" charset="0"/>
              </a:rPr>
              <a:t>data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95300" y="1458402"/>
            <a:ext cx="89154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274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(references)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Lưu “địa chỉ” đối tượng trong bộ nhớ máy tính</a:t>
            </a:r>
          </a:p>
          <a:p>
            <a:r>
              <a:rPr lang="en-US"/>
              <a:t>Đối tượng được thao tác qua tham chiếu </a:t>
            </a:r>
          </a:p>
          <a:p>
            <a:pPr lvl="1"/>
            <a:r>
              <a:rPr lang="en-US"/>
              <a:t>Con trỏ đến đối tượng</a:t>
            </a:r>
          </a:p>
          <a:p>
            <a:pPr lvl="1"/>
            <a:r>
              <a:rPr lang="en-US"/>
              <a:t>Điểu khiển trực tiếp các thuộc tính và phương thức</a:t>
            </a:r>
          </a:p>
          <a:p>
            <a:pPr lvl="1"/>
            <a:r>
              <a:rPr lang="en-US"/>
              <a:t>Không có các toán tử con trỏ</a:t>
            </a:r>
          </a:p>
          <a:p>
            <a:pPr lvl="1"/>
            <a:r>
              <a:rPr lang="en-US"/>
              <a:t>Phép gán (=) không sao chép nội dung đối tượng</a:t>
            </a:r>
          </a:p>
          <a:p>
            <a:r>
              <a:rPr lang="en-US"/>
              <a:t>Được lưu trong vùng nhớ stack/static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980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Toán tử New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tường</a:t>
            </a:r>
            <a:r>
              <a:rPr lang="en-US" dirty="0"/>
              <a:t> minh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new</a:t>
            </a:r>
          </a:p>
          <a:p>
            <a:pPr lvl="1"/>
            <a:r>
              <a:rPr lang="en-US" dirty="0"/>
              <a:t>C</a:t>
            </a:r>
            <a:r>
              <a:rPr lang="en-US"/>
              <a:t>ấp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  <a:p>
            <a:pPr lvl="1"/>
            <a:r>
              <a:rPr lang="en-US" dirty="0"/>
              <a:t>Đ</a:t>
            </a:r>
            <a:r>
              <a:rPr lang="en-US"/>
              <a:t>ược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Heap</a:t>
            </a:r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MyDate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 = new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MyDate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660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Phép gán không sao chép như thông thường</a:t>
            </a:r>
          </a:p>
          <a:p>
            <a:pPr lvl="1"/>
            <a:r>
              <a:rPr lang="en-US"/>
              <a:t>Sao chép nội dung của tham chiếu</a:t>
            </a:r>
          </a:p>
          <a:p>
            <a:pPr lvl="1"/>
            <a:r>
              <a:rPr lang="en-US"/>
              <a:t>2 tham chiếu sẽ tham chiếu đến cùng đối tượng</a:t>
            </a:r>
          </a:p>
          <a:p>
            <a:endParaRPr lang="en-US" dirty="0"/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403350" y="3429000"/>
            <a:ext cx="7429500" cy="1633397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Employee m </a:t>
            </a:r>
            <a:r>
              <a:rPr lang="en-US" sz="2000">
                <a:ea typeface="DejaVu Sans" charset="0"/>
                <a:cs typeface="DejaVu Sans" charset="0"/>
              </a:rPr>
              <a:t> 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= 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new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 Employee(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10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); //salary</a:t>
            </a:r>
          </a:p>
          <a:p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Employee n  = 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new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 Employee(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20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); //salary</a:t>
            </a:r>
          </a:p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m = n;</a:t>
            </a:r>
          </a:p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n.setSalary(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50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);</a:t>
            </a:r>
          </a:p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System.out.print(m.toString());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1403350" y="5486401"/>
            <a:ext cx="7429500" cy="586957"/>
          </a:xfrm>
          <a:prstGeom prst="rect">
            <a:avLst/>
          </a:prstGeom>
          <a:solidFill>
            <a:srgbClr val="CCCCE6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endParaRPr lang="en-US" sz="1200">
              <a:latin typeface="Consolas" pitchFamily="49" charset="0"/>
              <a:ea typeface="DejaVu Sans" charset="0"/>
              <a:cs typeface="DejaVu Sans" charset="0"/>
            </a:endParaRPr>
          </a:p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50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Phép gán “=”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454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155700" y="1752601"/>
            <a:ext cx="7429500" cy="1312863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Employee m </a:t>
            </a:r>
            <a:r>
              <a:rPr lang="en-US" sz="2000">
                <a:ea typeface="DejaVu Sans" charset="0"/>
                <a:cs typeface="DejaVu Sans" charset="0"/>
              </a:rPr>
              <a:t> 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= 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new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 Employee(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10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); //salary</a:t>
            </a:r>
          </a:p>
          <a:p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Employee n  = 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new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 Employee(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20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); //salary</a:t>
            </a:r>
          </a:p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m = n;</a:t>
            </a:r>
          </a:p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n.setSalary(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50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);</a:t>
            </a:r>
          </a:p>
        </p:txBody>
      </p:sp>
      <p:grpSp>
        <p:nvGrpSpPr>
          <p:cNvPr id="16387" name="Group 3"/>
          <p:cNvGrpSpPr>
            <a:grpSpLocks/>
          </p:cNvGrpSpPr>
          <p:nvPr/>
        </p:nvGrpSpPr>
        <p:grpSpPr bwMode="auto">
          <a:xfrm>
            <a:off x="957925" y="3717926"/>
            <a:ext cx="6896364" cy="2212975"/>
            <a:chOff x="557" y="2342"/>
            <a:chExt cx="4010" cy="1394"/>
          </a:xfrm>
        </p:grpSpPr>
        <p:sp>
          <p:nvSpPr>
            <p:cNvPr id="16388" name="Line 4"/>
            <p:cNvSpPr>
              <a:spLocks noChangeShapeType="1"/>
            </p:cNvSpPr>
            <p:nvPr/>
          </p:nvSpPr>
          <p:spPr bwMode="auto">
            <a:xfrm>
              <a:off x="2119" y="3552"/>
              <a:ext cx="1576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89" name="Rectangle 5"/>
            <p:cNvSpPr>
              <a:spLocks noChangeArrowheads="1"/>
            </p:cNvSpPr>
            <p:nvPr/>
          </p:nvSpPr>
          <p:spPr bwMode="auto">
            <a:xfrm>
              <a:off x="1207" y="2832"/>
              <a:ext cx="952" cy="376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2400" b="1">
                  <a:solidFill>
                    <a:srgbClr val="000000"/>
                  </a:solidFill>
                  <a:latin typeface="Tahoma" pitchFamily="32" charset="0"/>
                  <a:cs typeface="Arial" charset="0"/>
                </a:rPr>
                <a:t>m</a:t>
              </a:r>
            </a:p>
          </p:txBody>
        </p:sp>
        <p:sp>
          <p:nvSpPr>
            <p:cNvPr id="16390" name="Rectangle 6"/>
            <p:cNvSpPr>
              <a:spLocks noChangeArrowheads="1"/>
            </p:cNvSpPr>
            <p:nvPr/>
          </p:nvSpPr>
          <p:spPr bwMode="auto">
            <a:xfrm>
              <a:off x="1207" y="3360"/>
              <a:ext cx="952" cy="376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2400" b="1">
                  <a:solidFill>
                    <a:srgbClr val="000000"/>
                  </a:solidFill>
                  <a:latin typeface="Tahoma" pitchFamily="32" charset="0"/>
                  <a:cs typeface="Arial" charset="0"/>
                </a:rPr>
                <a:t>n</a:t>
              </a:r>
            </a:p>
          </p:txBody>
        </p:sp>
        <p:sp>
          <p:nvSpPr>
            <p:cNvPr id="16391" name="Text Box 7"/>
            <p:cNvSpPr txBox="1">
              <a:spLocks noChangeArrowheads="1"/>
            </p:cNvSpPr>
            <p:nvPr/>
          </p:nvSpPr>
          <p:spPr bwMode="auto">
            <a:xfrm>
              <a:off x="557" y="2352"/>
              <a:ext cx="1694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2000" b="1">
                  <a:latin typeface="Tahoma" pitchFamily="32" charset="0"/>
                  <a:cs typeface="Arial" charset="0"/>
                </a:rPr>
                <a:t>Static/Stack memory</a:t>
              </a:r>
            </a:p>
          </p:txBody>
        </p:sp>
        <p:sp>
          <p:nvSpPr>
            <p:cNvPr id="16392" name="Rectangle 8"/>
            <p:cNvSpPr>
              <a:spLocks noChangeArrowheads="1"/>
            </p:cNvSpPr>
            <p:nvPr/>
          </p:nvSpPr>
          <p:spPr bwMode="auto">
            <a:xfrm>
              <a:off x="3758" y="3312"/>
              <a:ext cx="712" cy="424"/>
            </a:xfrm>
            <a:prstGeom prst="rect">
              <a:avLst/>
            </a:prstGeom>
            <a:solidFill>
              <a:srgbClr val="9999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3" name="Text Box 9"/>
            <p:cNvSpPr txBox="1">
              <a:spLocks noChangeArrowheads="1"/>
            </p:cNvSpPr>
            <p:nvPr/>
          </p:nvSpPr>
          <p:spPr bwMode="auto">
            <a:xfrm>
              <a:off x="3916" y="3360"/>
              <a:ext cx="333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2400" b="1">
                  <a:latin typeface="Tahoma" pitchFamily="32" charset="0"/>
                  <a:cs typeface="Arial" charset="0"/>
                </a:rPr>
                <a:t>20</a:t>
              </a:r>
            </a:p>
          </p:txBody>
        </p:sp>
        <p:sp>
          <p:nvSpPr>
            <p:cNvPr id="16394" name="Line 10"/>
            <p:cNvSpPr>
              <a:spLocks noChangeShapeType="1"/>
            </p:cNvSpPr>
            <p:nvPr/>
          </p:nvSpPr>
          <p:spPr bwMode="auto">
            <a:xfrm>
              <a:off x="2167" y="3024"/>
              <a:ext cx="1521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5" name="Text Box 11"/>
            <p:cNvSpPr txBox="1">
              <a:spLocks noChangeArrowheads="1"/>
            </p:cNvSpPr>
            <p:nvPr/>
          </p:nvSpPr>
          <p:spPr bwMode="auto">
            <a:xfrm>
              <a:off x="3416" y="2342"/>
              <a:ext cx="1151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2000" b="1">
                  <a:latin typeface="Tahoma" pitchFamily="32" charset="0"/>
                  <a:cs typeface="Arial" charset="0"/>
                </a:rPr>
                <a:t>Heap memory</a:t>
              </a:r>
            </a:p>
          </p:txBody>
        </p:sp>
        <p:sp>
          <p:nvSpPr>
            <p:cNvPr id="16396" name="Rectangle 12"/>
            <p:cNvSpPr>
              <a:spLocks noChangeArrowheads="1"/>
            </p:cNvSpPr>
            <p:nvPr/>
          </p:nvSpPr>
          <p:spPr bwMode="auto">
            <a:xfrm>
              <a:off x="3758" y="2784"/>
              <a:ext cx="712" cy="424"/>
            </a:xfrm>
            <a:prstGeom prst="rect">
              <a:avLst/>
            </a:prstGeom>
            <a:solidFill>
              <a:srgbClr val="9999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7" name="Text Box 13"/>
            <p:cNvSpPr txBox="1">
              <a:spLocks noChangeArrowheads="1"/>
            </p:cNvSpPr>
            <p:nvPr/>
          </p:nvSpPr>
          <p:spPr bwMode="auto">
            <a:xfrm>
              <a:off x="3916" y="2832"/>
              <a:ext cx="333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2400" b="1">
                  <a:latin typeface="Tahoma" pitchFamily="32" charset="0"/>
                  <a:cs typeface="Arial" charset="0"/>
                </a:rPr>
                <a:t>10</a:t>
              </a:r>
            </a:p>
          </p:txBody>
        </p:sp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ea typeface="DejaVu Sans" charset="0"/>
                <a:cs typeface="DejaVu Sans" charset="0"/>
              </a:rPr>
              <a:t>Ví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dụ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về</a:t>
            </a:r>
            <a:r>
              <a:rPr lang="en-US" dirty="0">
                <a:ea typeface="DejaVu Sans" charset="0"/>
                <a:cs typeface="DejaVu Sans" charset="0"/>
              </a:rPr>
              <a:t> “</a:t>
            </a:r>
            <a:r>
              <a:rPr lang="en-US" dirty="0">
                <a:latin typeface="Consolas" pitchFamily="49" charset="0"/>
                <a:ea typeface="DejaVu Sans" charset="0"/>
                <a:cs typeface="DejaVu Sans" charset="0"/>
              </a:rPr>
              <a:t>new</a:t>
            </a:r>
            <a:r>
              <a:rPr lang="en-US" dirty="0">
                <a:ea typeface="DejaVu Sans" charset="0"/>
                <a:cs typeface="DejaVu Sans" charset="0"/>
              </a:rPr>
              <a:t>” </a:t>
            </a:r>
            <a:r>
              <a:rPr lang="en-US" dirty="0" err="1">
                <a:ea typeface="DejaVu Sans" charset="0"/>
                <a:cs typeface="DejaVu Sans" charset="0"/>
              </a:rPr>
              <a:t>và</a:t>
            </a:r>
            <a:r>
              <a:rPr lang="en-US" dirty="0">
                <a:ea typeface="DejaVu Sans" charset="0"/>
                <a:cs typeface="DejaVu Sans" charset="0"/>
              </a:rPr>
              <a:t> “=”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238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155700" y="1752601"/>
            <a:ext cx="7429500" cy="1312863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Employee m </a:t>
            </a:r>
            <a:r>
              <a:rPr lang="en-US" sz="2000">
                <a:ea typeface="DejaVu Sans" charset="0"/>
                <a:cs typeface="DejaVu Sans" charset="0"/>
              </a:rPr>
              <a:t> 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= 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new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 Employee(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10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); //salary</a:t>
            </a:r>
          </a:p>
          <a:p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Employee n  = 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new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 Employee(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20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); //salary</a:t>
            </a:r>
          </a:p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m = n;</a:t>
            </a:r>
          </a:p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n.setSalary(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50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);</a:t>
            </a:r>
          </a:p>
        </p:txBody>
      </p:sp>
      <p:grpSp>
        <p:nvGrpSpPr>
          <p:cNvPr id="17411" name="Group 3"/>
          <p:cNvGrpSpPr>
            <a:grpSpLocks/>
          </p:cNvGrpSpPr>
          <p:nvPr/>
        </p:nvGrpSpPr>
        <p:grpSpPr bwMode="auto">
          <a:xfrm>
            <a:off x="957925" y="3717926"/>
            <a:ext cx="6896364" cy="2212975"/>
            <a:chOff x="557" y="2342"/>
            <a:chExt cx="4010" cy="1394"/>
          </a:xfrm>
        </p:grpSpPr>
        <p:sp>
          <p:nvSpPr>
            <p:cNvPr id="17412" name="Line 4"/>
            <p:cNvSpPr>
              <a:spLocks noChangeShapeType="1"/>
            </p:cNvSpPr>
            <p:nvPr/>
          </p:nvSpPr>
          <p:spPr bwMode="auto">
            <a:xfrm>
              <a:off x="2119" y="3552"/>
              <a:ext cx="1576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3" name="Rectangle 5"/>
            <p:cNvSpPr>
              <a:spLocks noChangeArrowheads="1"/>
            </p:cNvSpPr>
            <p:nvPr/>
          </p:nvSpPr>
          <p:spPr bwMode="auto">
            <a:xfrm>
              <a:off x="1207" y="2832"/>
              <a:ext cx="952" cy="376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2400" b="1">
                  <a:solidFill>
                    <a:srgbClr val="000000"/>
                  </a:solidFill>
                  <a:latin typeface="Tahoma" pitchFamily="32" charset="0"/>
                  <a:cs typeface="Arial" charset="0"/>
                </a:rPr>
                <a:t>m</a:t>
              </a:r>
            </a:p>
          </p:txBody>
        </p:sp>
        <p:sp>
          <p:nvSpPr>
            <p:cNvPr id="17414" name="Rectangle 6"/>
            <p:cNvSpPr>
              <a:spLocks noChangeArrowheads="1"/>
            </p:cNvSpPr>
            <p:nvPr/>
          </p:nvSpPr>
          <p:spPr bwMode="auto">
            <a:xfrm>
              <a:off x="1207" y="3360"/>
              <a:ext cx="952" cy="376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2400" b="1">
                  <a:solidFill>
                    <a:srgbClr val="000000"/>
                  </a:solidFill>
                  <a:latin typeface="Tahoma" pitchFamily="32" charset="0"/>
                  <a:cs typeface="Arial" charset="0"/>
                </a:rPr>
                <a:t>n</a:t>
              </a:r>
            </a:p>
          </p:txBody>
        </p:sp>
        <p:sp>
          <p:nvSpPr>
            <p:cNvPr id="17415" name="Text Box 7"/>
            <p:cNvSpPr txBox="1">
              <a:spLocks noChangeArrowheads="1"/>
            </p:cNvSpPr>
            <p:nvPr/>
          </p:nvSpPr>
          <p:spPr bwMode="auto">
            <a:xfrm>
              <a:off x="557" y="2352"/>
              <a:ext cx="1694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2000" b="1">
                  <a:latin typeface="Tahoma" pitchFamily="32" charset="0"/>
                  <a:cs typeface="Arial" charset="0"/>
                </a:rPr>
                <a:t>Static/Stack memory</a:t>
              </a:r>
            </a:p>
          </p:txBody>
        </p:sp>
        <p:sp>
          <p:nvSpPr>
            <p:cNvPr id="17416" name="Rectangle 8"/>
            <p:cNvSpPr>
              <a:spLocks noChangeArrowheads="1"/>
            </p:cNvSpPr>
            <p:nvPr/>
          </p:nvSpPr>
          <p:spPr bwMode="auto">
            <a:xfrm>
              <a:off x="3758" y="3312"/>
              <a:ext cx="712" cy="424"/>
            </a:xfrm>
            <a:prstGeom prst="rect">
              <a:avLst/>
            </a:prstGeom>
            <a:solidFill>
              <a:srgbClr val="9999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7" name="Text Box 9"/>
            <p:cNvSpPr txBox="1">
              <a:spLocks noChangeArrowheads="1"/>
            </p:cNvSpPr>
            <p:nvPr/>
          </p:nvSpPr>
          <p:spPr bwMode="auto">
            <a:xfrm>
              <a:off x="3916" y="3360"/>
              <a:ext cx="333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2400" b="1">
                  <a:latin typeface="Tahoma" pitchFamily="32" charset="0"/>
                  <a:cs typeface="Arial" charset="0"/>
                </a:rPr>
                <a:t>20</a:t>
              </a:r>
            </a:p>
          </p:txBody>
        </p:sp>
        <p:sp>
          <p:nvSpPr>
            <p:cNvPr id="17418" name="Line 10"/>
            <p:cNvSpPr>
              <a:spLocks noChangeShapeType="1"/>
            </p:cNvSpPr>
            <p:nvPr/>
          </p:nvSpPr>
          <p:spPr bwMode="auto">
            <a:xfrm>
              <a:off x="2167" y="3024"/>
              <a:ext cx="1528" cy="376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9" name="Text Box 11"/>
            <p:cNvSpPr txBox="1">
              <a:spLocks noChangeArrowheads="1"/>
            </p:cNvSpPr>
            <p:nvPr/>
          </p:nvSpPr>
          <p:spPr bwMode="auto">
            <a:xfrm>
              <a:off x="3416" y="2342"/>
              <a:ext cx="1151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2000" b="1">
                  <a:latin typeface="Tahoma" pitchFamily="32" charset="0"/>
                  <a:cs typeface="Arial" charset="0"/>
                </a:rPr>
                <a:t>Heap memory</a:t>
              </a:r>
            </a:p>
          </p:txBody>
        </p:sp>
        <p:sp>
          <p:nvSpPr>
            <p:cNvPr id="17420" name="Rectangle 12"/>
            <p:cNvSpPr>
              <a:spLocks noChangeArrowheads="1"/>
            </p:cNvSpPr>
            <p:nvPr/>
          </p:nvSpPr>
          <p:spPr bwMode="auto">
            <a:xfrm>
              <a:off x="3758" y="2784"/>
              <a:ext cx="712" cy="424"/>
            </a:xfrm>
            <a:prstGeom prst="rect">
              <a:avLst/>
            </a:prstGeom>
            <a:solidFill>
              <a:srgbClr val="9999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1" name="Text Box 13"/>
            <p:cNvSpPr txBox="1">
              <a:spLocks noChangeArrowheads="1"/>
            </p:cNvSpPr>
            <p:nvPr/>
          </p:nvSpPr>
          <p:spPr bwMode="auto">
            <a:xfrm>
              <a:off x="3916" y="2832"/>
              <a:ext cx="333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2400" b="1">
                  <a:latin typeface="Tahoma" pitchFamily="32" charset="0"/>
                  <a:cs typeface="Arial" charset="0"/>
                </a:rPr>
                <a:t>10</a:t>
              </a:r>
            </a:p>
          </p:txBody>
        </p:sp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DejaVu Sans" charset="0"/>
                <a:cs typeface="DejaVu Sans" charset="0"/>
              </a:rPr>
              <a:t>Ví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dụ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về</a:t>
            </a:r>
            <a:r>
              <a:rPr lang="en-US" dirty="0">
                <a:ea typeface="DejaVu Sans" charset="0"/>
                <a:cs typeface="DejaVu Sans" charset="0"/>
              </a:rPr>
              <a:t> “</a:t>
            </a:r>
            <a:r>
              <a:rPr lang="en-US" dirty="0">
                <a:latin typeface="Consolas" pitchFamily="49" charset="0"/>
                <a:ea typeface="DejaVu Sans" charset="0"/>
                <a:cs typeface="DejaVu Sans" charset="0"/>
              </a:rPr>
              <a:t>new</a:t>
            </a:r>
            <a:r>
              <a:rPr lang="en-US" dirty="0">
                <a:ea typeface="DejaVu Sans" charset="0"/>
                <a:cs typeface="DejaVu Sans" charset="0"/>
              </a:rPr>
              <a:t>” </a:t>
            </a:r>
            <a:r>
              <a:rPr lang="en-US" dirty="0" err="1">
                <a:ea typeface="DejaVu Sans" charset="0"/>
                <a:cs typeface="DejaVu Sans" charset="0"/>
              </a:rPr>
              <a:t>và</a:t>
            </a:r>
            <a:r>
              <a:rPr lang="en-US" dirty="0">
                <a:ea typeface="DejaVu Sans" charset="0"/>
                <a:cs typeface="DejaVu Sans" charset="0"/>
              </a:rPr>
              <a:t> “=”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945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155700" y="1752601"/>
            <a:ext cx="7429500" cy="1312863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Employee m </a:t>
            </a:r>
            <a:r>
              <a:rPr lang="en-US" sz="2000">
                <a:ea typeface="DejaVu Sans" charset="0"/>
                <a:cs typeface="DejaVu Sans" charset="0"/>
              </a:rPr>
              <a:t> 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= 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new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 Employee(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10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); //salary</a:t>
            </a:r>
          </a:p>
          <a:p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Employee n  = 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new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 Employee(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20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); //salary</a:t>
            </a:r>
          </a:p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m = n;</a:t>
            </a:r>
          </a:p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n.setSalary(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50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);</a:t>
            </a:r>
          </a:p>
        </p:txBody>
      </p:sp>
      <p:grpSp>
        <p:nvGrpSpPr>
          <p:cNvPr id="18435" name="Group 3"/>
          <p:cNvGrpSpPr>
            <a:grpSpLocks/>
          </p:cNvGrpSpPr>
          <p:nvPr/>
        </p:nvGrpSpPr>
        <p:grpSpPr bwMode="auto">
          <a:xfrm>
            <a:off x="957925" y="3717926"/>
            <a:ext cx="6896364" cy="2212975"/>
            <a:chOff x="557" y="2342"/>
            <a:chExt cx="4010" cy="1394"/>
          </a:xfrm>
        </p:grpSpPr>
        <p:sp>
          <p:nvSpPr>
            <p:cNvPr id="18436" name="Line 4"/>
            <p:cNvSpPr>
              <a:spLocks noChangeShapeType="1"/>
            </p:cNvSpPr>
            <p:nvPr/>
          </p:nvSpPr>
          <p:spPr bwMode="auto">
            <a:xfrm>
              <a:off x="2119" y="3552"/>
              <a:ext cx="1576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7" name="Rectangle 5"/>
            <p:cNvSpPr>
              <a:spLocks noChangeArrowheads="1"/>
            </p:cNvSpPr>
            <p:nvPr/>
          </p:nvSpPr>
          <p:spPr bwMode="auto">
            <a:xfrm>
              <a:off x="1207" y="2832"/>
              <a:ext cx="952" cy="376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2400" b="1">
                  <a:solidFill>
                    <a:srgbClr val="000000"/>
                  </a:solidFill>
                  <a:latin typeface="Tahoma" pitchFamily="32" charset="0"/>
                  <a:cs typeface="Arial" charset="0"/>
                </a:rPr>
                <a:t>m</a:t>
              </a:r>
            </a:p>
          </p:txBody>
        </p:sp>
        <p:sp>
          <p:nvSpPr>
            <p:cNvPr id="18438" name="Rectangle 6"/>
            <p:cNvSpPr>
              <a:spLocks noChangeArrowheads="1"/>
            </p:cNvSpPr>
            <p:nvPr/>
          </p:nvSpPr>
          <p:spPr bwMode="auto">
            <a:xfrm>
              <a:off x="1207" y="3360"/>
              <a:ext cx="952" cy="376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2400" b="1">
                  <a:solidFill>
                    <a:srgbClr val="000000"/>
                  </a:solidFill>
                  <a:latin typeface="Tahoma" pitchFamily="32" charset="0"/>
                  <a:cs typeface="Arial" charset="0"/>
                </a:rPr>
                <a:t>n</a:t>
              </a:r>
            </a:p>
          </p:txBody>
        </p:sp>
        <p:sp>
          <p:nvSpPr>
            <p:cNvPr id="18439" name="Text Box 7"/>
            <p:cNvSpPr txBox="1">
              <a:spLocks noChangeArrowheads="1"/>
            </p:cNvSpPr>
            <p:nvPr/>
          </p:nvSpPr>
          <p:spPr bwMode="auto">
            <a:xfrm>
              <a:off x="557" y="2352"/>
              <a:ext cx="1694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2000" b="1">
                  <a:latin typeface="Tahoma" pitchFamily="32" charset="0"/>
                  <a:cs typeface="Arial" charset="0"/>
                </a:rPr>
                <a:t>Static/Stack memory</a:t>
              </a:r>
            </a:p>
          </p:txBody>
        </p:sp>
        <p:sp>
          <p:nvSpPr>
            <p:cNvPr id="18440" name="Rectangle 8"/>
            <p:cNvSpPr>
              <a:spLocks noChangeArrowheads="1"/>
            </p:cNvSpPr>
            <p:nvPr/>
          </p:nvSpPr>
          <p:spPr bwMode="auto">
            <a:xfrm>
              <a:off x="3758" y="3312"/>
              <a:ext cx="712" cy="424"/>
            </a:xfrm>
            <a:prstGeom prst="rect">
              <a:avLst/>
            </a:prstGeom>
            <a:solidFill>
              <a:srgbClr val="9999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1" name="Text Box 9"/>
            <p:cNvSpPr txBox="1">
              <a:spLocks noChangeArrowheads="1"/>
            </p:cNvSpPr>
            <p:nvPr/>
          </p:nvSpPr>
          <p:spPr bwMode="auto">
            <a:xfrm>
              <a:off x="3916" y="3360"/>
              <a:ext cx="333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2400" b="1">
                  <a:latin typeface="Tahoma" pitchFamily="32" charset="0"/>
                  <a:cs typeface="Arial" charset="0"/>
                </a:rPr>
                <a:t>50</a:t>
              </a:r>
            </a:p>
          </p:txBody>
        </p:sp>
        <p:sp>
          <p:nvSpPr>
            <p:cNvPr id="18442" name="Line 10"/>
            <p:cNvSpPr>
              <a:spLocks noChangeShapeType="1"/>
            </p:cNvSpPr>
            <p:nvPr/>
          </p:nvSpPr>
          <p:spPr bwMode="auto">
            <a:xfrm>
              <a:off x="2167" y="3024"/>
              <a:ext cx="1528" cy="376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Text Box 11"/>
            <p:cNvSpPr txBox="1">
              <a:spLocks noChangeArrowheads="1"/>
            </p:cNvSpPr>
            <p:nvPr/>
          </p:nvSpPr>
          <p:spPr bwMode="auto">
            <a:xfrm>
              <a:off x="3416" y="2342"/>
              <a:ext cx="1151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2000" b="1">
                  <a:latin typeface="Tahoma" pitchFamily="32" charset="0"/>
                  <a:cs typeface="Arial" charset="0"/>
                </a:rPr>
                <a:t>Heap memory</a:t>
              </a:r>
            </a:p>
          </p:txBody>
        </p:sp>
        <p:sp>
          <p:nvSpPr>
            <p:cNvPr id="18444" name="Rectangle 12"/>
            <p:cNvSpPr>
              <a:spLocks noChangeArrowheads="1"/>
            </p:cNvSpPr>
            <p:nvPr/>
          </p:nvSpPr>
          <p:spPr bwMode="auto">
            <a:xfrm>
              <a:off x="3758" y="2784"/>
              <a:ext cx="712" cy="424"/>
            </a:xfrm>
            <a:prstGeom prst="rect">
              <a:avLst/>
            </a:prstGeom>
            <a:solidFill>
              <a:srgbClr val="9999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5" name="Text Box 13"/>
            <p:cNvSpPr txBox="1">
              <a:spLocks noChangeArrowheads="1"/>
            </p:cNvSpPr>
            <p:nvPr/>
          </p:nvSpPr>
          <p:spPr bwMode="auto">
            <a:xfrm>
              <a:off x="3916" y="2832"/>
              <a:ext cx="333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2400" b="1">
                  <a:latin typeface="Tahoma" pitchFamily="32" charset="0"/>
                  <a:cs typeface="Arial" charset="0"/>
                </a:rPr>
                <a:t>10</a:t>
              </a:r>
            </a:p>
          </p:txBody>
        </p:sp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DejaVu Sans" charset="0"/>
                <a:cs typeface="DejaVu Sans" charset="0"/>
              </a:rPr>
              <a:t>Ví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dụ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về</a:t>
            </a:r>
            <a:r>
              <a:rPr lang="en-US" dirty="0">
                <a:ea typeface="DejaVu Sans" charset="0"/>
                <a:cs typeface="DejaVu Sans" charset="0"/>
              </a:rPr>
              <a:t> “</a:t>
            </a:r>
            <a:r>
              <a:rPr lang="en-US" dirty="0">
                <a:latin typeface="Consolas" pitchFamily="49" charset="0"/>
                <a:ea typeface="DejaVu Sans" charset="0"/>
                <a:cs typeface="DejaVu Sans" charset="0"/>
              </a:rPr>
              <a:t>new</a:t>
            </a:r>
            <a:r>
              <a:rPr lang="en-US" dirty="0">
                <a:ea typeface="DejaVu Sans" charset="0"/>
                <a:cs typeface="DejaVu Sans" charset="0"/>
              </a:rPr>
              <a:t>” </a:t>
            </a:r>
            <a:r>
              <a:rPr lang="en-US" dirty="0" err="1">
                <a:ea typeface="DejaVu Sans" charset="0"/>
                <a:cs typeface="DejaVu Sans" charset="0"/>
              </a:rPr>
              <a:t>và</a:t>
            </a:r>
            <a:r>
              <a:rPr lang="en-US" dirty="0">
                <a:ea typeface="DejaVu Sans" charset="0"/>
                <a:cs typeface="DejaVu Sans" charset="0"/>
              </a:rPr>
              <a:t> “=”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647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495300" y="1371600"/>
            <a:ext cx="8915400" cy="4525963"/>
          </a:xfrm>
        </p:spPr>
        <p:txBody>
          <a:bodyPr/>
          <a:lstStyle/>
          <a:p>
            <a:r>
              <a:rPr lang="en-US"/>
              <a:t>So sánh nội dung các biến</a:t>
            </a:r>
          </a:p>
          <a:p>
            <a:pPr lvl="1"/>
            <a:r>
              <a:rPr lang="en-US"/>
              <a:t>Giá trị của dữ liệu nguyên thủy</a:t>
            </a:r>
          </a:p>
          <a:p>
            <a:pPr lvl="1"/>
            <a:r>
              <a:rPr lang="en-US"/>
              <a:t>Giá trị của các tham chiếu </a:t>
            </a:r>
          </a:p>
          <a:p>
            <a:pPr lvl="2"/>
            <a:r>
              <a:rPr lang="en-US"/>
              <a:t>Chỉ kiểm tra xem có tham chiếu đến cùng đối tượng</a:t>
            </a:r>
          </a:p>
          <a:p>
            <a:pPr lvl="2"/>
            <a:r>
              <a:rPr lang="en-US"/>
              <a:t>KHÔNG so sánh nội dung các đối tượng</a:t>
            </a:r>
            <a:endParaRPr lang="en-US" dirty="0"/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742950" y="3937000"/>
            <a:ext cx="5530850" cy="2228850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2000" b="1">
                <a:latin typeface="Consolas" pitchFamily="49" charset="0"/>
                <a:ea typeface="DejaVu Sans" charset="0"/>
                <a:cs typeface="DejaVu Sans" charset="0"/>
              </a:rPr>
              <a:t>Employee m1 </a:t>
            </a:r>
            <a:r>
              <a:rPr lang="en-US" sz="2000" b="1">
                <a:ea typeface="DejaVu Sans" charset="0"/>
                <a:cs typeface="DejaVu Sans" charset="0"/>
              </a:rPr>
              <a:t> </a:t>
            </a:r>
            <a:r>
              <a:rPr lang="en-US" sz="2000" b="1">
                <a:latin typeface="Consolas" pitchFamily="49" charset="0"/>
                <a:ea typeface="DejaVu Sans" charset="0"/>
                <a:cs typeface="DejaVu Sans" charset="0"/>
              </a:rPr>
              <a:t>= </a:t>
            </a:r>
            <a:r>
              <a:rPr lang="en-US" sz="2000" b="1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new</a:t>
            </a:r>
            <a:r>
              <a:rPr lang="en-US" sz="2000" b="1">
                <a:latin typeface="Consolas" pitchFamily="49" charset="0"/>
                <a:ea typeface="DejaVu Sans" charset="0"/>
                <a:cs typeface="DejaVu Sans" charset="0"/>
              </a:rPr>
              <a:t> Employee(</a:t>
            </a:r>
            <a:r>
              <a:rPr lang="en-US" sz="2000" b="1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10</a:t>
            </a:r>
            <a:r>
              <a:rPr lang="en-US" sz="2000" b="1">
                <a:latin typeface="Consolas" pitchFamily="49" charset="0"/>
                <a:ea typeface="DejaVu Sans" charset="0"/>
                <a:cs typeface="DejaVu Sans" charset="0"/>
              </a:rPr>
              <a:t>); </a:t>
            </a:r>
          </a:p>
          <a:p>
            <a:pPr>
              <a:buClrTx/>
              <a:buFontTx/>
              <a:buNone/>
            </a:pPr>
            <a:r>
              <a:rPr lang="en-US" sz="2000" b="1">
                <a:latin typeface="Consolas" pitchFamily="49" charset="0"/>
                <a:ea typeface="DejaVu Sans" charset="0"/>
                <a:cs typeface="DejaVu Sans" charset="0"/>
              </a:rPr>
              <a:t>Employee m2  = </a:t>
            </a:r>
            <a:r>
              <a:rPr lang="en-US" sz="2000" b="1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new</a:t>
            </a:r>
            <a:r>
              <a:rPr lang="en-US" sz="2000" b="1">
                <a:latin typeface="Consolas" pitchFamily="49" charset="0"/>
                <a:ea typeface="DejaVu Sans" charset="0"/>
                <a:cs typeface="DejaVu Sans" charset="0"/>
              </a:rPr>
              <a:t> Employee(</a:t>
            </a:r>
            <a:r>
              <a:rPr lang="en-US" sz="2000" b="1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10</a:t>
            </a:r>
            <a:r>
              <a:rPr lang="en-US" sz="2000" b="1">
                <a:latin typeface="Consolas" pitchFamily="49" charset="0"/>
                <a:ea typeface="DejaVu Sans" charset="0"/>
                <a:cs typeface="DejaVu Sans" charset="0"/>
              </a:rPr>
              <a:t>);</a:t>
            </a:r>
          </a:p>
          <a:p>
            <a:pPr>
              <a:buClrTx/>
              <a:buFontTx/>
              <a:buNone/>
            </a:pPr>
            <a:r>
              <a:rPr lang="en-US" sz="2000" b="1">
                <a:latin typeface="Consolas" pitchFamily="49" charset="0"/>
                <a:ea typeface="DejaVu Sans" charset="0"/>
                <a:cs typeface="DejaVu Sans" charset="0"/>
              </a:rPr>
              <a:t>System.out.println(m1 == m2);</a:t>
            </a:r>
          </a:p>
          <a:p>
            <a:pPr>
              <a:buClrTx/>
              <a:buFontTx/>
              <a:buNone/>
            </a:pPr>
            <a:endParaRPr lang="en-US" sz="2000" b="1">
              <a:latin typeface="Consolas" pitchFamily="49" charset="0"/>
              <a:ea typeface="DejaVu Sans" charset="0"/>
              <a:cs typeface="DejaVu Sans" charset="0"/>
            </a:endParaRPr>
          </a:p>
          <a:p>
            <a:pPr>
              <a:buClrTx/>
              <a:buFontTx/>
              <a:buNone/>
            </a:pPr>
            <a:r>
              <a:rPr lang="en-US" sz="2000" b="1">
                <a:latin typeface="Consolas" pitchFamily="49" charset="0"/>
                <a:ea typeface="DejaVu Sans" charset="0"/>
                <a:cs typeface="DejaVu Sans" charset="0"/>
              </a:rPr>
              <a:t>int n1 = 1;</a:t>
            </a:r>
          </a:p>
          <a:p>
            <a:pPr>
              <a:buClrTx/>
              <a:buFontTx/>
              <a:buNone/>
            </a:pPr>
            <a:r>
              <a:rPr lang="en-US" sz="2000" b="1">
                <a:latin typeface="Consolas" pitchFamily="49" charset="0"/>
                <a:ea typeface="DejaVu Sans" charset="0"/>
                <a:cs typeface="DejaVu Sans" charset="0"/>
              </a:rPr>
              <a:t>int n2 = 1;</a:t>
            </a:r>
          </a:p>
          <a:p>
            <a:pPr>
              <a:buClrTx/>
              <a:buFontTx/>
              <a:buNone/>
            </a:pPr>
            <a:r>
              <a:rPr lang="en-US" sz="2000" b="1">
                <a:latin typeface="Consolas" pitchFamily="49" charset="0"/>
                <a:ea typeface="DejaVu Sans" charset="0"/>
                <a:cs typeface="DejaVu Sans" charset="0"/>
              </a:rPr>
              <a:t>System.out.println(n1 == n2);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6934200" y="4572001"/>
            <a:ext cx="2393950" cy="894733"/>
          </a:xfrm>
          <a:prstGeom prst="rect">
            <a:avLst/>
          </a:prstGeom>
          <a:solidFill>
            <a:srgbClr val="CCCCE6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endParaRPr lang="en-US" sz="1200" b="1">
              <a:latin typeface="Consolas" pitchFamily="49" charset="0"/>
              <a:ea typeface="DejaVu Sans" charset="0"/>
              <a:cs typeface="DejaVu Sans" charset="0"/>
            </a:endParaRPr>
          </a:p>
          <a:p>
            <a:pPr>
              <a:buClrTx/>
              <a:buFontTx/>
              <a:buNone/>
            </a:pPr>
            <a:r>
              <a:rPr lang="en-US" sz="2000" b="1">
                <a:latin typeface="Consolas" pitchFamily="49" charset="0"/>
                <a:ea typeface="DejaVu Sans" charset="0"/>
                <a:cs typeface="DejaVu Sans" charset="0"/>
              </a:rPr>
              <a:t>false</a:t>
            </a:r>
          </a:p>
          <a:p>
            <a:pPr>
              <a:buClrTx/>
              <a:buFontTx/>
              <a:buNone/>
            </a:pPr>
            <a:r>
              <a:rPr lang="en-US" sz="2000" b="1">
                <a:latin typeface="Consolas" pitchFamily="49" charset="0"/>
                <a:ea typeface="DejaVu Sans" charset="0"/>
                <a:cs typeface="DejaVu Sans" charset="0"/>
              </a:rPr>
              <a:t>true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Toán tử “==” và “!=”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38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228600" y="1447800"/>
            <a:ext cx="8915400" cy="4297363"/>
          </a:xfrm>
        </p:spPr>
        <p:txBody>
          <a:bodyPr>
            <a:normAutofit/>
          </a:bodyPr>
          <a:lstStyle/>
          <a:p>
            <a:r>
              <a:rPr lang="en-US" sz="2800" dirty="0" err="1"/>
              <a:t>Phương</a:t>
            </a:r>
            <a:r>
              <a:rPr lang="en-US" sz="2800" dirty="0"/>
              <a:t> </a:t>
            </a:r>
            <a:r>
              <a:rPr lang="en-US" sz="2800" dirty="0" err="1"/>
              <a:t>thức</a:t>
            </a:r>
            <a:r>
              <a:rPr lang="en-US" sz="2800" dirty="0"/>
              <a:t> “equals”</a:t>
            </a:r>
          </a:p>
          <a:p>
            <a:pPr lvl="1"/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nghĩa</a:t>
            </a:r>
            <a:r>
              <a:rPr lang="en-US" sz="2400" dirty="0"/>
              <a:t> </a:t>
            </a:r>
            <a:r>
              <a:rPr lang="en-US" sz="2400" dirty="0" err="1"/>
              <a:t>trước</a:t>
            </a:r>
            <a:endParaRPr lang="en-US" sz="2400" dirty="0"/>
          </a:p>
          <a:p>
            <a:pPr lvl="2"/>
            <a:r>
              <a:rPr lang="en-US" sz="2000" dirty="0" err="1"/>
              <a:t>Sẵn</a:t>
            </a:r>
            <a:r>
              <a:rPr lang="en-US" sz="2000" dirty="0"/>
              <a:t> </a:t>
            </a:r>
            <a:r>
              <a:rPr lang="en-US" sz="2000" dirty="0" err="1"/>
              <a:t>sàng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endParaRPr lang="en-US" sz="2000" dirty="0"/>
          </a:p>
          <a:p>
            <a:pPr lvl="1"/>
            <a:r>
              <a:rPr lang="en-US" sz="2400" dirty="0"/>
              <a:t>Do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nghĩa</a:t>
            </a:r>
            <a:endParaRPr lang="en-US" sz="2400" dirty="0"/>
          </a:p>
          <a:p>
            <a:pPr lvl="2"/>
            <a:r>
              <a:rPr lang="en-US" sz="2000" dirty="0"/>
              <a:t>E</a:t>
            </a:r>
            <a:r>
              <a:rPr lang="en-US" sz="2000"/>
              <a:t>quals</a:t>
            </a:r>
            <a:r>
              <a:rPr lang="en-US" sz="2000" dirty="0"/>
              <a:t>() </a:t>
            </a:r>
            <a:r>
              <a:rPr lang="en-US" sz="2000" dirty="0" err="1"/>
              <a:t>phải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định</a:t>
            </a:r>
            <a:r>
              <a:rPr lang="en-US" sz="2000" dirty="0"/>
              <a:t> </a:t>
            </a:r>
            <a:r>
              <a:rPr lang="en-US" sz="2000" dirty="0" err="1"/>
              <a:t>nghĩa</a:t>
            </a:r>
            <a:r>
              <a:rPr lang="en-US" sz="2000" dirty="0"/>
              <a:t>, </a:t>
            </a:r>
            <a:r>
              <a:rPr lang="en-US" sz="2000" dirty="0" err="1"/>
              <a:t>nếu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sẽ</a:t>
            </a:r>
            <a:r>
              <a:rPr lang="en-US" sz="2000" dirty="0"/>
              <a:t> </a:t>
            </a:r>
            <a:r>
              <a:rPr lang="en-US" sz="2000" dirty="0" err="1"/>
              <a:t>trả</a:t>
            </a:r>
            <a:r>
              <a:rPr lang="en-US" sz="2000" dirty="0"/>
              <a:t> </a:t>
            </a:r>
            <a:r>
              <a:rPr lang="en-US" sz="2000" dirty="0" err="1"/>
              <a:t>lại</a:t>
            </a:r>
            <a:r>
              <a:rPr lang="en-US" sz="2000" dirty="0"/>
              <a:t> false</a:t>
            </a:r>
          </a:p>
          <a:p>
            <a:pPr lvl="2"/>
            <a:r>
              <a:rPr lang="en-US" sz="2000" dirty="0"/>
              <a:t>G</a:t>
            </a:r>
            <a:r>
              <a:rPr lang="en-US" sz="2000"/>
              <a:t>hi </a:t>
            </a:r>
            <a:r>
              <a:rPr lang="en-US" sz="2000" dirty="0" err="1"/>
              <a:t>đè</a:t>
            </a:r>
            <a:r>
              <a:rPr lang="en-US" sz="2000" dirty="0"/>
              <a:t> / overriding (</a:t>
            </a:r>
            <a:r>
              <a:rPr lang="en-US" sz="2000" dirty="0" err="1"/>
              <a:t>xem</a:t>
            </a:r>
            <a:r>
              <a:rPr lang="en-US" sz="2000" dirty="0"/>
              <a:t> </a:t>
            </a:r>
            <a:r>
              <a:rPr lang="en-US" sz="2000" dirty="0" err="1"/>
              <a:t>bài</a:t>
            </a:r>
            <a:r>
              <a:rPr lang="en-US" sz="2000" dirty="0"/>
              <a:t> </a:t>
            </a:r>
            <a:r>
              <a:rPr lang="en-US" sz="2000" dirty="0" err="1"/>
              <a:t>sau</a:t>
            </a:r>
            <a:r>
              <a:rPr lang="en-US" sz="2000" dirty="0"/>
              <a:t>)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5541037" y="1957388"/>
            <a:ext cx="4212563" cy="833178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Employee m1 = new Employee(10); 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Employee m2 = new Employee(10);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System.out.print(m1.</a:t>
            </a:r>
            <a:r>
              <a:rPr lang="en-US" sz="16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equals</a:t>
            </a: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(m2));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3406908" y="4052988"/>
            <a:ext cx="6339152" cy="1818063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 marL="9144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class MyInteger {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private int value;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</a:t>
            </a:r>
            <a:r>
              <a:rPr lang="en-US" sz="16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public boolean equals (MyInteger other) {</a:t>
            </a:r>
          </a:p>
          <a:p>
            <a:pPr lvl="2" indent="0">
              <a:buClrTx/>
              <a:buFontTx/>
              <a:buNone/>
            </a:pPr>
            <a:r>
              <a:rPr lang="en-US" sz="16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return (value == other.value);</a:t>
            </a:r>
          </a:p>
          <a:p>
            <a:pPr>
              <a:buClrTx/>
              <a:buFontTx/>
              <a:buNone/>
            </a:pPr>
            <a:r>
              <a:rPr lang="en-US" sz="16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    }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...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}</a:t>
            </a: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4622800" y="5169001"/>
            <a:ext cx="4457700" cy="1079399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...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MyInteger m1 = new MyInteger(10);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MyInteger m2 = new MyInteger(10);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System.out.print(m1.</a:t>
            </a:r>
            <a:r>
              <a:rPr lang="en-US" sz="16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equals</a:t>
            </a: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(m2));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 sánh nội dung đối tượng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1385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Thu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(Garbage collection)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Lập trình viên không cần phải giải phóng đối tượng</a:t>
            </a:r>
          </a:p>
          <a:p>
            <a:r>
              <a:rPr lang="en-US"/>
              <a:t>JVM cài đặt cơ chế “Garbage collection” để thu hồi tự động các đối tượng khi không còn cần thiết</a:t>
            </a:r>
          </a:p>
          <a:p>
            <a:pPr lvl="1"/>
            <a:r>
              <a:rPr lang="en-US"/>
              <a:t>GC không nhất thiết hoạt động với mọi đối tượng (không nhất thiết phải giải phóng bộ nhớ)</a:t>
            </a:r>
          </a:p>
          <a:p>
            <a:pPr lvl="1"/>
            <a:r>
              <a:rPr lang="en-US"/>
              <a:t>Không đảm bảo việc phương thức hủy luôn hoạt động</a:t>
            </a:r>
          </a:p>
          <a:p>
            <a:r>
              <a:rPr lang="en-US"/>
              <a:t>GC tăng tốc độ phát triển và tăng tính ổn định của ứng dụng</a:t>
            </a:r>
          </a:p>
          <a:p>
            <a:pPr lvl="1"/>
            <a:r>
              <a:rPr lang="en-US"/>
              <a:t>Không phải viết mã giải phóng đối tượng</a:t>
            </a:r>
          </a:p>
          <a:p>
            <a:pPr lvl="1"/>
            <a:r>
              <a:rPr lang="en-US"/>
              <a:t>Do đó, không bao giờ “quên giải phóng đối tượng”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738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495300" y="1147763"/>
            <a:ext cx="8915400" cy="493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28613" indent="-328613">
              <a:tabLst>
                <a:tab pos="328613" algn="l"/>
                <a:tab pos="785813" algn="l"/>
                <a:tab pos="1243013" algn="l"/>
                <a:tab pos="1700213" algn="l"/>
                <a:tab pos="2157413" algn="l"/>
                <a:tab pos="2614613" algn="l"/>
                <a:tab pos="3071813" algn="l"/>
                <a:tab pos="3529013" algn="l"/>
                <a:tab pos="3986213" algn="l"/>
                <a:tab pos="4443413" algn="l"/>
                <a:tab pos="4900613" algn="l"/>
                <a:tab pos="5357813" algn="l"/>
                <a:tab pos="5815013" algn="l"/>
                <a:tab pos="6272213" algn="l"/>
                <a:tab pos="6729413" algn="l"/>
                <a:tab pos="7186613" algn="l"/>
                <a:tab pos="7643813" algn="l"/>
                <a:tab pos="8101013" algn="l"/>
                <a:tab pos="8558213" algn="l"/>
                <a:tab pos="9015413" algn="l"/>
                <a:tab pos="947261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 marL="741363" indent="-284163">
              <a:tabLst>
                <a:tab pos="328613" algn="l"/>
                <a:tab pos="785813" algn="l"/>
                <a:tab pos="1243013" algn="l"/>
                <a:tab pos="1700213" algn="l"/>
                <a:tab pos="2157413" algn="l"/>
                <a:tab pos="2614613" algn="l"/>
                <a:tab pos="3071813" algn="l"/>
                <a:tab pos="3529013" algn="l"/>
                <a:tab pos="3986213" algn="l"/>
                <a:tab pos="4443413" algn="l"/>
                <a:tab pos="4900613" algn="l"/>
                <a:tab pos="5357813" algn="l"/>
                <a:tab pos="5815013" algn="l"/>
                <a:tab pos="6272213" algn="l"/>
                <a:tab pos="6729413" algn="l"/>
                <a:tab pos="7186613" algn="l"/>
                <a:tab pos="7643813" algn="l"/>
                <a:tab pos="8101013" algn="l"/>
                <a:tab pos="8558213" algn="l"/>
                <a:tab pos="9015413" algn="l"/>
                <a:tab pos="947261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328613" algn="l"/>
                <a:tab pos="785813" algn="l"/>
                <a:tab pos="1243013" algn="l"/>
                <a:tab pos="1700213" algn="l"/>
                <a:tab pos="2157413" algn="l"/>
                <a:tab pos="2614613" algn="l"/>
                <a:tab pos="3071813" algn="l"/>
                <a:tab pos="3529013" algn="l"/>
                <a:tab pos="3986213" algn="l"/>
                <a:tab pos="4443413" algn="l"/>
                <a:tab pos="4900613" algn="l"/>
                <a:tab pos="5357813" algn="l"/>
                <a:tab pos="5815013" algn="l"/>
                <a:tab pos="6272213" algn="l"/>
                <a:tab pos="6729413" algn="l"/>
                <a:tab pos="7186613" algn="l"/>
                <a:tab pos="7643813" algn="l"/>
                <a:tab pos="8101013" algn="l"/>
                <a:tab pos="8558213" algn="l"/>
                <a:tab pos="9015413" algn="l"/>
                <a:tab pos="947261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328613" algn="l"/>
                <a:tab pos="785813" algn="l"/>
                <a:tab pos="1243013" algn="l"/>
                <a:tab pos="1700213" algn="l"/>
                <a:tab pos="2157413" algn="l"/>
                <a:tab pos="2614613" algn="l"/>
                <a:tab pos="3071813" algn="l"/>
                <a:tab pos="3529013" algn="l"/>
                <a:tab pos="3986213" algn="l"/>
                <a:tab pos="4443413" algn="l"/>
                <a:tab pos="4900613" algn="l"/>
                <a:tab pos="5357813" algn="l"/>
                <a:tab pos="5815013" algn="l"/>
                <a:tab pos="6272213" algn="l"/>
                <a:tab pos="6729413" algn="l"/>
                <a:tab pos="7186613" algn="l"/>
                <a:tab pos="7643813" algn="l"/>
                <a:tab pos="8101013" algn="l"/>
                <a:tab pos="8558213" algn="l"/>
                <a:tab pos="9015413" algn="l"/>
                <a:tab pos="947261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328613" algn="l"/>
                <a:tab pos="785813" algn="l"/>
                <a:tab pos="1243013" algn="l"/>
                <a:tab pos="1700213" algn="l"/>
                <a:tab pos="2157413" algn="l"/>
                <a:tab pos="2614613" algn="l"/>
                <a:tab pos="3071813" algn="l"/>
                <a:tab pos="3529013" algn="l"/>
                <a:tab pos="3986213" algn="l"/>
                <a:tab pos="4443413" algn="l"/>
                <a:tab pos="4900613" algn="l"/>
                <a:tab pos="5357813" algn="l"/>
                <a:tab pos="5815013" algn="l"/>
                <a:tab pos="6272213" algn="l"/>
                <a:tab pos="6729413" algn="l"/>
                <a:tab pos="7186613" algn="l"/>
                <a:tab pos="7643813" algn="l"/>
                <a:tab pos="8101013" algn="l"/>
                <a:tab pos="8558213" algn="l"/>
                <a:tab pos="9015413" algn="l"/>
                <a:tab pos="947261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28613" algn="l"/>
                <a:tab pos="785813" algn="l"/>
                <a:tab pos="1243013" algn="l"/>
                <a:tab pos="1700213" algn="l"/>
                <a:tab pos="2157413" algn="l"/>
                <a:tab pos="2614613" algn="l"/>
                <a:tab pos="3071813" algn="l"/>
                <a:tab pos="3529013" algn="l"/>
                <a:tab pos="3986213" algn="l"/>
                <a:tab pos="4443413" algn="l"/>
                <a:tab pos="4900613" algn="l"/>
                <a:tab pos="5357813" algn="l"/>
                <a:tab pos="5815013" algn="l"/>
                <a:tab pos="6272213" algn="l"/>
                <a:tab pos="6729413" algn="l"/>
                <a:tab pos="7186613" algn="l"/>
                <a:tab pos="7643813" algn="l"/>
                <a:tab pos="8101013" algn="l"/>
                <a:tab pos="8558213" algn="l"/>
                <a:tab pos="9015413" algn="l"/>
                <a:tab pos="947261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28613" algn="l"/>
                <a:tab pos="785813" algn="l"/>
                <a:tab pos="1243013" algn="l"/>
                <a:tab pos="1700213" algn="l"/>
                <a:tab pos="2157413" algn="l"/>
                <a:tab pos="2614613" algn="l"/>
                <a:tab pos="3071813" algn="l"/>
                <a:tab pos="3529013" algn="l"/>
                <a:tab pos="3986213" algn="l"/>
                <a:tab pos="4443413" algn="l"/>
                <a:tab pos="4900613" algn="l"/>
                <a:tab pos="5357813" algn="l"/>
                <a:tab pos="5815013" algn="l"/>
                <a:tab pos="6272213" algn="l"/>
                <a:tab pos="6729413" algn="l"/>
                <a:tab pos="7186613" algn="l"/>
                <a:tab pos="7643813" algn="l"/>
                <a:tab pos="8101013" algn="l"/>
                <a:tab pos="8558213" algn="l"/>
                <a:tab pos="9015413" algn="l"/>
                <a:tab pos="947261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28613" algn="l"/>
                <a:tab pos="785813" algn="l"/>
                <a:tab pos="1243013" algn="l"/>
                <a:tab pos="1700213" algn="l"/>
                <a:tab pos="2157413" algn="l"/>
                <a:tab pos="2614613" algn="l"/>
                <a:tab pos="3071813" algn="l"/>
                <a:tab pos="3529013" algn="l"/>
                <a:tab pos="3986213" algn="l"/>
                <a:tab pos="4443413" algn="l"/>
                <a:tab pos="4900613" algn="l"/>
                <a:tab pos="5357813" algn="l"/>
                <a:tab pos="5815013" algn="l"/>
                <a:tab pos="6272213" algn="l"/>
                <a:tab pos="6729413" algn="l"/>
                <a:tab pos="7186613" algn="l"/>
                <a:tab pos="7643813" algn="l"/>
                <a:tab pos="8101013" algn="l"/>
                <a:tab pos="8558213" algn="l"/>
                <a:tab pos="9015413" algn="l"/>
                <a:tab pos="947261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28613" algn="l"/>
                <a:tab pos="785813" algn="l"/>
                <a:tab pos="1243013" algn="l"/>
                <a:tab pos="1700213" algn="l"/>
                <a:tab pos="2157413" algn="l"/>
                <a:tab pos="2614613" algn="l"/>
                <a:tab pos="3071813" algn="l"/>
                <a:tab pos="3529013" algn="l"/>
                <a:tab pos="3986213" algn="l"/>
                <a:tab pos="4443413" algn="l"/>
                <a:tab pos="4900613" algn="l"/>
                <a:tab pos="5357813" algn="l"/>
                <a:tab pos="5815013" algn="l"/>
                <a:tab pos="6272213" algn="l"/>
                <a:tab pos="6729413" algn="l"/>
                <a:tab pos="7186613" algn="l"/>
                <a:tab pos="7643813" algn="l"/>
                <a:tab pos="8101013" algn="l"/>
                <a:tab pos="8558213" algn="l"/>
                <a:tab pos="9015413" algn="l"/>
                <a:tab pos="9472613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marL="273050" indent="-266700" eaLnBrk="1" hangingPunct="1">
              <a:spcBef>
                <a:spcPts val="600"/>
              </a:spcBef>
              <a:buClrTx/>
              <a:buSzPct val="76000"/>
              <a:buFontTx/>
              <a:buNone/>
            </a:pPr>
            <a:endParaRPr lang="en-US" sz="2400" dirty="0"/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533400" y="2895600"/>
            <a:ext cx="92456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73050" indent="-266700"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 dirty="0" err="1">
                <a:latin typeface="Courier New" pitchFamily="49" charset="0"/>
              </a:rPr>
              <a:t>MyDate</a:t>
            </a:r>
            <a:r>
              <a:rPr lang="en-US" sz="2400" dirty="0">
                <a:latin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</a:rPr>
              <a:t>openDate</a:t>
            </a:r>
            <a:r>
              <a:rPr lang="en-US" sz="2400" dirty="0">
                <a:latin typeface="Courier New" pitchFamily="49" charset="0"/>
              </a:rPr>
              <a:t> = new </a:t>
            </a:r>
            <a:r>
              <a:rPr lang="en-US" sz="2400" dirty="0" err="1">
                <a:latin typeface="Courier New" pitchFamily="49" charset="0"/>
              </a:rPr>
              <a:t>MyDate</a:t>
            </a:r>
            <a:r>
              <a:rPr lang="en-US" sz="2400" dirty="0">
                <a:latin typeface="Courier New" pitchFamily="49" charset="0"/>
              </a:rPr>
              <a:t>(2,9,2019);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 dirty="0" err="1">
                <a:latin typeface="Courier New" pitchFamily="49" charset="0"/>
              </a:rPr>
              <a:t>MyDate</a:t>
            </a:r>
            <a:r>
              <a:rPr lang="en-US" sz="2400" dirty="0">
                <a:latin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</a:rPr>
              <a:t>startDate</a:t>
            </a:r>
            <a:r>
              <a:rPr lang="en-US" sz="2400" dirty="0">
                <a:latin typeface="Courier New" pitchFamily="49" charset="0"/>
              </a:rPr>
              <a:t> = new </a:t>
            </a:r>
            <a:r>
              <a:rPr lang="en-US" sz="2400" dirty="0" err="1">
                <a:latin typeface="Courier New" pitchFamily="49" charset="0"/>
              </a:rPr>
              <a:t>MyDate</a:t>
            </a:r>
            <a:r>
              <a:rPr lang="en-US" sz="2400" dirty="0">
                <a:latin typeface="Courier New" pitchFamily="49" charset="0"/>
              </a:rPr>
              <a:t>(10,10,2020);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 dirty="0" err="1">
                <a:latin typeface="Courier New" pitchFamily="49" charset="0"/>
              </a:rPr>
              <a:t>openDate</a:t>
            </a:r>
            <a:r>
              <a:rPr lang="en-US" sz="2400" dirty="0">
                <a:latin typeface="Courier New" pitchFamily="49" charset="0"/>
              </a:rPr>
              <a:t> = </a:t>
            </a:r>
            <a:r>
              <a:rPr lang="en-US" sz="2400" dirty="0" err="1">
                <a:latin typeface="Courier New" pitchFamily="49" charset="0"/>
              </a:rPr>
              <a:t>startDate</a:t>
            </a:r>
            <a:r>
              <a:rPr lang="en-US" sz="2400" dirty="0">
                <a:latin typeface="Courier New" pitchFamily="49" charset="0"/>
              </a:rPr>
              <a:t>;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576131" y="4365625"/>
            <a:ext cx="1733550" cy="533400"/>
          </a:xfrm>
          <a:prstGeom prst="rect">
            <a:avLst/>
          </a:prstGeom>
          <a:solidFill>
            <a:srgbClr val="CC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>
                <a:solidFill>
                  <a:srgbClr val="000000"/>
                </a:solidFill>
                <a:latin typeface="Tahoma" pitchFamily="32" charset="0"/>
                <a:ea typeface="Noto Sans CJK SC Regular" charset="0"/>
                <a:cs typeface="Noto Sans CJK SC Regular" charset="0"/>
              </a:rPr>
              <a:t>openDate</a:t>
            </a:r>
          </a:p>
        </p:txBody>
      </p:sp>
      <p:sp>
        <p:nvSpPr>
          <p:cNvPr id="22533" name="Line 5"/>
          <p:cNvSpPr>
            <a:spLocks noChangeShapeType="1"/>
          </p:cNvSpPr>
          <p:nvPr/>
        </p:nvSpPr>
        <p:spPr bwMode="auto">
          <a:xfrm>
            <a:off x="2309681" y="4594225"/>
            <a:ext cx="1485900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3878131" y="4365625"/>
            <a:ext cx="2146300" cy="533400"/>
          </a:xfrm>
          <a:prstGeom prst="rect">
            <a:avLst/>
          </a:prstGeom>
          <a:solidFill>
            <a:srgbClr val="FFFF99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>
                <a:solidFill>
                  <a:srgbClr val="000000"/>
                </a:solidFill>
                <a:latin typeface="Tahoma" pitchFamily="32" charset="0"/>
                <a:ea typeface="Noto Sans CJK SC Regular" charset="0"/>
                <a:cs typeface="Noto Sans CJK SC Regular" charset="0"/>
              </a:rPr>
              <a:t>2-9-2019</a:t>
            </a: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576131" y="5508625"/>
            <a:ext cx="1733550" cy="533400"/>
          </a:xfrm>
          <a:prstGeom prst="rect">
            <a:avLst/>
          </a:prstGeom>
          <a:solidFill>
            <a:srgbClr val="CC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>
                <a:solidFill>
                  <a:srgbClr val="000000"/>
                </a:solidFill>
                <a:latin typeface="Tahoma" pitchFamily="32" charset="0"/>
                <a:ea typeface="Noto Sans CJK SC Regular" charset="0"/>
                <a:cs typeface="Noto Sans CJK SC Regular" charset="0"/>
              </a:rPr>
              <a:t>startDate</a:t>
            </a:r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>
            <a:off x="2309681" y="5737225"/>
            <a:ext cx="1485900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3878131" y="5508625"/>
            <a:ext cx="2146300" cy="533400"/>
          </a:xfrm>
          <a:prstGeom prst="rect">
            <a:avLst/>
          </a:prstGeom>
          <a:solidFill>
            <a:srgbClr val="FFFF99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400">
                <a:solidFill>
                  <a:srgbClr val="000000"/>
                </a:solidFill>
                <a:latin typeface="Tahoma" pitchFamily="32" charset="0"/>
                <a:ea typeface="Noto Sans CJK SC Regular" charset="0"/>
                <a:cs typeface="Noto Sans CJK SC Regular" charset="0"/>
              </a:rPr>
              <a:t>10-10-2020</a:t>
            </a:r>
          </a:p>
        </p:txBody>
      </p:sp>
      <p:grpSp>
        <p:nvGrpSpPr>
          <p:cNvPr id="22538" name="Group 10"/>
          <p:cNvGrpSpPr>
            <a:grpSpLocks/>
          </p:cNvGrpSpPr>
          <p:nvPr/>
        </p:nvGrpSpPr>
        <p:grpSpPr bwMode="auto">
          <a:xfrm>
            <a:off x="2309681" y="4289425"/>
            <a:ext cx="1396471" cy="1289050"/>
            <a:chOff x="1343" y="2702"/>
            <a:chExt cx="812" cy="812"/>
          </a:xfrm>
        </p:grpSpPr>
        <p:sp>
          <p:nvSpPr>
            <p:cNvPr id="22539" name="Line 11"/>
            <p:cNvSpPr>
              <a:spLocks noChangeShapeType="1"/>
            </p:cNvSpPr>
            <p:nvPr/>
          </p:nvSpPr>
          <p:spPr bwMode="auto">
            <a:xfrm>
              <a:off x="1343" y="2990"/>
              <a:ext cx="812" cy="524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0" name="Text Box 12"/>
            <p:cNvSpPr txBox="1">
              <a:spLocks noChangeArrowheads="1"/>
            </p:cNvSpPr>
            <p:nvPr/>
          </p:nvSpPr>
          <p:spPr bwMode="auto">
            <a:xfrm>
              <a:off x="1665" y="2702"/>
              <a:ext cx="227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sz="2800">
                  <a:solidFill>
                    <a:srgbClr val="B292CA"/>
                  </a:solidFill>
                  <a:latin typeface="Tahoma" pitchFamily="32" charset="0"/>
                </a:rPr>
                <a:t>X</a:t>
              </a:r>
            </a:p>
          </p:txBody>
        </p:sp>
      </p:grpSp>
      <p:grpSp>
        <p:nvGrpSpPr>
          <p:cNvPr id="22541" name="Group 13"/>
          <p:cNvGrpSpPr>
            <a:grpSpLocks/>
          </p:cNvGrpSpPr>
          <p:nvPr/>
        </p:nvGrpSpPr>
        <p:grpSpPr bwMode="auto">
          <a:xfrm>
            <a:off x="6106981" y="3887788"/>
            <a:ext cx="3016516" cy="833437"/>
            <a:chOff x="3551" y="2449"/>
            <a:chExt cx="1754" cy="525"/>
          </a:xfrm>
        </p:grpSpPr>
        <p:sp>
          <p:nvSpPr>
            <p:cNvPr id="22542" name="Line 14"/>
            <p:cNvSpPr>
              <a:spLocks noChangeShapeType="1"/>
            </p:cNvSpPr>
            <p:nvPr/>
          </p:nvSpPr>
          <p:spPr bwMode="auto">
            <a:xfrm flipH="1">
              <a:off x="3551" y="2737"/>
              <a:ext cx="770" cy="14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Text Box 15"/>
            <p:cNvSpPr txBox="1">
              <a:spLocks noChangeArrowheads="1"/>
            </p:cNvSpPr>
            <p:nvPr/>
          </p:nvSpPr>
          <p:spPr bwMode="auto">
            <a:xfrm>
              <a:off x="4374" y="2449"/>
              <a:ext cx="931" cy="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US" sz="2400">
                  <a:solidFill>
                    <a:srgbClr val="B292CA"/>
                  </a:solidFill>
                  <a:latin typeface="Tahoma" pitchFamily="32" charset="0"/>
                </a:rPr>
                <a:t>giải phóng</a:t>
              </a:r>
              <a:br>
                <a:rPr lang="en-US" sz="2400">
                  <a:solidFill>
                    <a:srgbClr val="B292CA"/>
                  </a:solidFill>
                  <a:latin typeface="Tahoma" pitchFamily="32" charset="0"/>
                </a:rPr>
              </a:br>
              <a:r>
                <a:rPr lang="en-US" sz="2400">
                  <a:solidFill>
                    <a:srgbClr val="B292CA"/>
                  </a:solidFill>
                  <a:latin typeface="Tahoma" pitchFamily="32" charset="0"/>
                </a:rPr>
                <a:t>tự động</a:t>
              </a:r>
            </a:p>
          </p:txBody>
        </p:sp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GC hoạt động như thế nào?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304800" y="1295400"/>
            <a:ext cx="8915400" cy="4525963"/>
          </a:xfrm>
        </p:spPr>
        <p:txBody>
          <a:bodyPr>
            <a:normAutofit/>
          </a:bodyPr>
          <a:lstStyle/>
          <a:p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cơ</a:t>
            </a:r>
            <a:r>
              <a:rPr lang="en-US" sz="2800" dirty="0"/>
              <a:t> </a:t>
            </a:r>
            <a:r>
              <a:rPr lang="en-US" sz="2800" dirty="0" err="1"/>
              <a:t>chế</a:t>
            </a:r>
            <a:r>
              <a:rPr lang="en-US" sz="2800" dirty="0"/>
              <a:t> </a:t>
            </a:r>
            <a:r>
              <a:rPr lang="en-US" sz="2800" dirty="0" err="1"/>
              <a:t>đếm</a:t>
            </a:r>
            <a:endParaRPr lang="en-US" sz="2800" dirty="0"/>
          </a:p>
          <a:p>
            <a:pPr lvl="1"/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đếm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tham</a:t>
            </a:r>
            <a:r>
              <a:rPr lang="en-US" sz="2400" dirty="0"/>
              <a:t> </a:t>
            </a:r>
            <a:r>
              <a:rPr lang="en-US" sz="2400" dirty="0" err="1"/>
              <a:t>chiếu</a:t>
            </a:r>
            <a:r>
              <a:rPr lang="en-US" sz="2400" dirty="0"/>
              <a:t> </a:t>
            </a:r>
            <a:r>
              <a:rPr lang="en-US" sz="2400" dirty="0" err="1"/>
              <a:t>trỏ</a:t>
            </a:r>
            <a:r>
              <a:rPr lang="en-US" sz="2400" dirty="0"/>
              <a:t> </a:t>
            </a:r>
            <a:r>
              <a:rPr lang="en-US" sz="2400" dirty="0" err="1"/>
              <a:t>tới</a:t>
            </a:r>
            <a:endParaRPr lang="en-US" sz="2400" dirty="0"/>
          </a:p>
          <a:p>
            <a:pPr lvl="1"/>
            <a:r>
              <a:rPr lang="en-US" sz="2400" dirty="0" err="1"/>
              <a:t>giải</a:t>
            </a:r>
            <a:r>
              <a:rPr lang="en-US" sz="2400" dirty="0"/>
              <a:t> </a:t>
            </a:r>
            <a:r>
              <a:rPr lang="en-US" sz="2400" dirty="0" err="1"/>
              <a:t>phóng</a:t>
            </a:r>
            <a:r>
              <a:rPr lang="en-US" sz="2400" dirty="0"/>
              <a:t> </a:t>
            </a: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r>
              <a:rPr lang="en-US" sz="2400" dirty="0"/>
              <a:t> </a:t>
            </a: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đếm</a:t>
            </a:r>
            <a:r>
              <a:rPr lang="en-US" sz="2400" dirty="0"/>
              <a:t> = 0</a:t>
            </a:r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4346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GC (tiếp)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 cung cấp phương thức hủy finalize()</a:t>
            </a:r>
          </a:p>
          <a:p>
            <a:pPr lvl="1"/>
            <a:r>
              <a:rPr lang="en-US"/>
              <a:t>Không nhất thiết được thực hiện do hệ thống không phải luôn luôn thực hiện việc giải phóng bộ nhớ</a:t>
            </a:r>
          </a:p>
          <a:p>
            <a:pPr lvl="1"/>
            <a:r>
              <a:rPr lang="en-US"/>
              <a:t>Ứng dụng finalize() trong debug chương trình: kiểm tra trạng thái cuối cùng của đối tượng</a:t>
            </a:r>
          </a:p>
          <a:p>
            <a:r>
              <a:rPr lang="en-US"/>
              <a:t>Có thể yêu cầu hệ thống giải phóng bộ nhớ bằng phương thức System.gc()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7004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9" name="Group 3"/>
          <p:cNvGrpSpPr>
            <a:grpSpLocks/>
          </p:cNvGrpSpPr>
          <p:nvPr/>
        </p:nvGrpSpPr>
        <p:grpSpPr bwMode="auto">
          <a:xfrm>
            <a:off x="7121260" y="3240087"/>
            <a:ext cx="2479940" cy="901700"/>
            <a:chOff x="4032" y="3443"/>
            <a:chExt cx="1442" cy="568"/>
          </a:xfrm>
        </p:grpSpPr>
        <p:sp>
          <p:nvSpPr>
            <p:cNvPr id="24580" name="Line 4"/>
            <p:cNvSpPr>
              <a:spLocks noChangeShapeType="1"/>
            </p:cNvSpPr>
            <p:nvPr/>
          </p:nvSpPr>
          <p:spPr bwMode="auto">
            <a:xfrm>
              <a:off x="4408" y="3844"/>
              <a:ext cx="645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1" name="Rectangle 5"/>
            <p:cNvSpPr>
              <a:spLocks noChangeArrowheads="1"/>
            </p:cNvSpPr>
            <p:nvPr/>
          </p:nvSpPr>
          <p:spPr bwMode="auto">
            <a:xfrm>
              <a:off x="4032" y="3443"/>
              <a:ext cx="386" cy="255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2000" b="1">
                  <a:solidFill>
                    <a:srgbClr val="000000"/>
                  </a:solidFill>
                  <a:latin typeface="Tahoma" pitchFamily="32" charset="0"/>
                  <a:cs typeface="Arial" charset="0"/>
                </a:rPr>
                <a:t>m</a:t>
              </a:r>
            </a:p>
          </p:txBody>
        </p:sp>
        <p:sp>
          <p:nvSpPr>
            <p:cNvPr id="24582" name="Rectangle 6"/>
            <p:cNvSpPr>
              <a:spLocks noChangeArrowheads="1"/>
            </p:cNvSpPr>
            <p:nvPr/>
          </p:nvSpPr>
          <p:spPr bwMode="auto">
            <a:xfrm>
              <a:off x="4032" y="3765"/>
              <a:ext cx="386" cy="246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buClrTx/>
                <a:buFontTx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US" sz="2000" b="1">
                  <a:solidFill>
                    <a:srgbClr val="000000"/>
                  </a:solidFill>
                  <a:latin typeface="Tahoma" pitchFamily="32" charset="0"/>
                  <a:cs typeface="Arial" charset="0"/>
                </a:rPr>
                <a:t>n</a:t>
              </a:r>
            </a:p>
          </p:txBody>
        </p:sp>
        <p:sp>
          <p:nvSpPr>
            <p:cNvPr id="24583" name="Rectangle 7"/>
            <p:cNvSpPr>
              <a:spLocks noChangeArrowheads="1"/>
            </p:cNvSpPr>
            <p:nvPr/>
          </p:nvSpPr>
          <p:spPr bwMode="auto">
            <a:xfrm>
              <a:off x="5081" y="3746"/>
              <a:ext cx="393" cy="217"/>
            </a:xfrm>
            <a:prstGeom prst="rect">
              <a:avLst/>
            </a:prstGeom>
            <a:solidFill>
              <a:srgbClr val="9999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4" name="Text Box 8"/>
            <p:cNvSpPr txBox="1">
              <a:spLocks noChangeArrowheads="1"/>
            </p:cNvSpPr>
            <p:nvPr/>
          </p:nvSpPr>
          <p:spPr bwMode="auto">
            <a:xfrm>
              <a:off x="5136" y="3765"/>
              <a:ext cx="259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1600" b="1">
                  <a:latin typeface="Tahoma" pitchFamily="32" charset="0"/>
                  <a:cs typeface="Arial" charset="0"/>
                </a:rPr>
                <a:t>50</a:t>
              </a:r>
            </a:p>
          </p:txBody>
        </p:sp>
        <p:sp>
          <p:nvSpPr>
            <p:cNvPr id="24585" name="Line 9"/>
            <p:cNvSpPr>
              <a:spLocks noChangeShapeType="1"/>
            </p:cNvSpPr>
            <p:nvPr/>
          </p:nvSpPr>
          <p:spPr bwMode="auto">
            <a:xfrm>
              <a:off x="4428" y="3627"/>
              <a:ext cx="625" cy="15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Truyền tham số và nhận giá trị trả về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Truyền giá trị</a:t>
            </a:r>
          </a:p>
          <a:p>
            <a:pPr lvl="1"/>
            <a:r>
              <a:rPr lang="en-US"/>
              <a:t>Giá trị tham số được đưa vào stack</a:t>
            </a:r>
          </a:p>
          <a:p>
            <a:pPr lvl="1"/>
            <a:r>
              <a:rPr lang="en-US"/>
              <a:t>Là cơ chế duy nhất được dùng trong Java</a:t>
            </a:r>
          </a:p>
          <a:p>
            <a:pPr lvl="2"/>
            <a:r>
              <a:rPr lang="en-US"/>
              <a:t>Java không hỗ trợ truyền theo tham chiếu</a:t>
            </a:r>
          </a:p>
          <a:p>
            <a:r>
              <a:rPr lang="en-US"/>
              <a:t>Hai loại tham số</a:t>
            </a:r>
          </a:p>
          <a:p>
            <a:pPr lvl="1"/>
            <a:r>
              <a:rPr lang="en-US"/>
              <a:t>Dữ liệu nguyên thủy</a:t>
            </a:r>
          </a:p>
          <a:p>
            <a:pPr lvl="2"/>
            <a:r>
              <a:rPr lang="en-US"/>
              <a:t>Giá trị tham số được sao chép</a:t>
            </a:r>
          </a:p>
          <a:p>
            <a:pPr lvl="2"/>
            <a:r>
              <a:rPr lang="en-US"/>
              <a:t>các tham số có thể là hằng, ví dụ, 10, “abc”…</a:t>
            </a:r>
          </a:p>
          <a:p>
            <a:pPr lvl="1"/>
            <a:r>
              <a:rPr lang="en-US"/>
              <a:t>Tham chiếu đối tượng</a:t>
            </a:r>
          </a:p>
          <a:p>
            <a:pPr lvl="2"/>
            <a:r>
              <a:rPr lang="en-US"/>
              <a:t>Tham chiếu (nơi lưu đối tượng) được sao chép</a:t>
            </a:r>
          </a:p>
          <a:p>
            <a:pPr lvl="2"/>
            <a:r>
              <a:rPr lang="en-US"/>
              <a:t>KHÔNG sao chép nội dung đối tượng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286360" y="4130675"/>
            <a:ext cx="2311400" cy="365125"/>
          </a:xfrm>
        </p:spPr>
        <p:txBody>
          <a:bodyPr/>
          <a:lstStyle/>
          <a:p>
            <a:fld id="{C102E81D-EE5C-4746-BACE-D5CEA6BB4F6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159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3" name="Group 3"/>
          <p:cNvGrpSpPr>
            <a:grpSpLocks/>
          </p:cNvGrpSpPr>
          <p:nvPr/>
        </p:nvGrpSpPr>
        <p:grpSpPr bwMode="auto">
          <a:xfrm>
            <a:off x="486701" y="3352802"/>
            <a:ext cx="4485217" cy="2514601"/>
            <a:chOff x="283" y="2112"/>
            <a:chExt cx="2608" cy="1584"/>
          </a:xfrm>
        </p:grpSpPr>
        <p:sp>
          <p:nvSpPr>
            <p:cNvPr id="25604" name="Text Box 4"/>
            <p:cNvSpPr txBox="1">
              <a:spLocks noChangeArrowheads="1"/>
            </p:cNvSpPr>
            <p:nvPr/>
          </p:nvSpPr>
          <p:spPr bwMode="auto">
            <a:xfrm>
              <a:off x="283" y="2352"/>
              <a:ext cx="2189" cy="525"/>
            </a:xfrm>
            <a:prstGeom prst="rect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1600" b="1">
                  <a:latin typeface="Consolas" pitchFamily="49" charset="0"/>
                  <a:ea typeface="DejaVu Sans" charset="0"/>
                  <a:cs typeface="DejaVu Sans" charset="0"/>
                </a:rPr>
                <a:t>ReturnType foo(DataType v) {</a:t>
              </a:r>
            </a:p>
            <a:p>
              <a:pPr>
                <a:buClrTx/>
                <a:buFontTx/>
                <a:buNone/>
              </a:pPr>
              <a:r>
                <a:rPr lang="en-US" sz="1600" b="1">
                  <a:latin typeface="Consolas" pitchFamily="49" charset="0"/>
                  <a:ea typeface="DejaVu Sans" charset="0"/>
                  <a:cs typeface="DejaVu Sans" charset="0"/>
                </a:rPr>
                <a:t>   //processing v</a:t>
              </a:r>
            </a:p>
            <a:p>
              <a:pPr>
                <a:buClrTx/>
                <a:buFontTx/>
                <a:buNone/>
              </a:pPr>
              <a:r>
                <a:rPr lang="en-US" sz="1600" b="1">
                  <a:latin typeface="Consolas" pitchFamily="49" charset="0"/>
                  <a:ea typeface="DejaVu Sans" charset="0"/>
                  <a:cs typeface="DejaVu Sans" charset="0"/>
                </a:rPr>
                <a:t>}</a:t>
              </a:r>
            </a:p>
          </p:txBody>
        </p:sp>
        <p:sp>
          <p:nvSpPr>
            <p:cNvPr id="25605" name="Text Box 5"/>
            <p:cNvSpPr txBox="1">
              <a:spLocks noChangeArrowheads="1"/>
            </p:cNvSpPr>
            <p:nvPr/>
          </p:nvSpPr>
          <p:spPr bwMode="auto">
            <a:xfrm>
              <a:off x="283" y="3326"/>
              <a:ext cx="2608" cy="370"/>
            </a:xfrm>
            <a:prstGeom prst="rect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1600" b="1">
                  <a:ea typeface="DejaVu Sans" charset="0"/>
                  <a:cs typeface="DejaVu Sans" charset="0"/>
                </a:rPr>
                <a:t>…</a:t>
              </a:r>
            </a:p>
            <a:p>
              <a:pPr>
                <a:buClrTx/>
                <a:buFontTx/>
                <a:buNone/>
              </a:pPr>
              <a:r>
                <a:rPr lang="en-US" sz="1600" b="1">
                  <a:solidFill>
                    <a:srgbClr val="0000CC"/>
                  </a:solidFill>
                  <a:latin typeface="Consolas" pitchFamily="49" charset="0"/>
                  <a:ea typeface="DejaVu Sans" charset="0"/>
                  <a:cs typeface="DejaVu Sans" charset="0"/>
                </a:rPr>
                <a:t>foo(u); </a:t>
              </a:r>
              <a:r>
                <a:rPr lang="en-US" sz="1600" b="1">
                  <a:solidFill>
                    <a:srgbClr val="00CC00"/>
                  </a:solidFill>
                  <a:latin typeface="Consolas" pitchFamily="49" charset="0"/>
                  <a:ea typeface="DejaVu Sans" charset="0"/>
                  <a:cs typeface="DejaVu Sans" charset="0"/>
                </a:rPr>
                <a:t>// u có kiểu DataType</a:t>
              </a:r>
            </a:p>
          </p:txBody>
        </p:sp>
        <p:sp>
          <p:nvSpPr>
            <p:cNvPr id="25606" name="Text Box 6"/>
            <p:cNvSpPr txBox="1">
              <a:spLocks noChangeArrowheads="1"/>
            </p:cNvSpPr>
            <p:nvPr/>
          </p:nvSpPr>
          <p:spPr bwMode="auto">
            <a:xfrm>
              <a:off x="321" y="2112"/>
              <a:ext cx="1000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1000"/>
                </a:spcBef>
                <a:buClrTx/>
                <a:buFontTx/>
                <a:buNone/>
              </a:pPr>
              <a:r>
                <a:rPr lang="en-US" sz="1600" b="1">
                  <a:ea typeface="DejaVu Sans" charset="0"/>
                  <a:cs typeface="DejaVu Sans" charset="0"/>
                </a:rPr>
                <a:t>Định nghĩa hàm</a:t>
              </a:r>
            </a:p>
          </p:txBody>
        </p:sp>
        <p:sp>
          <p:nvSpPr>
            <p:cNvPr id="25607" name="Text Box 7"/>
            <p:cNvSpPr txBox="1">
              <a:spLocks noChangeArrowheads="1"/>
            </p:cNvSpPr>
            <p:nvPr/>
          </p:nvSpPr>
          <p:spPr bwMode="auto">
            <a:xfrm>
              <a:off x="357" y="3120"/>
              <a:ext cx="58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1000"/>
                </a:spcBef>
                <a:buClrTx/>
                <a:buFontTx/>
                <a:buNone/>
              </a:pPr>
              <a:r>
                <a:rPr lang="en-US" sz="1600" b="1">
                  <a:ea typeface="DejaVu Sans" charset="0"/>
                  <a:cs typeface="DejaVu Sans" charset="0"/>
                </a:rPr>
                <a:t>Gọi hàm</a:t>
              </a:r>
            </a:p>
          </p:txBody>
        </p:sp>
      </p:grpSp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6686550" y="5029200"/>
            <a:ext cx="2641600" cy="1079399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{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</a:t>
            </a:r>
            <a:r>
              <a:rPr lang="en-US" sz="16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DataType v = u;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//processing v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}</a:t>
            </a:r>
          </a:p>
        </p:txBody>
      </p:sp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5116381" y="5676900"/>
            <a:ext cx="1252564" cy="309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spcBef>
                <a:spcPts val="875"/>
              </a:spcBef>
              <a:buClrTx/>
              <a:buFontTx/>
              <a:buNone/>
            </a:pPr>
            <a:r>
              <a:rPr lang="en-US" sz="1400">
                <a:ea typeface="DejaVu Sans" charset="0"/>
                <a:cs typeface="DejaVu Sans" charset="0"/>
              </a:rPr>
              <a:t>tương đương</a:t>
            </a:r>
          </a:p>
        </p:txBody>
      </p:sp>
      <p:grpSp>
        <p:nvGrpSpPr>
          <p:cNvPr id="25610" name="Group 10"/>
          <p:cNvGrpSpPr>
            <a:grpSpLocks/>
          </p:cNvGrpSpPr>
          <p:nvPr/>
        </p:nvGrpSpPr>
        <p:grpSpPr bwMode="auto">
          <a:xfrm>
            <a:off x="6108701" y="2944814"/>
            <a:ext cx="3690673" cy="2376487"/>
            <a:chOff x="3552" y="1855"/>
            <a:chExt cx="2146" cy="1497"/>
          </a:xfrm>
        </p:grpSpPr>
        <p:sp>
          <p:nvSpPr>
            <p:cNvPr id="25611" name="Text Box 11"/>
            <p:cNvSpPr txBox="1">
              <a:spLocks noChangeArrowheads="1"/>
            </p:cNvSpPr>
            <p:nvPr/>
          </p:nvSpPr>
          <p:spPr bwMode="auto">
            <a:xfrm>
              <a:off x="3552" y="1855"/>
              <a:ext cx="2146" cy="835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1600" b="1">
                  <a:latin typeface="Consolas" pitchFamily="49" charset="0"/>
                  <a:ea typeface="DejaVu Sans" charset="0"/>
                  <a:cs typeface="DejaVu Sans" charset="0"/>
                </a:rPr>
                <a:t>v</a:t>
              </a:r>
              <a:r>
                <a:rPr lang="en-US" sz="1600" b="1">
                  <a:ea typeface="DejaVu Sans" charset="0"/>
                  <a:cs typeface="DejaVu Sans" charset="0"/>
                </a:rPr>
                <a:t> là biến địa phương</a:t>
              </a:r>
            </a:p>
            <a:p>
              <a:pPr>
                <a:buClrTx/>
                <a:buFontTx/>
                <a:buNone/>
              </a:pPr>
              <a:endParaRPr lang="en-US" sz="1600" b="1">
                <a:ea typeface="DejaVu Sans" charset="0"/>
                <a:cs typeface="DejaVu Sans" charset="0"/>
              </a:endParaRPr>
            </a:p>
            <a:p>
              <a:pPr>
                <a:buClrTx/>
                <a:buFontTx/>
                <a:buNone/>
              </a:pPr>
              <a:r>
                <a:rPr lang="en-US" sz="1600" b="1">
                  <a:ea typeface="DejaVu Sans" charset="0"/>
                  <a:cs typeface="DejaVu Sans" charset="0"/>
                </a:rPr>
                <a:t>điều gì xảy ra khi </a:t>
              </a:r>
              <a:r>
                <a:rPr lang="en-US" sz="1600" b="1">
                  <a:latin typeface="Consolas" pitchFamily="49" charset="0"/>
                  <a:ea typeface="DejaVu Sans" charset="0"/>
                  <a:cs typeface="DejaVu Sans" charset="0"/>
                </a:rPr>
                <a:t>DataType</a:t>
              </a:r>
              <a:r>
                <a:rPr lang="en-US" sz="1600" b="1">
                  <a:ea typeface="DejaVu Sans" charset="0"/>
                  <a:cs typeface="DejaVu Sans" charset="0"/>
                </a:rPr>
                <a:t> là</a:t>
              </a:r>
            </a:p>
            <a:p>
              <a:pPr>
                <a:buFont typeface="Arial" charset="0"/>
                <a:buChar char="•"/>
              </a:pPr>
              <a:r>
                <a:rPr lang="en-US" sz="1600" b="1">
                  <a:ea typeface="DejaVu Sans" charset="0"/>
                  <a:cs typeface="DejaVu Sans" charset="0"/>
                </a:rPr>
                <a:t>kiểu nguyên thủy? </a:t>
              </a:r>
            </a:p>
            <a:p>
              <a:pPr>
                <a:buFont typeface="Arial" charset="0"/>
                <a:buChar char="•"/>
              </a:pPr>
              <a:r>
                <a:rPr lang="en-US" sz="1600" b="1">
                  <a:ea typeface="DejaVu Sans" charset="0"/>
                  <a:cs typeface="DejaVu Sans" charset="0"/>
                </a:rPr>
                <a:t>kiểu tham chiếu?</a:t>
              </a:r>
            </a:p>
          </p:txBody>
        </p:sp>
        <p:sp>
          <p:nvSpPr>
            <p:cNvPr id="25612" name="Line 12"/>
            <p:cNvSpPr>
              <a:spLocks noChangeShapeType="1"/>
            </p:cNvSpPr>
            <p:nvPr/>
          </p:nvSpPr>
          <p:spPr bwMode="auto">
            <a:xfrm>
              <a:off x="4413" y="2692"/>
              <a:ext cx="0" cy="66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13" name="AutoShape 13"/>
          <p:cNvSpPr>
            <a:spLocks noChangeArrowheads="1"/>
          </p:cNvSpPr>
          <p:nvPr/>
        </p:nvSpPr>
        <p:spPr bwMode="auto">
          <a:xfrm>
            <a:off x="5613400" y="5334000"/>
            <a:ext cx="495300" cy="3048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9999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Truyền tham số và nhận giá trị trả về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Cách thức hoạt động</a:t>
            </a:r>
          </a:p>
          <a:p>
            <a:pPr lvl="1"/>
            <a:r>
              <a:rPr lang="en-US"/>
              <a:t>Tham số tương ứng với một biến địa phương để lưu giá trị truyền vào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186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908050" y="1600201"/>
            <a:ext cx="8007350" cy="4208463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class Date {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    int year, month, day;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    public Date(</a:t>
            </a:r>
            <a:r>
              <a:rPr lang="en-US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int y, int m, int d</a:t>
            </a: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) {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        year = y; month = m; day = d;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    }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    public void copy(</a:t>
            </a:r>
            <a:r>
              <a:rPr lang="en-US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Date d</a:t>
            </a: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) {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        d.year = year;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        d.month = month;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        d.day = day;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    }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    public Date copy() {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        </a:t>
            </a:r>
            <a:r>
              <a:rPr lang="en-US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return</a:t>
            </a: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 </a:t>
            </a:r>
            <a:r>
              <a:rPr lang="en-US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new Date</a:t>
            </a: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(day, month, year);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    }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...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  <a:ea typeface="DejaVu Sans" charset="0"/>
                <a:cs typeface="DejaVu Sans" charset="0"/>
              </a:rPr>
              <a:t>}</a:t>
            </a:r>
          </a:p>
        </p:txBody>
      </p:sp>
      <p:grpSp>
        <p:nvGrpSpPr>
          <p:cNvPr id="26627" name="Group 3"/>
          <p:cNvGrpSpPr>
            <a:grpSpLocks/>
          </p:cNvGrpSpPr>
          <p:nvPr/>
        </p:nvGrpSpPr>
        <p:grpSpPr bwMode="auto">
          <a:xfrm>
            <a:off x="5609961" y="1143000"/>
            <a:ext cx="4115461" cy="1130300"/>
            <a:chOff x="3262" y="720"/>
            <a:chExt cx="2393" cy="712"/>
          </a:xfrm>
        </p:grpSpPr>
        <p:sp>
          <p:nvSpPr>
            <p:cNvPr id="26628" name="Rectangle 4"/>
            <p:cNvSpPr>
              <a:spLocks noChangeArrowheads="1"/>
            </p:cNvSpPr>
            <p:nvPr/>
          </p:nvSpPr>
          <p:spPr bwMode="auto">
            <a:xfrm>
              <a:off x="4277" y="1056"/>
              <a:ext cx="184" cy="1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29" name="Text Box 5"/>
            <p:cNvSpPr txBox="1">
              <a:spLocks noChangeArrowheads="1"/>
            </p:cNvSpPr>
            <p:nvPr/>
          </p:nvSpPr>
          <p:spPr bwMode="auto">
            <a:xfrm>
              <a:off x="3891" y="720"/>
              <a:ext cx="1764" cy="331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875"/>
                </a:spcBef>
                <a:buClrTx/>
                <a:buFontTx/>
                <a:buNone/>
              </a:pPr>
              <a:r>
                <a:rPr lang="en-US" sz="1400" b="1">
                  <a:latin typeface="Consolas" pitchFamily="49" charset="0"/>
                  <a:ea typeface="DejaVu Sans" charset="0"/>
                  <a:cs typeface="DejaVu Sans" charset="0"/>
                </a:rPr>
                <a:t>y</a:t>
              </a:r>
              <a:r>
                <a:rPr lang="en-US" sz="1400" b="1">
                  <a:ea typeface="DejaVu Sans" charset="0"/>
                  <a:cs typeface="DejaVu Sans" charset="0"/>
                </a:rPr>
                <a:t>, </a:t>
              </a:r>
              <a:r>
                <a:rPr lang="en-US" sz="1400" b="1">
                  <a:latin typeface="Consolas" pitchFamily="49" charset="0"/>
                  <a:ea typeface="DejaVu Sans" charset="0"/>
                  <a:cs typeface="DejaVu Sans" charset="0"/>
                </a:rPr>
                <a:t>m</a:t>
              </a:r>
              <a:r>
                <a:rPr lang="en-US" sz="1400" b="1">
                  <a:ea typeface="DejaVu Sans" charset="0"/>
                  <a:cs typeface="DejaVu Sans" charset="0"/>
                </a:rPr>
                <a:t>, </a:t>
              </a:r>
              <a:r>
                <a:rPr lang="en-US" sz="1400" b="1">
                  <a:latin typeface="Consolas" pitchFamily="49" charset="0"/>
                  <a:ea typeface="DejaVu Sans" charset="0"/>
                  <a:cs typeface="DejaVu Sans" charset="0"/>
                </a:rPr>
                <a:t>d</a:t>
              </a:r>
              <a:r>
                <a:rPr lang="en-US" sz="1400" b="1">
                  <a:ea typeface="DejaVu Sans" charset="0"/>
                  <a:cs typeface="DejaVu Sans" charset="0"/>
                </a:rPr>
                <a:t> có kiểu nguyên thủy và sẽ nhận giá trị truyền vào</a:t>
              </a:r>
            </a:p>
          </p:txBody>
        </p:sp>
        <p:sp>
          <p:nvSpPr>
            <p:cNvPr id="26630" name="Line 6"/>
            <p:cNvSpPr>
              <a:spLocks noChangeShapeType="1"/>
            </p:cNvSpPr>
            <p:nvPr/>
          </p:nvSpPr>
          <p:spPr bwMode="auto">
            <a:xfrm flipH="1">
              <a:off x="3262" y="960"/>
              <a:ext cx="631" cy="472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31" name="Group 7"/>
          <p:cNvGrpSpPr>
            <a:grpSpLocks/>
          </p:cNvGrpSpPr>
          <p:nvPr/>
        </p:nvGrpSpPr>
        <p:grpSpPr bwMode="auto">
          <a:xfrm>
            <a:off x="5080266" y="3236915"/>
            <a:ext cx="4701910" cy="754063"/>
            <a:chOff x="2954" y="2039"/>
            <a:chExt cx="2734" cy="475"/>
          </a:xfrm>
        </p:grpSpPr>
        <p:sp>
          <p:nvSpPr>
            <p:cNvPr id="26632" name="Text Box 8"/>
            <p:cNvSpPr txBox="1">
              <a:spLocks noChangeArrowheads="1"/>
            </p:cNvSpPr>
            <p:nvPr/>
          </p:nvSpPr>
          <p:spPr bwMode="auto">
            <a:xfrm>
              <a:off x="3967" y="2047"/>
              <a:ext cx="1721" cy="46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1400" b="1">
                  <a:latin typeface="Consolas" pitchFamily="49" charset="0"/>
                  <a:ea typeface="DejaVu Sans" charset="0"/>
                  <a:cs typeface="DejaVu Sans" charset="0"/>
                </a:rPr>
                <a:t>d</a:t>
              </a:r>
              <a:r>
                <a:rPr lang="en-US" sz="1400" b="1">
                  <a:ea typeface="DejaVu Sans" charset="0"/>
                  <a:cs typeface="DejaVu Sans" charset="0"/>
                </a:rPr>
                <a:t> là tham chiếu, sẽ nhận giá trị truyền vào là nơi lưu trữ đối tượng (object location)</a:t>
              </a:r>
            </a:p>
          </p:txBody>
        </p:sp>
        <p:sp>
          <p:nvSpPr>
            <p:cNvPr id="26633" name="Line 9"/>
            <p:cNvSpPr>
              <a:spLocks noChangeShapeType="1"/>
            </p:cNvSpPr>
            <p:nvPr/>
          </p:nvSpPr>
          <p:spPr bwMode="auto">
            <a:xfrm flipH="1" flipV="1">
              <a:off x="2954" y="2039"/>
              <a:ext cx="988" cy="197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34" name="Group 10"/>
          <p:cNvGrpSpPr>
            <a:grpSpLocks/>
          </p:cNvGrpSpPr>
          <p:nvPr/>
        </p:nvGrpSpPr>
        <p:grpSpPr bwMode="auto">
          <a:xfrm>
            <a:off x="3902209" y="4989514"/>
            <a:ext cx="5529130" cy="968375"/>
            <a:chOff x="2269" y="3143"/>
            <a:chExt cx="3215" cy="610"/>
          </a:xfrm>
        </p:grpSpPr>
        <p:sp>
          <p:nvSpPr>
            <p:cNvPr id="26635" name="Text Box 11"/>
            <p:cNvSpPr txBox="1">
              <a:spLocks noChangeArrowheads="1"/>
            </p:cNvSpPr>
            <p:nvPr/>
          </p:nvSpPr>
          <p:spPr bwMode="auto">
            <a:xfrm>
              <a:off x="3456" y="3151"/>
              <a:ext cx="2028" cy="602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1400" b="1">
                  <a:ea typeface="DejaVu Sans" charset="0"/>
                  <a:cs typeface="DejaVu Sans" charset="0"/>
                </a:rPr>
                <a:t>trả về tham chiếu đến đối tượng vừa được tạo. Lưu ý, giá trị này là nơi lưu đối tượng, không phải nội dung đối tượng</a:t>
              </a:r>
            </a:p>
          </p:txBody>
        </p:sp>
        <p:sp>
          <p:nvSpPr>
            <p:cNvPr id="26636" name="Line 12"/>
            <p:cNvSpPr>
              <a:spLocks noChangeShapeType="1"/>
            </p:cNvSpPr>
            <p:nvPr/>
          </p:nvSpPr>
          <p:spPr bwMode="auto">
            <a:xfrm flipH="1" flipV="1">
              <a:off x="2269" y="3143"/>
              <a:ext cx="1159" cy="196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ea typeface="DejaVu Sans" charset="0"/>
                <a:cs typeface="DejaVu Sans" charset="0"/>
              </a:rPr>
              <a:t>Truyền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tham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số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và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nhận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giá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trị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trả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về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911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247650" y="2625725"/>
            <a:ext cx="6521450" cy="403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class Date {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int year, month, day;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public Date(</a:t>
            </a:r>
            <a:r>
              <a:rPr lang="en-US" sz="16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int y, int m, int d</a:t>
            </a: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) {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    year = y; month = m; day = d;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}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public void copy(Date d) {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    d.year = year;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    d.month = month;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    d.day = day;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}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public Date copy() {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    return new Date(day, month, year);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}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...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endParaRPr lang="en-US" sz="1600">
              <a:latin typeface="Consolas" pitchFamily="49" charset="0"/>
              <a:ea typeface="DejaVu Sans" charset="0"/>
              <a:cs typeface="DejaVu Sans" charset="0"/>
            </a:endParaRP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2476500" y="1524001"/>
            <a:ext cx="6934200" cy="1008063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...</a:t>
            </a:r>
          </a:p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int thisYear = 2021;</a:t>
            </a:r>
          </a:p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Date d1 = new Date(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thisYear, 9, 30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);</a:t>
            </a:r>
          </a:p>
        </p:txBody>
      </p:sp>
      <p:grpSp>
        <p:nvGrpSpPr>
          <p:cNvPr id="27652" name="Group 4"/>
          <p:cNvGrpSpPr>
            <a:grpSpLocks/>
          </p:cNvGrpSpPr>
          <p:nvPr/>
        </p:nvGrpSpPr>
        <p:grpSpPr bwMode="auto">
          <a:xfrm>
            <a:off x="5609961" y="2511426"/>
            <a:ext cx="3537611" cy="1854200"/>
            <a:chOff x="3262" y="1582"/>
            <a:chExt cx="2057" cy="1168"/>
          </a:xfrm>
        </p:grpSpPr>
        <p:sp>
          <p:nvSpPr>
            <p:cNvPr id="27653" name="Text Box 5"/>
            <p:cNvSpPr txBox="1">
              <a:spLocks noChangeArrowheads="1"/>
            </p:cNvSpPr>
            <p:nvPr/>
          </p:nvSpPr>
          <p:spPr bwMode="auto">
            <a:xfrm>
              <a:off x="4132" y="1876"/>
              <a:ext cx="1187" cy="874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sz="1400" b="1">
                  <a:solidFill>
                    <a:srgbClr val="0000CC"/>
                  </a:solidFill>
                  <a:latin typeface="Consolas" pitchFamily="49" charset="0"/>
                  <a:ea typeface="DejaVu Sans" charset="0"/>
                  <a:cs typeface="DejaVu Sans" charset="0"/>
                </a:rPr>
                <a:t>y = thisYear;</a:t>
              </a:r>
            </a:p>
            <a:p>
              <a:pPr>
                <a:buClrTx/>
                <a:buFontTx/>
                <a:buNone/>
              </a:pPr>
              <a:r>
                <a:rPr lang="en-US" sz="1400" b="1">
                  <a:solidFill>
                    <a:srgbClr val="0000CC"/>
                  </a:solidFill>
                  <a:latin typeface="Consolas" pitchFamily="49" charset="0"/>
                  <a:ea typeface="DejaVu Sans" charset="0"/>
                  <a:cs typeface="DejaVu Sans" charset="0"/>
                </a:rPr>
                <a:t>m = 9;</a:t>
              </a:r>
            </a:p>
            <a:p>
              <a:pPr>
                <a:buClrTx/>
                <a:buFontTx/>
                <a:buNone/>
              </a:pPr>
              <a:r>
                <a:rPr lang="en-US" sz="1400" b="1">
                  <a:solidFill>
                    <a:srgbClr val="0000CC"/>
                  </a:solidFill>
                  <a:latin typeface="Consolas" pitchFamily="49" charset="0"/>
                  <a:ea typeface="DejaVu Sans" charset="0"/>
                  <a:cs typeface="DejaVu Sans" charset="0"/>
                </a:rPr>
                <a:t>d = 30;</a:t>
              </a:r>
            </a:p>
            <a:p>
              <a:pPr>
                <a:buClrTx/>
                <a:buFontTx/>
                <a:buNone/>
              </a:pPr>
              <a:r>
                <a:rPr lang="en-US" sz="1400" b="1">
                  <a:latin typeface="Consolas" pitchFamily="49" charset="0"/>
                  <a:ea typeface="DejaVu Sans" charset="0"/>
                  <a:cs typeface="DejaVu Sans" charset="0"/>
                </a:rPr>
                <a:t>year = y; </a:t>
              </a:r>
            </a:p>
            <a:p>
              <a:pPr>
                <a:buClrTx/>
                <a:buFontTx/>
                <a:buNone/>
              </a:pPr>
              <a:r>
                <a:rPr lang="en-US" sz="1400" b="1">
                  <a:latin typeface="Consolas" pitchFamily="49" charset="0"/>
                  <a:ea typeface="DejaVu Sans" charset="0"/>
                  <a:cs typeface="DejaVu Sans" charset="0"/>
                </a:rPr>
                <a:t>month = m; </a:t>
              </a:r>
            </a:p>
            <a:p>
              <a:pPr>
                <a:buClrTx/>
                <a:buFontTx/>
                <a:buNone/>
              </a:pPr>
              <a:r>
                <a:rPr lang="en-US" sz="1400" b="1">
                  <a:latin typeface="Consolas" pitchFamily="49" charset="0"/>
                  <a:ea typeface="DejaVu Sans" charset="0"/>
                  <a:cs typeface="DejaVu Sans" charset="0"/>
                </a:rPr>
                <a:t>day = d;</a:t>
              </a:r>
            </a:p>
          </p:txBody>
        </p:sp>
        <p:sp>
          <p:nvSpPr>
            <p:cNvPr id="27654" name="Line 6"/>
            <p:cNvSpPr>
              <a:spLocks noChangeShapeType="1"/>
            </p:cNvSpPr>
            <p:nvPr/>
          </p:nvSpPr>
          <p:spPr bwMode="auto">
            <a:xfrm flipH="1" flipV="1">
              <a:off x="3497" y="1582"/>
              <a:ext cx="634" cy="722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5" name="Line 7"/>
            <p:cNvSpPr>
              <a:spLocks noChangeShapeType="1"/>
            </p:cNvSpPr>
            <p:nvPr/>
          </p:nvSpPr>
          <p:spPr bwMode="auto">
            <a:xfrm flipH="1" flipV="1">
              <a:off x="3262" y="2150"/>
              <a:ext cx="870" cy="153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ea typeface="DejaVu Sans" charset="0"/>
                <a:cs typeface="DejaVu Sans" charset="0"/>
              </a:rPr>
              <a:t>Truyền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tham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số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và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nhận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giá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trị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trả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về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1901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673" name="Text Box 1"/>
          <p:cNvSpPr txBox="1">
            <a:spLocks noChangeArrowheads="1"/>
          </p:cNvSpPr>
          <p:nvPr/>
        </p:nvSpPr>
        <p:spPr bwMode="auto">
          <a:xfrm>
            <a:off x="3049191" y="1484313"/>
            <a:ext cx="6604000" cy="1312862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...</a:t>
            </a:r>
            <a:br>
              <a:rPr lang="en-US" sz="2000">
                <a:latin typeface="Consolas" pitchFamily="49" charset="0"/>
                <a:ea typeface="DejaVu Sans" charset="0"/>
                <a:cs typeface="DejaVu Sans" charset="0"/>
              </a:rPr>
            </a:b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Date d1 = new Date(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thisYear, 9, 26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);</a:t>
            </a:r>
          </a:p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Date d2 = new Date(2000, 1, 1);</a:t>
            </a:r>
          </a:p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d1.copy(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d2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);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247650" y="2625725"/>
            <a:ext cx="6521450" cy="403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class Date {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int year, month, day;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public Date(int y, int m, int d) {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    year = y; month = m; day = d;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}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public void copy(</a:t>
            </a:r>
            <a:r>
              <a:rPr lang="en-US" sz="16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Date d</a:t>
            </a: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) {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    d.year = year;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    d.month = month;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    d.day = day;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}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public Date copy() {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    return new Date(day, month, year);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}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...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endParaRPr lang="en-US" sz="1600">
              <a:latin typeface="Consolas" pitchFamily="49" charset="0"/>
              <a:ea typeface="DejaVu Sans" charset="0"/>
              <a:cs typeface="DejaVu Sans" charset="0"/>
            </a:endParaRPr>
          </a:p>
        </p:txBody>
      </p:sp>
      <p:grpSp>
        <p:nvGrpSpPr>
          <p:cNvPr id="28676" name="Group 4"/>
          <p:cNvGrpSpPr>
            <a:grpSpLocks/>
          </p:cNvGrpSpPr>
          <p:nvPr/>
        </p:nvGrpSpPr>
        <p:grpSpPr bwMode="auto">
          <a:xfrm>
            <a:off x="4784461" y="2740026"/>
            <a:ext cx="4860131" cy="1684337"/>
            <a:chOff x="2782" y="1726"/>
            <a:chExt cx="2826" cy="1061"/>
          </a:xfrm>
        </p:grpSpPr>
        <p:sp>
          <p:nvSpPr>
            <p:cNvPr id="28677" name="Line 5"/>
            <p:cNvSpPr>
              <a:spLocks noChangeShapeType="1"/>
            </p:cNvSpPr>
            <p:nvPr/>
          </p:nvSpPr>
          <p:spPr bwMode="auto">
            <a:xfrm flipH="1" flipV="1">
              <a:off x="2782" y="1726"/>
              <a:ext cx="1540" cy="772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78" name="Line 6"/>
            <p:cNvSpPr>
              <a:spLocks noChangeShapeType="1"/>
            </p:cNvSpPr>
            <p:nvPr/>
          </p:nvSpPr>
          <p:spPr bwMode="auto">
            <a:xfrm flipH="1">
              <a:off x="2830" y="2497"/>
              <a:ext cx="1492" cy="184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79" name="Text Box 7"/>
            <p:cNvSpPr txBox="1">
              <a:spLocks noChangeArrowheads="1"/>
            </p:cNvSpPr>
            <p:nvPr/>
          </p:nvSpPr>
          <p:spPr bwMode="auto">
            <a:xfrm>
              <a:off x="4321" y="2185"/>
              <a:ext cx="1287" cy="602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875"/>
                </a:spcBef>
                <a:buClrTx/>
                <a:buFontTx/>
                <a:buNone/>
              </a:pPr>
              <a:r>
                <a:rPr lang="en-US" sz="1400" b="1">
                  <a:solidFill>
                    <a:srgbClr val="0000CC"/>
                  </a:solidFill>
                  <a:latin typeface="Consolas" pitchFamily="49" charset="0"/>
                  <a:ea typeface="DejaVu Sans" charset="0"/>
                  <a:cs typeface="DejaVu Sans" charset="0"/>
                </a:rPr>
                <a:t>d = d2;</a:t>
              </a:r>
            </a:p>
            <a:p>
              <a:pPr>
                <a:buClrTx/>
                <a:buFontTx/>
                <a:buNone/>
              </a:pPr>
              <a:r>
                <a:rPr lang="en-US" sz="1400" b="1">
                  <a:latin typeface="Consolas" pitchFamily="49" charset="0"/>
                  <a:ea typeface="DejaVu Sans" charset="0"/>
                  <a:cs typeface="DejaVu Sans" charset="0"/>
                </a:rPr>
                <a:t>d.year = year;</a:t>
              </a:r>
            </a:p>
            <a:p>
              <a:pPr>
                <a:buClrTx/>
                <a:buFontTx/>
                <a:buNone/>
              </a:pPr>
              <a:r>
                <a:rPr lang="en-US" sz="1400" b="1">
                  <a:latin typeface="Consolas" pitchFamily="49" charset="0"/>
                  <a:ea typeface="DejaVu Sans" charset="0"/>
                  <a:cs typeface="DejaVu Sans" charset="0"/>
                </a:rPr>
                <a:t>d.month = month;</a:t>
              </a:r>
            </a:p>
            <a:p>
              <a:pPr>
                <a:buClrTx/>
                <a:buFontTx/>
                <a:buNone/>
              </a:pPr>
              <a:r>
                <a:rPr lang="en-US" sz="1400" b="1">
                  <a:latin typeface="Consolas" pitchFamily="49" charset="0"/>
                  <a:ea typeface="DejaVu Sans" charset="0"/>
                  <a:cs typeface="DejaVu Sans" charset="0"/>
                </a:rPr>
                <a:t>d.day = day;</a:t>
              </a:r>
            </a:p>
          </p:txBody>
        </p:sp>
      </p:grp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ea typeface="DejaVu Sans" charset="0"/>
                <a:cs typeface="DejaVu Sans" charset="0"/>
              </a:rPr>
              <a:t>Truyền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tham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số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và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nhận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giá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trị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trả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về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156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247650" y="2625725"/>
            <a:ext cx="6521450" cy="403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class Date {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int year, month, day;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public Date(int y, int m, int d) {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    year = y; month = m; day = d;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}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public void copy(Date d) {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    d.year = year;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    d.month = month;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    d.day = day;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}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public Date copy() {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    </a:t>
            </a:r>
            <a:r>
              <a:rPr lang="en-US" sz="1600">
                <a:solidFill>
                  <a:srgbClr val="00007D"/>
                </a:solidFill>
                <a:latin typeface="Consolas" pitchFamily="49" charset="0"/>
                <a:ea typeface="DejaVu Sans" charset="0"/>
                <a:cs typeface="DejaVu Sans" charset="0"/>
              </a:rPr>
              <a:t>return new</a:t>
            </a: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Date(day, month, year);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    }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...</a:t>
            </a:r>
          </a:p>
          <a:p>
            <a:pPr>
              <a:buClrTx/>
              <a:buFontTx/>
              <a:buNone/>
            </a:pPr>
            <a:r>
              <a:rPr lang="en-US" sz="1600">
                <a:latin typeface="Consolas" pitchFamily="49" charset="0"/>
                <a:ea typeface="DejaVu Sans" charset="0"/>
                <a:cs typeface="DejaVu Sans" charset="0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endParaRPr lang="en-US" sz="1600">
              <a:latin typeface="Consolas" pitchFamily="49" charset="0"/>
              <a:ea typeface="DejaVu Sans" charset="0"/>
              <a:cs typeface="DejaVu Sans" charset="0"/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2641600" y="1447801"/>
            <a:ext cx="6934200" cy="1008063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...</a:t>
            </a:r>
          </a:p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Date d2 = new Date(2000, 1, 1);</a:t>
            </a:r>
          </a:p>
          <a:p>
            <a:pPr>
              <a:buClrTx/>
              <a:buFontTx/>
              <a:buNone/>
            </a:pP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Date d3 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DejaVu Sans" charset="0"/>
                <a:cs typeface="DejaVu Sans" charset="0"/>
              </a:rPr>
              <a:t>= </a:t>
            </a:r>
            <a:r>
              <a:rPr lang="en-US" sz="2000">
                <a:latin typeface="Consolas" pitchFamily="49" charset="0"/>
                <a:ea typeface="DejaVu Sans" charset="0"/>
                <a:cs typeface="DejaVu Sans" charset="0"/>
              </a:rPr>
              <a:t>d2.copy();</a:t>
            </a:r>
          </a:p>
        </p:txBody>
      </p:sp>
      <p:grpSp>
        <p:nvGrpSpPr>
          <p:cNvPr id="29700" name="Group 4"/>
          <p:cNvGrpSpPr>
            <a:grpSpLocks/>
          </p:cNvGrpSpPr>
          <p:nvPr/>
        </p:nvGrpSpPr>
        <p:grpSpPr bwMode="auto">
          <a:xfrm>
            <a:off x="3544492" y="2470151"/>
            <a:ext cx="6352910" cy="2732087"/>
            <a:chOff x="2061" y="1556"/>
            <a:chExt cx="3694" cy="1721"/>
          </a:xfrm>
        </p:grpSpPr>
        <p:sp>
          <p:nvSpPr>
            <p:cNvPr id="29701" name="Line 5"/>
            <p:cNvSpPr>
              <a:spLocks noChangeShapeType="1"/>
            </p:cNvSpPr>
            <p:nvPr/>
          </p:nvSpPr>
          <p:spPr bwMode="auto">
            <a:xfrm flipH="1" flipV="1">
              <a:off x="2515" y="1556"/>
              <a:ext cx="568" cy="1253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2" name="Line 6"/>
            <p:cNvSpPr>
              <a:spLocks noChangeShapeType="1"/>
            </p:cNvSpPr>
            <p:nvPr/>
          </p:nvSpPr>
          <p:spPr bwMode="auto">
            <a:xfrm flipH="1">
              <a:off x="2061" y="2808"/>
              <a:ext cx="1023" cy="469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3" name="Text Box 7"/>
            <p:cNvSpPr txBox="1">
              <a:spLocks noChangeArrowheads="1"/>
            </p:cNvSpPr>
            <p:nvPr/>
          </p:nvSpPr>
          <p:spPr bwMode="auto">
            <a:xfrm>
              <a:off x="3081" y="2616"/>
              <a:ext cx="2674" cy="46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875"/>
                </a:spcBef>
                <a:buClrTx/>
                <a:buFontTx/>
                <a:buNone/>
              </a:pPr>
              <a:r>
                <a:rPr lang="en-US" sz="1400" b="1">
                  <a:latin typeface="Consolas" pitchFamily="49" charset="0"/>
                  <a:ea typeface="DejaVu Sans" charset="0"/>
                  <a:cs typeface="DejaVu Sans" charset="0"/>
                </a:rPr>
                <a:t>Date temp =</a:t>
              </a:r>
              <a:br>
                <a:rPr lang="en-US" sz="1400" b="1">
                  <a:latin typeface="Consolas" pitchFamily="49" charset="0"/>
                  <a:ea typeface="DejaVu Sans" charset="0"/>
                  <a:cs typeface="DejaVu Sans" charset="0"/>
                </a:rPr>
              </a:br>
              <a:r>
                <a:rPr lang="en-US" sz="1400" b="1">
                  <a:latin typeface="Consolas" pitchFamily="49" charset="0"/>
                  <a:ea typeface="DejaVu Sans" charset="0"/>
                  <a:cs typeface="DejaVu Sans" charset="0"/>
                </a:rPr>
                <a:t>  new Date(d2.day, d2.month, d2.year);</a:t>
              </a:r>
              <a:r>
                <a:rPr lang="en-US" sz="1400" b="1">
                  <a:solidFill>
                    <a:srgbClr val="0000CC"/>
                  </a:solidFill>
                  <a:latin typeface="Consolas" pitchFamily="49" charset="0"/>
                  <a:ea typeface="DejaVu Sans" charset="0"/>
                  <a:cs typeface="DejaVu Sans" charset="0"/>
                </a:rPr>
                <a:t/>
              </a:r>
              <a:br>
                <a:rPr lang="en-US" sz="1400" b="1">
                  <a:solidFill>
                    <a:srgbClr val="0000CC"/>
                  </a:solidFill>
                  <a:latin typeface="Consolas" pitchFamily="49" charset="0"/>
                  <a:ea typeface="DejaVu Sans" charset="0"/>
                  <a:cs typeface="DejaVu Sans" charset="0"/>
                </a:rPr>
              </a:br>
              <a:r>
                <a:rPr lang="en-US" sz="1400" b="1">
                  <a:solidFill>
                    <a:srgbClr val="0000CC"/>
                  </a:solidFill>
                  <a:latin typeface="Consolas" pitchFamily="49" charset="0"/>
                  <a:ea typeface="DejaVu Sans" charset="0"/>
                  <a:cs typeface="DejaVu Sans" charset="0"/>
                </a:rPr>
                <a:t>d3 = temp;</a:t>
              </a:r>
            </a:p>
          </p:txBody>
        </p:sp>
      </p:grp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ea typeface="DejaVu Sans" charset="0"/>
                <a:cs typeface="DejaVu Sans" charset="0"/>
              </a:rPr>
              <a:t>Truyền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tham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số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và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nhận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giá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trị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trả</a:t>
            </a:r>
            <a:r>
              <a:rPr lang="en-US" dirty="0">
                <a:ea typeface="DejaVu Sans" charset="0"/>
                <a:cs typeface="DejaVu Sans" charset="0"/>
              </a:rPr>
              <a:t> </a:t>
            </a:r>
            <a:r>
              <a:rPr lang="en-US" dirty="0" err="1">
                <a:ea typeface="DejaVu Sans" charset="0"/>
                <a:cs typeface="DejaVu Sans" charset="0"/>
              </a:rPr>
              <a:t>về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752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Tham chiếu “this”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Tham chiếu </a:t>
            </a:r>
            <a:r>
              <a:rPr lang="en-US">
                <a:solidFill>
                  <a:srgbClr val="0070C0"/>
                </a:solidFill>
              </a:rPr>
              <a:t>this</a:t>
            </a:r>
            <a:r>
              <a:rPr lang="en-US"/>
              <a:t> trỏ đến chính đối tượng đó</a:t>
            </a:r>
          </a:p>
          <a:p>
            <a:r>
              <a:rPr lang="en-US"/>
              <a:t>Công dụng của </a:t>
            </a:r>
            <a:r>
              <a:rPr lang="en-US">
                <a:solidFill>
                  <a:srgbClr val="0070C0"/>
                </a:solidFill>
              </a:rPr>
              <a:t>this</a:t>
            </a:r>
          </a:p>
          <a:p>
            <a:pPr lvl="1"/>
            <a:r>
              <a:rPr lang="en-US"/>
              <a:t>tham chiếu tường minh đến thuộc tính và phương thức của đối tượng</a:t>
            </a:r>
          </a:p>
          <a:p>
            <a:pPr lvl="1"/>
            <a:r>
              <a:rPr lang="en-US"/>
              <a:t>truyền tham số và trả lại giá trị</a:t>
            </a:r>
          </a:p>
          <a:p>
            <a:pPr lvl="1"/>
            <a:r>
              <a:rPr lang="en-US"/>
              <a:t>dùng để gọi constructor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033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1155700" y="1752600"/>
            <a:ext cx="8007350" cy="3972499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</a:rPr>
              <a:t>class Date {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</a:rPr>
              <a:t>    int year, month, day;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</a:rPr>
              <a:t>    public Date(int year, int month, int day) {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</a:rPr>
              <a:t>        </a:t>
            </a:r>
            <a:r>
              <a:rPr lang="en-US">
                <a:solidFill>
                  <a:srgbClr val="0000CC"/>
                </a:solidFill>
                <a:latin typeface="Consolas" pitchFamily="49" charset="0"/>
              </a:rPr>
              <a:t>this.year = year; </a:t>
            </a:r>
          </a:p>
          <a:p>
            <a:pPr>
              <a:buClrTx/>
              <a:buFontTx/>
              <a:buNone/>
            </a:pPr>
            <a:r>
              <a:rPr lang="en-US">
                <a:solidFill>
                  <a:srgbClr val="0000CC"/>
                </a:solidFill>
                <a:latin typeface="Consolas" pitchFamily="49" charset="0"/>
              </a:rPr>
              <a:t>        this.month = month; </a:t>
            </a:r>
          </a:p>
          <a:p>
            <a:pPr>
              <a:buClrTx/>
              <a:buFontTx/>
              <a:buNone/>
            </a:pPr>
            <a:r>
              <a:rPr lang="en-US">
                <a:solidFill>
                  <a:srgbClr val="0000CC"/>
                </a:solidFill>
                <a:latin typeface="Consolas" pitchFamily="49" charset="0"/>
              </a:rPr>
              <a:t>        this.day = day;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</a:rPr>
              <a:t>    }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</a:rPr>
              <a:t>    public void copy(Date d) {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</a:rPr>
              <a:t>        d.year = year;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</a:rPr>
              <a:t>        d.month = month;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</a:rPr>
              <a:t>        d.day = day;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</a:rPr>
              <a:t>    }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</a:rPr>
              <a:t>...</a:t>
            </a:r>
          </a:p>
          <a:p>
            <a:pPr>
              <a:buClrTx/>
              <a:buFontTx/>
              <a:buNone/>
            </a:pPr>
            <a:r>
              <a:rPr lang="en-US">
                <a:latin typeface="Consolas" pitchFamily="49" charset="0"/>
              </a:rPr>
              <a:t>}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“this”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tường</a:t>
            </a:r>
            <a:r>
              <a:rPr lang="en-US" dirty="0"/>
              <a:t> minh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068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660400" y="1905000"/>
            <a:ext cx="883285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class Document {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Viewer vi; //reference to the document’s viewer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...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Document(Viewer v) {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    vi = v;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    ...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}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void display() {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CC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		 </a:t>
            </a: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//ask the object’s viewer 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		 //…to display the current document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    </a:t>
            </a:r>
            <a:r>
              <a:rPr lang="en-US">
                <a:solidFill>
                  <a:srgbClr val="0000CC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vi.display(this); 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}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...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}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nsolas" pitchFamily="49" charset="0"/>
              </a:rPr>
              <a:t>“this”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8285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412750" y="1752600"/>
            <a:ext cx="8997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class Counter {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private int c = 0;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public Counter increase() {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    c++;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    </a:t>
            </a:r>
            <a:r>
              <a:rPr lang="en-US">
                <a:solidFill>
                  <a:srgbClr val="0000CC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return this;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}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public int getValue() {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    return c;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}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}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...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Counter count = new Counter();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CC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System.out.println(count.increase().increase().getValue());    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nsolas" pitchFamily="49" charset="0"/>
              </a:rPr>
              <a:t>“this”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9830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825500" y="2667000"/>
            <a:ext cx="84201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SimSun" charset="-122"/>
              </a:rPr>
              <a:t>class Date {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SimSun" charset="-122"/>
              </a:rPr>
              <a:t>    private int year, month, day;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endParaRPr lang="en-US">
              <a:solidFill>
                <a:srgbClr val="000000"/>
              </a:solidFill>
              <a:latin typeface="Consolas" pitchFamily="49" charset="0"/>
              <a:ea typeface="SimSun" charset="-122"/>
            </a:endParaRP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SimSun" charset="-122"/>
              </a:rPr>
              <a:t>    public Date(int y, int m, int d) { ... }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endParaRPr lang="en-US">
              <a:solidFill>
                <a:srgbClr val="000000"/>
              </a:solidFill>
              <a:latin typeface="Consolas" pitchFamily="49" charset="0"/>
              <a:ea typeface="SimSun" charset="-122"/>
            </a:endParaRP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SimSun" charset="-122"/>
              </a:rPr>
              <a:t>    // copy constructor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SimSun" charset="-122"/>
              </a:rPr>
              <a:t>    Date(Date d) {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FF"/>
                </a:solidFill>
                <a:latin typeface="Consolas" pitchFamily="49" charset="0"/>
                <a:ea typeface="SimSun" charset="-122"/>
              </a:rPr>
              <a:t>        this(d.year, d.month, d.day);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SimSun" charset="-122"/>
              </a:rPr>
              <a:t>        System.out.println("copy constructor called");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SimSun" charset="-122"/>
              </a:rPr>
              <a:t>    }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SimSun" charset="-122"/>
              </a:rPr>
              <a:t>...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45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SimSun" charset="-122"/>
              </a:rPr>
              <a:t>}</a:t>
            </a:r>
            <a:r>
              <a:rPr lang="en-US">
                <a:solidFill>
                  <a:srgbClr val="000000"/>
                </a:solidFill>
                <a:ea typeface="SimSun" charset="-122"/>
              </a:rPr>
              <a:t> 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“this” để gọi phương thức tạo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Phương</a:t>
            </a:r>
            <a:r>
              <a:rPr lang="en-US" sz="2800" dirty="0"/>
              <a:t> </a:t>
            </a:r>
            <a:r>
              <a:rPr lang="en-US" sz="2800" dirty="0" err="1"/>
              <a:t>thức</a:t>
            </a:r>
            <a:r>
              <a:rPr lang="en-US" sz="2800" dirty="0"/>
              <a:t> </a:t>
            </a:r>
            <a:r>
              <a:rPr lang="en-US" sz="2800" dirty="0" err="1"/>
              <a:t>tạo</a:t>
            </a:r>
            <a:r>
              <a:rPr lang="en-US" sz="2800" dirty="0"/>
              <a:t> </a:t>
            </a:r>
            <a:r>
              <a:rPr lang="en-US" sz="2800" dirty="0" err="1"/>
              <a:t>chỉ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gọi</a:t>
            </a:r>
            <a:r>
              <a:rPr lang="en-US" sz="2800" dirty="0"/>
              <a:t> </a:t>
            </a:r>
            <a:r>
              <a:rPr lang="en-US" sz="2800" dirty="0" err="1"/>
              <a:t>từ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phương</a:t>
            </a:r>
            <a:r>
              <a:rPr lang="en-US" sz="2800" dirty="0"/>
              <a:t> </a:t>
            </a:r>
            <a:r>
              <a:rPr lang="en-US" sz="2800" dirty="0" err="1"/>
              <a:t>thức</a:t>
            </a:r>
            <a:r>
              <a:rPr lang="en-US" sz="2800" dirty="0"/>
              <a:t> </a:t>
            </a:r>
            <a:r>
              <a:rPr lang="en-US" sz="2800" dirty="0" err="1"/>
              <a:t>tạo</a:t>
            </a:r>
            <a:r>
              <a:rPr lang="en-US" sz="2800" dirty="0"/>
              <a:t> </a:t>
            </a:r>
            <a:r>
              <a:rPr lang="en-US" sz="2800" dirty="0" err="1"/>
              <a:t>khác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chỉ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gọi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lần</a:t>
            </a:r>
            <a:r>
              <a:rPr lang="en-US" sz="2800" dirty="0"/>
              <a:t> (ở </a:t>
            </a:r>
            <a:r>
              <a:rPr lang="en-US" sz="2800" dirty="0" err="1"/>
              <a:t>lệnh</a:t>
            </a:r>
            <a:r>
              <a:rPr lang="en-US" sz="2800" dirty="0"/>
              <a:t> </a:t>
            </a:r>
            <a:r>
              <a:rPr lang="en-US" sz="2800" dirty="0" err="1"/>
              <a:t>đầu</a:t>
            </a:r>
            <a:r>
              <a:rPr lang="en-US" sz="2800" dirty="0"/>
              <a:t> </a:t>
            </a:r>
            <a:r>
              <a:rPr lang="en-US" sz="2800" dirty="0" err="1"/>
              <a:t>tiên</a:t>
            </a:r>
            <a:r>
              <a:rPr lang="en-US" sz="2800" dirty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285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Phương thức và thuộc tính tĩnh</a:t>
            </a:r>
          </a:p>
          <a:p>
            <a:r>
              <a:rPr lang="en-US"/>
              <a:t>Gói và kiểm soát truy cập</a:t>
            </a:r>
          </a:p>
          <a:p>
            <a:r>
              <a:rPr lang="en-US"/>
              <a:t>Kiểu hợp thành (composition)</a:t>
            </a:r>
          </a:p>
          <a:p>
            <a:r>
              <a:rPr lang="en-US"/>
              <a:t>Vào ra với luồng dữ liệu chuẩn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705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Phương thức và thuộc tính tĩnh 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Phương thức và thuộc tính có thể được khai báo là thành phần tĩnh (static)</a:t>
            </a:r>
          </a:p>
          <a:p>
            <a:pPr lvl="1"/>
            <a:r>
              <a:rPr lang="en-US"/>
              <a:t>Độc lập với đối tượng</a:t>
            </a:r>
          </a:p>
          <a:p>
            <a:pPr lvl="1"/>
            <a:r>
              <a:rPr lang="en-US"/>
              <a:t>Có thể được truy cập không qua đối tượng</a:t>
            </a:r>
          </a:p>
          <a:p>
            <a:pPr lvl="2"/>
            <a:r>
              <a:rPr lang="en-US"/>
              <a:t>Sử dụng tên lớp</a:t>
            </a:r>
          </a:p>
          <a:p>
            <a:r>
              <a:rPr lang="en-US"/>
              <a:t>Thuộc tính tĩnh</a:t>
            </a:r>
          </a:p>
          <a:p>
            <a:pPr lvl="1"/>
            <a:r>
              <a:rPr lang="en-US"/>
              <a:t>Thuộc về lớp</a:t>
            </a:r>
          </a:p>
          <a:p>
            <a:pPr lvl="1"/>
            <a:r>
              <a:rPr lang="en-US"/>
              <a:t>Được chia sẻ giữa các đối tượng của lớp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494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ext Box 1"/>
          <p:cNvSpPr txBox="1">
            <a:spLocks noChangeArrowheads="1"/>
          </p:cNvSpPr>
          <p:nvPr/>
        </p:nvSpPr>
        <p:spPr bwMode="auto">
          <a:xfrm>
            <a:off x="495300" y="609600"/>
            <a:ext cx="8667750" cy="5638800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28613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public class Dummy {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   </a:t>
            </a:r>
            <a:r>
              <a:rPr lang="en-US" sz="1600">
                <a:solidFill>
                  <a:srgbClr val="008000"/>
                </a:solidFill>
                <a:latin typeface="Consolas" pitchFamily="49" charset="0"/>
              </a:rPr>
              <a:t>// number of Dummy objects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   </a:t>
            </a:r>
            <a:r>
              <a:rPr lang="en-US" sz="1600">
                <a:solidFill>
                  <a:srgbClr val="0000CC"/>
                </a:solidFill>
                <a:latin typeface="Consolas" pitchFamily="49" charset="0"/>
              </a:rPr>
              <a:t>static </a:t>
            </a:r>
            <a:r>
              <a:rPr lang="en-US" sz="1600">
                <a:latin typeface="Consolas" pitchFamily="49" charset="0"/>
              </a:rPr>
              <a:t>int counter = 0; 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   </a:t>
            </a:r>
            <a:r>
              <a:rPr lang="en-US" sz="1600">
                <a:solidFill>
                  <a:srgbClr val="0000CC"/>
                </a:solidFill>
                <a:latin typeface="Consolas" pitchFamily="49" charset="0"/>
              </a:rPr>
              <a:t>static</a:t>
            </a:r>
            <a:r>
              <a:rPr lang="en-US" sz="1600">
                <a:latin typeface="Consolas" pitchFamily="49" charset="0"/>
              </a:rPr>
              <a:t> int count() { 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      return counter;  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   }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endParaRPr lang="en-US" sz="1600">
              <a:latin typeface="Consolas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   private String name;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endParaRPr lang="en-US" sz="1600">
              <a:latin typeface="Consolas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   public Dummy(String name) { 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      counter++; 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      this.name = name; 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   }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endParaRPr lang="en-US" sz="1600">
              <a:latin typeface="Consolas" pitchFamily="49" charset="0"/>
            </a:endParaRP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   </a:t>
            </a:r>
            <a:r>
              <a:rPr lang="en-US" sz="1600">
                <a:solidFill>
                  <a:srgbClr val="008000"/>
                </a:solidFill>
                <a:latin typeface="Consolas" pitchFamily="49" charset="0"/>
              </a:rPr>
              <a:t>//main function to test Dummy class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   public </a:t>
            </a:r>
            <a:r>
              <a:rPr lang="en-US" sz="1600">
                <a:solidFill>
                  <a:srgbClr val="0000CC"/>
                </a:solidFill>
                <a:latin typeface="Consolas" pitchFamily="49" charset="0"/>
              </a:rPr>
              <a:t>static</a:t>
            </a:r>
            <a:r>
              <a:rPr lang="en-US" sz="1600">
                <a:latin typeface="Consolas" pitchFamily="49" charset="0"/>
              </a:rPr>
              <a:t> void main(String args[]) {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      System.out.println(</a:t>
            </a:r>
            <a:r>
              <a:rPr lang="en-US" sz="1600">
                <a:solidFill>
                  <a:srgbClr val="0000CC"/>
                </a:solidFill>
                <a:latin typeface="Consolas" pitchFamily="49" charset="0"/>
              </a:rPr>
              <a:t>Dummy.count()</a:t>
            </a:r>
            <a:r>
              <a:rPr lang="en-US" sz="1600">
                <a:latin typeface="Consolas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      Dummy d1 = new Dummy ("First Dummy");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      System.out.println(</a:t>
            </a:r>
            <a:r>
              <a:rPr lang="en-US" sz="1600">
                <a:solidFill>
                  <a:srgbClr val="0000CC"/>
                </a:solidFill>
                <a:latin typeface="Consolas" pitchFamily="49" charset="0"/>
              </a:rPr>
              <a:t>d1.count()</a:t>
            </a:r>
            <a:r>
              <a:rPr lang="en-US" sz="1600">
                <a:latin typeface="Consolas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      Dummy d2 = new Dummy ("Second Dummy");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      System.out.println(</a:t>
            </a:r>
            <a:r>
              <a:rPr lang="en-US" sz="1600">
                <a:solidFill>
                  <a:srgbClr val="0000CC"/>
                </a:solidFill>
                <a:latin typeface="Consolas" pitchFamily="49" charset="0"/>
              </a:rPr>
              <a:t>d1.count()</a:t>
            </a:r>
            <a:r>
              <a:rPr lang="en-US" sz="1600">
                <a:latin typeface="Consolas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   }</a:t>
            </a: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ClrTx/>
              <a:buSzPct val="75000"/>
              <a:buFontTx/>
              <a:buNone/>
            </a:pPr>
            <a:r>
              <a:rPr lang="en-US" sz="1600">
                <a:latin typeface="Consolas" pitchFamily="49" charset="0"/>
              </a:rPr>
              <a:t>}</a:t>
            </a:r>
          </a:p>
        </p:txBody>
      </p:sp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5778500" y="2209801"/>
            <a:ext cx="3879850" cy="833178"/>
          </a:xfrm>
          <a:prstGeom prst="rect">
            <a:avLst/>
          </a:prstGeom>
          <a:solidFill>
            <a:srgbClr val="CCCCE6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600"/>
              <a:t>0</a:t>
            </a:r>
          </a:p>
          <a:p>
            <a:pPr>
              <a:buClrTx/>
              <a:buFontTx/>
              <a:buNone/>
            </a:pPr>
            <a:r>
              <a:rPr lang="en-US" sz="1600"/>
              <a:t>1</a:t>
            </a:r>
          </a:p>
          <a:p>
            <a:pPr>
              <a:buClrTx/>
              <a:buFontTx/>
              <a:buNone/>
            </a:pPr>
            <a:r>
              <a:rPr lang="en-US" sz="1600"/>
              <a:t>2</a:t>
            </a:r>
          </a:p>
        </p:txBody>
      </p:sp>
      <p:grpSp>
        <p:nvGrpSpPr>
          <p:cNvPr id="36867" name="Group 3"/>
          <p:cNvGrpSpPr>
            <a:grpSpLocks/>
          </p:cNvGrpSpPr>
          <p:nvPr/>
        </p:nvGrpSpPr>
        <p:grpSpPr bwMode="auto">
          <a:xfrm>
            <a:off x="6022712" y="4419600"/>
            <a:ext cx="3374231" cy="1201738"/>
            <a:chOff x="3502" y="2784"/>
            <a:chExt cx="1962" cy="757"/>
          </a:xfrm>
        </p:grpSpPr>
        <p:sp>
          <p:nvSpPr>
            <p:cNvPr id="36868" name="Text Box 4"/>
            <p:cNvSpPr txBox="1">
              <a:spLocks noChangeArrowheads="1"/>
            </p:cNvSpPr>
            <p:nvPr/>
          </p:nvSpPr>
          <p:spPr bwMode="auto">
            <a:xfrm>
              <a:off x="4133" y="2784"/>
              <a:ext cx="1331" cy="75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875"/>
                </a:spcBef>
                <a:buClrTx/>
                <a:buFontTx/>
                <a:buNone/>
              </a:pPr>
              <a:r>
                <a:rPr lang="en-US" b="1"/>
                <a:t>Dummy.count()</a:t>
              </a:r>
              <a:r>
                <a:rPr lang="en-US"/>
                <a:t> có thể được gọi qua lớp, không cần đối tượng.</a:t>
              </a:r>
            </a:p>
          </p:txBody>
        </p:sp>
        <p:sp>
          <p:nvSpPr>
            <p:cNvPr id="36869" name="Line 5"/>
            <p:cNvSpPr>
              <a:spLocks noChangeShapeType="1"/>
            </p:cNvSpPr>
            <p:nvPr/>
          </p:nvSpPr>
          <p:spPr bwMode="auto">
            <a:xfrm flipH="1">
              <a:off x="3502" y="2928"/>
              <a:ext cx="632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870" name="Group 6"/>
          <p:cNvGrpSpPr>
            <a:grpSpLocks/>
          </p:cNvGrpSpPr>
          <p:nvPr/>
        </p:nvGrpSpPr>
        <p:grpSpPr bwMode="auto">
          <a:xfrm>
            <a:off x="6270362" y="762000"/>
            <a:ext cx="3530733" cy="1358900"/>
            <a:chOff x="3646" y="480"/>
            <a:chExt cx="2053" cy="856"/>
          </a:xfrm>
        </p:grpSpPr>
        <p:sp>
          <p:nvSpPr>
            <p:cNvPr id="36871" name="Text Box 7"/>
            <p:cNvSpPr txBox="1">
              <a:spLocks noChangeArrowheads="1"/>
            </p:cNvSpPr>
            <p:nvPr/>
          </p:nvSpPr>
          <p:spPr bwMode="auto">
            <a:xfrm>
              <a:off x="4028" y="480"/>
              <a:ext cx="1671" cy="75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875"/>
                </a:spcBef>
                <a:buClrTx/>
                <a:buFontTx/>
                <a:buNone/>
              </a:pPr>
              <a:r>
                <a:rPr lang="en-US" b="1"/>
                <a:t>Dummy.counter</a:t>
              </a:r>
              <a:r>
                <a:rPr lang="en-US"/>
                <a:t> được chia sẻ và được cập nhật bởi các đối tượng Dummy.</a:t>
              </a:r>
            </a:p>
          </p:txBody>
        </p:sp>
        <p:sp>
          <p:nvSpPr>
            <p:cNvPr id="36872" name="Line 8"/>
            <p:cNvSpPr>
              <a:spLocks noChangeShapeType="1"/>
            </p:cNvSpPr>
            <p:nvPr/>
          </p:nvSpPr>
          <p:spPr bwMode="auto">
            <a:xfrm flipH="1">
              <a:off x="3646" y="912"/>
              <a:ext cx="380" cy="424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299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Phương thức và thuộc tính tĩnh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Phương thức tĩnh</a:t>
            </a:r>
          </a:p>
          <a:p>
            <a:pPr lvl="1"/>
            <a:r>
              <a:rPr lang="en-US"/>
              <a:t>Không thể truy cập các thành phần thông thường khác (non-static)</a:t>
            </a:r>
          </a:p>
          <a:p>
            <a:pPr lvl="1"/>
            <a:r>
              <a:rPr lang="en-US"/>
              <a:t>Không thể gọi các phương thức non-static</a:t>
            </a:r>
          </a:p>
          <a:p>
            <a:r>
              <a:rPr lang="en-US"/>
              <a:t>Tại sao?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758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 noChangeArrowheads="1"/>
          </p:cNvSpPr>
          <p:nvPr/>
        </p:nvSpPr>
        <p:spPr bwMode="auto">
          <a:xfrm>
            <a:off x="247650" y="503359"/>
            <a:ext cx="9245600" cy="2587504"/>
          </a:xfrm>
          <a:prstGeom prst="rect">
            <a:avLst/>
          </a:prstGeom>
          <a:solidFill>
            <a:srgbClr val="A2E4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class Hello{</a:t>
            </a:r>
          </a:p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public 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String message="Hello, world";</a:t>
            </a:r>
          </a:p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public 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void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sayHello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(message);</a:t>
            </a:r>
          </a:p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}</a:t>
            </a:r>
          </a:p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public void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sayHello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(String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msg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msg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}</a:t>
            </a:r>
          </a:p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2393950" y="3279896"/>
            <a:ext cx="7264400" cy="2587504"/>
          </a:xfrm>
          <a:prstGeom prst="rect">
            <a:avLst/>
          </a:prstGeom>
          <a:solidFill>
            <a:srgbClr val="CED66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HelloTestDrive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public static void main(String[]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Hello.sayHello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Hello.message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	Hello h=new Hello();</a:t>
            </a:r>
          </a:p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h.sayHello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h.sayHello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("Hello, world");</a:t>
            </a:r>
          </a:p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}</a:t>
            </a:r>
          </a:p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7329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ext Box 1"/>
          <p:cNvSpPr txBox="1">
            <a:spLocks noChangeArrowheads="1"/>
          </p:cNvSpPr>
          <p:nvPr/>
        </p:nvSpPr>
        <p:spPr bwMode="auto">
          <a:xfrm>
            <a:off x="304800" y="709612"/>
            <a:ext cx="8915400" cy="431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73050" indent="-266700"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public class Hello{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1818FF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Hello h = new Hello();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public void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sayHello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(”Hello, world”);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1818FF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Hello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getRef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() { </a:t>
            </a:r>
            <a:r>
              <a:rPr lang="en-US" sz="2000" b="1" dirty="0">
                <a:solidFill>
                  <a:srgbClr val="1818FF"/>
                </a:solidFill>
                <a:latin typeface="Courier New" pitchFamily="49" charset="0"/>
                <a:cs typeface="Courier New" pitchFamily="49" charset="0"/>
              </a:rPr>
              <a:t>return h;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en-US" sz="2000" b="1" dirty="0">
                <a:solidFill>
                  <a:srgbClr val="1818FF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void main (String[]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sz="2000" b="1" dirty="0" err="1">
                <a:solidFill>
                  <a:srgbClr val="1818FF"/>
                </a:solidFill>
                <a:latin typeface="Courier New" pitchFamily="49" charset="0"/>
                <a:cs typeface="Courier New" pitchFamily="49" charset="0"/>
              </a:rPr>
              <a:t>h.sayHello</a:t>
            </a:r>
            <a:r>
              <a:rPr lang="en-US" sz="2000" b="1" dirty="0">
                <a:solidFill>
                  <a:srgbClr val="1818FF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  Hello h2 = new Hello();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  h2.sayHello();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sayHello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sz="2000" b="1" dirty="0" err="1">
                <a:solidFill>
                  <a:srgbClr val="1818FF"/>
                </a:solidFill>
                <a:latin typeface="Courier New" pitchFamily="49" charset="0"/>
                <a:cs typeface="Courier New" pitchFamily="49" charset="0"/>
              </a:rPr>
              <a:t>getRef</a:t>
            </a:r>
            <a:r>
              <a:rPr lang="en-US" sz="2000" b="1" dirty="0">
                <a:solidFill>
                  <a:srgbClr val="1818FF"/>
                </a:solidFill>
                <a:latin typeface="Courier New" pitchFamily="49" charset="0"/>
                <a:cs typeface="Courier New" pitchFamily="49" charset="0"/>
              </a:rPr>
              <a:t>().</a:t>
            </a:r>
            <a:r>
              <a:rPr lang="en-US" sz="2000" b="1" dirty="0" err="1">
                <a:solidFill>
                  <a:srgbClr val="1818FF"/>
                </a:solidFill>
                <a:latin typeface="Courier New" pitchFamily="49" charset="0"/>
                <a:cs typeface="Courier New" pitchFamily="49" charset="0"/>
              </a:rPr>
              <a:t>sayHello</a:t>
            </a:r>
            <a:r>
              <a:rPr lang="en-US" sz="2000" b="1" dirty="0">
                <a:solidFill>
                  <a:srgbClr val="1818FF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692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Gói các lớp đối tượng (package)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Các lớp đối tượng được chia thành các gói</a:t>
            </a:r>
          </a:p>
          <a:p>
            <a:pPr lvl="1"/>
            <a:r>
              <a:rPr lang="en-US"/>
              <a:t>Nếu không khai báo thì các lớp thuộc gói default</a:t>
            </a:r>
          </a:p>
          <a:p>
            <a:pPr lvl="1"/>
            <a:r>
              <a:rPr lang="en-US"/>
              <a:t>Các lớp trong cùng một tệp mã nguồn luôn thuộc cùng một gói</a:t>
            </a:r>
          </a:p>
          <a:p>
            <a:r>
              <a:rPr lang="en-US"/>
              <a:t>Tồn tại mức truy cập gói (package)</a:t>
            </a:r>
          </a:p>
          <a:p>
            <a:pPr lvl="1"/>
            <a:r>
              <a:rPr lang="en-US"/>
              <a:t>Mức package là mặc định (nếu không khai báo tường minh là public hay private)</a:t>
            </a:r>
          </a:p>
          <a:p>
            <a:pPr lvl="1"/>
            <a:r>
              <a:rPr lang="en-US"/>
              <a:t>Các đối tượng của các lớp thuộc cùng gói có thể truy cập đến thành phần non-private của nhau</a:t>
            </a:r>
          </a:p>
          <a:p>
            <a:pPr lvl="1"/>
            <a:r>
              <a:rPr lang="en-US"/>
              <a:t>Chỉ có thể tạo (new) đối tượng của lớp được khai báo là public của gói khác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725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495300" y="1752600"/>
            <a:ext cx="8915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342900" indent="-328613" eaLnBrk="1" hangingPunct="1">
              <a:lnSpc>
                <a:spcPct val="80000"/>
              </a:lnSpc>
              <a:spcBef>
                <a:spcPts val="50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//Hello.java: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50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endParaRPr lang="en-US" sz="2000">
              <a:solidFill>
                <a:srgbClr val="000000"/>
              </a:solidFill>
              <a:latin typeface="Consolas" pitchFamily="49" charset="0"/>
              <a:ea typeface="Noto Sans CJK SC Regular" charset="0"/>
              <a:cs typeface="Noto Sans CJK SC Regular" charset="0"/>
            </a:endParaRPr>
          </a:p>
          <a:p>
            <a:pPr marL="342900" indent="-328613" eaLnBrk="1" hangingPunct="1">
              <a:lnSpc>
                <a:spcPct val="80000"/>
              </a:lnSpc>
              <a:spcBef>
                <a:spcPts val="50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class HelloMsg {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50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void sayHello()</a:t>
            </a: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{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50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    System.out.println(”Hello, world!”);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50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}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50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}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50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endParaRPr lang="en-US" sz="2000">
              <a:solidFill>
                <a:srgbClr val="000000"/>
              </a:solidFill>
              <a:latin typeface="Consolas" pitchFamily="49" charset="0"/>
              <a:ea typeface="Noto Sans CJK SC Regular" charset="0"/>
              <a:cs typeface="Noto Sans CJK SC Regular" charset="0"/>
            </a:endParaRPr>
          </a:p>
          <a:p>
            <a:pPr marL="342900" indent="-328613" eaLnBrk="1" hangingPunct="1">
              <a:lnSpc>
                <a:spcPct val="80000"/>
              </a:lnSpc>
              <a:spcBef>
                <a:spcPts val="50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public class Hello {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50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public static void main(String[] args) {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50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    HelloMsg msg = new HelloMsg();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50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    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msg.sayHello();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50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}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50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}</a:t>
            </a:r>
          </a:p>
          <a:p>
            <a:pPr marL="342900" indent="-328613" eaLnBrk="1" hangingPunct="1">
              <a:lnSpc>
                <a:spcPct val="80000"/>
              </a:lnSpc>
              <a:spcBef>
                <a:spcPts val="500"/>
              </a:spcBef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endParaRPr lang="en-US" sz="2000">
              <a:solidFill>
                <a:srgbClr val="000000"/>
              </a:solidFill>
              <a:latin typeface="Consolas" pitchFamily="49" charset="0"/>
              <a:ea typeface="Noto Sans CJK SC Regular" charset="0"/>
              <a:cs typeface="Noto Sans CJK SC Regular" charset="0"/>
            </a:endParaRPr>
          </a:p>
        </p:txBody>
      </p:sp>
      <p:grpSp>
        <p:nvGrpSpPr>
          <p:cNvPr id="41987" name="Group 3"/>
          <p:cNvGrpSpPr>
            <a:grpSpLocks/>
          </p:cNvGrpSpPr>
          <p:nvPr/>
        </p:nvGrpSpPr>
        <p:grpSpPr bwMode="auto">
          <a:xfrm>
            <a:off x="3379392" y="1752601"/>
            <a:ext cx="6122458" cy="833438"/>
            <a:chOff x="1965" y="1200"/>
            <a:chExt cx="3560" cy="525"/>
          </a:xfrm>
        </p:grpSpPr>
        <p:sp>
          <p:nvSpPr>
            <p:cNvPr id="41988" name="Text Box 4"/>
            <p:cNvSpPr txBox="1">
              <a:spLocks noChangeArrowheads="1"/>
            </p:cNvSpPr>
            <p:nvPr/>
          </p:nvSpPr>
          <p:spPr bwMode="auto">
            <a:xfrm>
              <a:off x="3027" y="1200"/>
              <a:ext cx="2498" cy="525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1500"/>
                </a:spcBef>
                <a:buClrTx/>
                <a:buFontTx/>
                <a:buNone/>
              </a:pPr>
              <a:r>
                <a:rPr lang="en-US" sz="2400"/>
                <a:t>Làm thế nào để đưa HelloMsg vào một gói? </a:t>
              </a:r>
            </a:p>
          </p:txBody>
        </p:sp>
        <p:sp>
          <p:nvSpPr>
            <p:cNvPr id="41989" name="Line 5"/>
            <p:cNvSpPr>
              <a:spLocks noChangeShapeType="1"/>
            </p:cNvSpPr>
            <p:nvPr/>
          </p:nvSpPr>
          <p:spPr bwMode="auto">
            <a:xfrm flipH="1">
              <a:off x="1965" y="1440"/>
              <a:ext cx="1063" cy="232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982817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742950" y="2916238"/>
            <a:ext cx="8007350" cy="2590800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66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// HelloMsg.java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00CC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package dse;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endParaRPr lang="en-US" sz="2000">
              <a:solidFill>
                <a:srgbClr val="000000"/>
              </a:solidFill>
              <a:latin typeface="Consolas" pitchFamily="49" charset="0"/>
              <a:ea typeface="Noto Sans CJK SC Regular" charset="0"/>
              <a:cs typeface="Noto Sans CJK SC Regular" charset="0"/>
            </a:endParaRP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00CC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public</a:t>
            </a: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class HelloMsg {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</a:t>
            </a:r>
            <a:r>
              <a:rPr lang="en-US" sz="2000">
                <a:solidFill>
                  <a:srgbClr val="0000CC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public</a:t>
            </a: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void sayHello() {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    System.out.println("Hello, world!");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}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20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}</a:t>
            </a:r>
          </a:p>
        </p:txBody>
      </p:sp>
      <p:grpSp>
        <p:nvGrpSpPr>
          <p:cNvPr id="43012" name="Group 4"/>
          <p:cNvGrpSpPr>
            <a:grpSpLocks/>
          </p:cNvGrpSpPr>
          <p:nvPr/>
        </p:nvGrpSpPr>
        <p:grpSpPr bwMode="auto">
          <a:xfrm>
            <a:off x="2970080" y="1919288"/>
            <a:ext cx="6507692" cy="1554162"/>
            <a:chOff x="1727" y="1209"/>
            <a:chExt cx="3784" cy="979"/>
          </a:xfrm>
        </p:grpSpPr>
        <p:sp>
          <p:nvSpPr>
            <p:cNvPr id="43013" name="Text Box 5"/>
            <p:cNvSpPr txBox="1">
              <a:spLocks noChangeArrowheads="1"/>
            </p:cNvSpPr>
            <p:nvPr/>
          </p:nvSpPr>
          <p:spPr bwMode="auto">
            <a:xfrm>
              <a:off x="3315" y="1209"/>
              <a:ext cx="2196" cy="583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875"/>
                </a:spcBef>
                <a:buClrTx/>
                <a:buFontTx/>
                <a:buNone/>
              </a:pPr>
              <a:r>
                <a:rPr lang="en-US"/>
                <a:t>khai báo gói bằng lệnh package với tên gói. Phần còn lại của tệp sẽ thuộc về cùng một gói.</a:t>
              </a:r>
            </a:p>
          </p:txBody>
        </p:sp>
        <p:sp>
          <p:nvSpPr>
            <p:cNvPr id="43014" name="Line 6"/>
            <p:cNvSpPr>
              <a:spLocks noChangeShapeType="1"/>
            </p:cNvSpPr>
            <p:nvPr/>
          </p:nvSpPr>
          <p:spPr bwMode="auto">
            <a:xfrm flipH="1">
              <a:off x="1727" y="1449"/>
              <a:ext cx="1589" cy="739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15" name="Group 7"/>
          <p:cNvGrpSpPr>
            <a:grpSpLocks/>
          </p:cNvGrpSpPr>
          <p:nvPr/>
        </p:nvGrpSpPr>
        <p:grpSpPr bwMode="auto">
          <a:xfrm>
            <a:off x="1152261" y="4208464"/>
            <a:ext cx="4199731" cy="2149475"/>
            <a:chOff x="670" y="2651"/>
            <a:chExt cx="2442" cy="1354"/>
          </a:xfrm>
        </p:grpSpPr>
        <p:sp>
          <p:nvSpPr>
            <p:cNvPr id="43016" name="Text Box 8"/>
            <p:cNvSpPr txBox="1">
              <a:spLocks noChangeArrowheads="1"/>
            </p:cNvSpPr>
            <p:nvPr/>
          </p:nvSpPr>
          <p:spPr bwMode="auto">
            <a:xfrm>
              <a:off x="920" y="3422"/>
              <a:ext cx="2192" cy="583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875"/>
                </a:spcBef>
                <a:buClrTx/>
                <a:buFontTx/>
                <a:buNone/>
              </a:pPr>
              <a:r>
                <a:rPr lang="en-US"/>
                <a:t>Được khai báo </a:t>
              </a:r>
              <a:r>
                <a:rPr lang="en-US">
                  <a:latin typeface="Consolas" pitchFamily="49" charset="0"/>
                </a:rPr>
                <a:t>public</a:t>
              </a:r>
              <a:r>
                <a:rPr lang="en-US"/>
                <a:t> nên có thể được sử dụng ngoài phạm vi gói dse.</a:t>
              </a:r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 flipH="1" flipV="1">
              <a:off x="670" y="2651"/>
              <a:ext cx="250" cy="771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 flipV="1">
              <a:off x="920" y="2843"/>
              <a:ext cx="136" cy="579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Gói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304800" y="1341437"/>
            <a:ext cx="8915400" cy="4525963"/>
          </a:xfrm>
        </p:spPr>
        <p:txBody>
          <a:bodyPr/>
          <a:lstStyle/>
          <a:p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>
                <a:latin typeface="Consolas" pitchFamily="49" charset="0"/>
              </a:rPr>
              <a:t>package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ở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tệp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324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330201" y="1778000"/>
            <a:ext cx="6999552" cy="2590800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66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//Hello.java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CC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import dse.HelloMsg;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endParaRPr lang="en-US">
              <a:solidFill>
                <a:srgbClr val="000000"/>
              </a:solidFill>
              <a:latin typeface="Consolas" pitchFamily="49" charset="0"/>
              <a:ea typeface="Noto Sans CJK SC Regular" charset="0"/>
              <a:cs typeface="Noto Sans CJK SC Regular" charset="0"/>
            </a:endParaRP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public class Hello {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public static void main(String[] args) {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    </a:t>
            </a:r>
            <a:r>
              <a:rPr lang="en-US">
                <a:solidFill>
                  <a:srgbClr val="0000CC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HelloMsg</a:t>
            </a: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msg = new </a:t>
            </a:r>
            <a:r>
              <a:rPr lang="en-US">
                <a:solidFill>
                  <a:srgbClr val="0000CC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HelloMsg</a:t>
            </a: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();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    msg.sayHello();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}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}</a:t>
            </a: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1783424" y="4056064"/>
            <a:ext cx="7709826" cy="2016125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66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//Hello.java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public class Hello {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public static void main(String[] args) {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    </a:t>
            </a:r>
            <a:r>
              <a:rPr lang="en-US">
                <a:solidFill>
                  <a:srgbClr val="0000CC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dse.HelloMsg</a:t>
            </a: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msg = new </a:t>
            </a:r>
            <a:r>
              <a:rPr lang="en-US">
                <a:solidFill>
                  <a:srgbClr val="0000CC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dse.HelloMsg</a:t>
            </a: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();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    msg.sayHello();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}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}</a:t>
            </a:r>
          </a:p>
        </p:txBody>
      </p:sp>
      <p:grpSp>
        <p:nvGrpSpPr>
          <p:cNvPr id="44036" name="Group 4"/>
          <p:cNvGrpSpPr>
            <a:grpSpLocks/>
          </p:cNvGrpSpPr>
          <p:nvPr/>
        </p:nvGrpSpPr>
        <p:grpSpPr bwMode="auto">
          <a:xfrm>
            <a:off x="2842815" y="1547814"/>
            <a:ext cx="5933282" cy="1660525"/>
            <a:chOff x="1653" y="975"/>
            <a:chExt cx="3450" cy="1046"/>
          </a:xfrm>
        </p:grpSpPr>
        <p:sp>
          <p:nvSpPr>
            <p:cNvPr id="44037" name="Text Box 5"/>
            <p:cNvSpPr txBox="1">
              <a:spLocks noChangeArrowheads="1"/>
            </p:cNvSpPr>
            <p:nvPr/>
          </p:nvSpPr>
          <p:spPr bwMode="auto">
            <a:xfrm>
              <a:off x="3243" y="975"/>
              <a:ext cx="1860" cy="525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1000"/>
                </a:spcBef>
                <a:buClrTx/>
                <a:buFontTx/>
                <a:buNone/>
              </a:pPr>
              <a:r>
                <a:rPr lang="en-US" sz="1600"/>
                <a:t>1. Sử dụng lệnh import để cung cấp các tên (names) trong gói và chỉ cần một lần.</a:t>
              </a:r>
            </a:p>
          </p:txBody>
        </p:sp>
        <p:sp>
          <p:nvSpPr>
            <p:cNvPr id="44038" name="Line 6"/>
            <p:cNvSpPr>
              <a:spLocks noChangeShapeType="1"/>
            </p:cNvSpPr>
            <p:nvPr/>
          </p:nvSpPr>
          <p:spPr bwMode="auto">
            <a:xfrm flipH="1">
              <a:off x="1989" y="1501"/>
              <a:ext cx="1254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39" name="Line 7"/>
            <p:cNvSpPr>
              <a:spLocks noChangeShapeType="1"/>
            </p:cNvSpPr>
            <p:nvPr/>
          </p:nvSpPr>
          <p:spPr bwMode="auto">
            <a:xfrm flipH="1">
              <a:off x="2704" y="1501"/>
              <a:ext cx="538" cy="52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0" name="Line 8"/>
            <p:cNvSpPr>
              <a:spLocks noChangeShapeType="1"/>
            </p:cNvSpPr>
            <p:nvPr/>
          </p:nvSpPr>
          <p:spPr bwMode="auto">
            <a:xfrm flipH="1">
              <a:off x="1653" y="1501"/>
              <a:ext cx="1590" cy="52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042" name="Group 10"/>
          <p:cNvGrpSpPr>
            <a:grpSpLocks/>
          </p:cNvGrpSpPr>
          <p:nvPr/>
        </p:nvGrpSpPr>
        <p:grpSpPr bwMode="auto">
          <a:xfrm>
            <a:off x="4731148" y="3886200"/>
            <a:ext cx="4445661" cy="1106488"/>
            <a:chOff x="2751" y="2448"/>
            <a:chExt cx="2585" cy="697"/>
          </a:xfrm>
        </p:grpSpPr>
        <p:grpSp>
          <p:nvGrpSpPr>
            <p:cNvPr id="44043" name="Group 11"/>
            <p:cNvGrpSpPr>
              <a:grpSpLocks/>
            </p:cNvGrpSpPr>
            <p:nvPr/>
          </p:nvGrpSpPr>
          <p:grpSpPr bwMode="auto">
            <a:xfrm>
              <a:off x="2751" y="2673"/>
              <a:ext cx="1289" cy="472"/>
              <a:chOff x="2751" y="2673"/>
              <a:chExt cx="1289" cy="472"/>
            </a:xfrm>
          </p:grpSpPr>
          <p:sp>
            <p:nvSpPr>
              <p:cNvPr id="44044" name="Line 12"/>
              <p:cNvSpPr>
                <a:spLocks noChangeShapeType="1"/>
              </p:cNvSpPr>
              <p:nvPr/>
            </p:nvSpPr>
            <p:spPr bwMode="auto">
              <a:xfrm>
                <a:off x="3474" y="2673"/>
                <a:ext cx="566" cy="472"/>
              </a:xfrm>
              <a:prstGeom prst="line">
                <a:avLst/>
              </a:prstGeom>
              <a:noFill/>
              <a:ln w="9360" cap="sq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45" name="Line 13"/>
              <p:cNvSpPr>
                <a:spLocks noChangeShapeType="1"/>
              </p:cNvSpPr>
              <p:nvPr/>
            </p:nvSpPr>
            <p:spPr bwMode="auto">
              <a:xfrm flipH="1">
                <a:off x="2750" y="2673"/>
                <a:ext cx="725" cy="424"/>
              </a:xfrm>
              <a:prstGeom prst="line">
                <a:avLst/>
              </a:prstGeom>
              <a:noFill/>
              <a:ln w="9360" cap="sq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046" name="Text Box 14"/>
            <p:cNvSpPr txBox="1">
              <a:spLocks noChangeArrowheads="1"/>
            </p:cNvSpPr>
            <p:nvPr/>
          </p:nvSpPr>
          <p:spPr bwMode="auto">
            <a:xfrm>
              <a:off x="3472" y="2448"/>
              <a:ext cx="1864" cy="215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1000"/>
                </a:spcBef>
                <a:buClrTx/>
                <a:buFontTx/>
                <a:buNone/>
              </a:pPr>
              <a:r>
                <a:rPr lang="en-US" sz="1600"/>
                <a:t>2. Chỉ rõ gói cho mỗi lần gọi.</a:t>
              </a: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Gói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6452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1"/>
          <p:cNvSpPr txBox="1">
            <a:spLocks noChangeArrowheads="1"/>
          </p:cNvSpPr>
          <p:nvPr/>
        </p:nvSpPr>
        <p:spPr bwMode="auto">
          <a:xfrm>
            <a:off x="495300" y="152400"/>
            <a:ext cx="8915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sz="2800"/>
              <a:t>dse/hello/Hello.java:</a:t>
            </a:r>
          </a:p>
        </p:txBody>
      </p:sp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495300" y="1676401"/>
            <a:ext cx="8915400" cy="2590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73050" indent="-266700"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package </a:t>
            </a:r>
            <a:r>
              <a:rPr lang="en-US" sz="2000" b="1" dirty="0" err="1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dse.hello</a:t>
            </a:r>
            <a:r>
              <a:rPr lang="en-US" sz="20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class Hello {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void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sayHello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("Hello, world!");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065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ext Box 1"/>
          <p:cNvSpPr txBox="1">
            <a:spLocks noChangeArrowheads="1"/>
          </p:cNvSpPr>
          <p:nvPr/>
        </p:nvSpPr>
        <p:spPr bwMode="auto">
          <a:xfrm>
            <a:off x="495300" y="152400"/>
            <a:ext cx="8915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sz="2800"/>
              <a:t>dse/test/HelloTestDrive.java:</a:t>
            </a:r>
          </a:p>
        </p:txBody>
      </p:sp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495300" y="1752600"/>
            <a:ext cx="90805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73050" indent="-266700"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import dse.hello.Hello;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public class Hello {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   public static void main(String[] args) {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       Hello h = new Hello();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       h.sayHello();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eaLnBrk="1" hangingPunct="1"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133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Biên dịch và thực thi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Biên dịch</a:t>
            </a:r>
          </a:p>
          <a:p>
            <a:pPr lvl="1"/>
            <a:r>
              <a:rPr lang="en-US"/>
              <a:t>javac HelloMsg.java –d</a:t>
            </a:r>
          </a:p>
          <a:p>
            <a:pPr lvl="1"/>
            <a:r>
              <a:rPr lang="en-US"/>
              <a:t>javac Hello.java</a:t>
            </a:r>
          </a:p>
          <a:p>
            <a:r>
              <a:rPr lang="en-US"/>
              <a:t>javac  dse/test/HelloTestDrive.java</a:t>
            </a:r>
          </a:p>
          <a:p>
            <a:r>
              <a:rPr lang="en-US"/>
              <a:t>Thực thi</a:t>
            </a:r>
          </a:p>
          <a:p>
            <a:pPr lvl="1"/>
            <a:r>
              <a:rPr lang="en-US"/>
              <a:t>java Hello</a:t>
            </a:r>
          </a:p>
          <a:p>
            <a:pPr lvl="1"/>
            <a:r>
              <a:rPr lang="en-US"/>
              <a:t>java dse.test.HelloTestDrive 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176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Hợp thành (composition)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Các đối tượng có thể chứa các đối tượng khác ở dạng thuộc tính</a:t>
            </a:r>
          </a:p>
          <a:p>
            <a:r>
              <a:rPr lang="en-US"/>
              <a:t>Các thuộc tính kiểu tham chiếu này phải được khởi tạo sử dụng toán tử new hoặc phép gán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3396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495300" y="1676400"/>
            <a:ext cx="8915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213254" y="1676400"/>
            <a:ext cx="9515608" cy="3733800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public class Person {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private String name;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</a:t>
            </a:r>
            <a:r>
              <a:rPr lang="en-US">
                <a:solidFill>
                  <a:srgbClr val="0000CC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private Date birthDate</a:t>
            </a: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;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endParaRPr lang="en-US">
              <a:solidFill>
                <a:srgbClr val="000000"/>
              </a:solidFill>
              <a:ea typeface="Noto Sans CJK SC Regular" charset="0"/>
              <a:cs typeface="Noto Sans CJK SC Regular" charset="0"/>
            </a:endParaRP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public Person(String name, Date birthDate) { 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  this.name = name;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  this.birthDate = birthDate; 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}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endParaRPr lang="en-US">
              <a:solidFill>
                <a:srgbClr val="000000"/>
              </a:solidFill>
              <a:ea typeface="Noto Sans CJK SC Regular" charset="0"/>
              <a:cs typeface="Noto Sans CJK SC Regular" charset="0"/>
            </a:endParaRP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public String toString() {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   return String.format("%s: Birthday: %s",name,birthDate);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   }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}</a:t>
            </a:r>
          </a:p>
        </p:txBody>
      </p:sp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1403350" y="4953000"/>
            <a:ext cx="8205127" cy="1295400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16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...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1600">
                <a:solidFill>
                  <a:srgbClr val="0000CC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Date d = new Date (31, 12, 1999);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16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Person p1 = new Person ("Bob", </a:t>
            </a:r>
            <a:r>
              <a:rPr lang="en-US" sz="1600">
                <a:solidFill>
                  <a:srgbClr val="0000CC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d</a:t>
            </a:r>
            <a:r>
              <a:rPr lang="en-US" sz="16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);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endParaRPr lang="en-US" sz="1600">
              <a:solidFill>
                <a:srgbClr val="000000"/>
              </a:solidFill>
              <a:latin typeface="Consolas" pitchFamily="49" charset="0"/>
              <a:ea typeface="Noto Sans CJK SC Regular" charset="0"/>
              <a:cs typeface="Noto Sans CJK SC Regular" charset="0"/>
            </a:endParaRP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sz="16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Person p2 = new Person ("Alice", </a:t>
            </a:r>
            <a:r>
              <a:rPr lang="en-US" sz="1600">
                <a:solidFill>
                  <a:srgbClr val="0000CC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new Date (1, 1, 2000)</a:t>
            </a:r>
            <a:r>
              <a:rPr lang="en-US" sz="1600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);</a:t>
            </a:r>
          </a:p>
        </p:txBody>
      </p:sp>
      <p:grpSp>
        <p:nvGrpSpPr>
          <p:cNvPr id="49157" name="Group 5"/>
          <p:cNvGrpSpPr>
            <a:grpSpLocks/>
          </p:cNvGrpSpPr>
          <p:nvPr/>
        </p:nvGrpSpPr>
        <p:grpSpPr bwMode="auto">
          <a:xfrm>
            <a:off x="3871251" y="1066800"/>
            <a:ext cx="5608241" cy="1206500"/>
            <a:chOff x="2251" y="672"/>
            <a:chExt cx="3261" cy="760"/>
          </a:xfrm>
        </p:grpSpPr>
        <p:sp>
          <p:nvSpPr>
            <p:cNvPr id="49158" name="Text Box 6"/>
            <p:cNvSpPr txBox="1">
              <a:spLocks noChangeArrowheads="1"/>
            </p:cNvSpPr>
            <p:nvPr/>
          </p:nvSpPr>
          <p:spPr bwMode="auto">
            <a:xfrm>
              <a:off x="4217" y="672"/>
              <a:ext cx="1295" cy="370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1000"/>
                </a:spcBef>
                <a:buClrTx/>
                <a:buFontTx/>
                <a:buNone/>
              </a:pPr>
              <a:r>
                <a:rPr lang="en-US" sz="1600"/>
                <a:t>Dữ liệu có kiểu không nguyên thủy</a:t>
              </a:r>
            </a:p>
          </p:txBody>
        </p:sp>
        <p:sp>
          <p:nvSpPr>
            <p:cNvPr id="49159" name="Line 7"/>
            <p:cNvSpPr>
              <a:spLocks noChangeShapeType="1"/>
            </p:cNvSpPr>
            <p:nvPr/>
          </p:nvSpPr>
          <p:spPr bwMode="auto">
            <a:xfrm flipH="1">
              <a:off x="2251" y="1022"/>
              <a:ext cx="1976" cy="41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160" name="Group 8"/>
          <p:cNvGrpSpPr>
            <a:grpSpLocks/>
          </p:cNvGrpSpPr>
          <p:nvPr/>
        </p:nvGrpSpPr>
        <p:grpSpPr bwMode="auto">
          <a:xfrm>
            <a:off x="5692512" y="4800600"/>
            <a:ext cx="3786981" cy="1054100"/>
            <a:chOff x="3310" y="3072"/>
            <a:chExt cx="2202" cy="664"/>
          </a:xfrm>
        </p:grpSpPr>
        <p:sp>
          <p:nvSpPr>
            <p:cNvPr id="49161" name="Text Box 9"/>
            <p:cNvSpPr txBox="1">
              <a:spLocks noChangeArrowheads="1"/>
            </p:cNvSpPr>
            <p:nvPr/>
          </p:nvSpPr>
          <p:spPr bwMode="auto">
            <a:xfrm>
              <a:off x="4086" y="3072"/>
              <a:ext cx="1426" cy="370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Noto Sans CJK SC Regular" charset="0"/>
                  <a:cs typeface="Noto Sans CJK SC Regular" charset="0"/>
                </a:defRPr>
              </a:lvl9pPr>
            </a:lstStyle>
            <a:p>
              <a:pPr>
                <a:spcBef>
                  <a:spcPts val="1000"/>
                </a:spcBef>
                <a:buClrTx/>
                <a:buFontTx/>
                <a:buNone/>
              </a:pPr>
              <a:r>
                <a:rPr lang="en-US" sz="1600" dirty="0" err="1"/>
                <a:t>Đối</a:t>
              </a:r>
              <a:r>
                <a:rPr lang="en-US" sz="1600" dirty="0"/>
                <a:t> </a:t>
              </a:r>
              <a:r>
                <a:rPr lang="en-US" sz="1600" dirty="0" err="1"/>
                <a:t>tượng</a:t>
              </a:r>
              <a:r>
                <a:rPr lang="en-US" sz="1600" dirty="0"/>
                <a:t> </a:t>
              </a:r>
              <a:r>
                <a:rPr lang="en-US" sz="1600" dirty="0" err="1"/>
                <a:t>được</a:t>
              </a:r>
              <a:r>
                <a:rPr lang="en-US" sz="1600" dirty="0"/>
                <a:t> </a:t>
              </a:r>
              <a:r>
                <a:rPr lang="en-US" sz="1600" dirty="0" err="1"/>
                <a:t>chứa</a:t>
              </a:r>
              <a:r>
                <a:rPr lang="en-US" sz="1600" dirty="0"/>
                <a:t> </a:t>
              </a:r>
              <a:r>
                <a:rPr lang="en-US" sz="1600" dirty="0" err="1"/>
                <a:t>phải</a:t>
              </a:r>
              <a:r>
                <a:rPr lang="en-US" sz="1600" dirty="0"/>
                <a:t> </a:t>
              </a:r>
              <a:r>
                <a:rPr lang="en-US" sz="1600" dirty="0" err="1"/>
                <a:t>được</a:t>
              </a:r>
              <a:r>
                <a:rPr lang="en-US" sz="1600" dirty="0"/>
                <a:t> </a:t>
              </a:r>
              <a:r>
                <a:rPr lang="en-US" sz="1600" dirty="0" err="1"/>
                <a:t>tạo</a:t>
              </a:r>
              <a:r>
                <a:rPr lang="en-US" sz="1600" dirty="0"/>
                <a:t>.</a:t>
              </a:r>
            </a:p>
          </p:txBody>
        </p:sp>
        <p:sp>
          <p:nvSpPr>
            <p:cNvPr id="49162" name="Line 10"/>
            <p:cNvSpPr>
              <a:spLocks noChangeShapeType="1"/>
            </p:cNvSpPr>
            <p:nvPr/>
          </p:nvSpPr>
          <p:spPr bwMode="auto">
            <a:xfrm flipH="1">
              <a:off x="3977" y="3456"/>
              <a:ext cx="114" cy="28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3" name="Line 11"/>
            <p:cNvSpPr>
              <a:spLocks noChangeShapeType="1"/>
            </p:cNvSpPr>
            <p:nvPr/>
          </p:nvSpPr>
          <p:spPr bwMode="auto">
            <a:xfrm flipH="1">
              <a:off x="3310" y="3456"/>
              <a:ext cx="775" cy="0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thành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7295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6934200" y="6356351"/>
            <a:ext cx="247994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sz="1400">
                <a:solidFill>
                  <a:srgbClr val="464653"/>
                </a:solidFill>
                <a:cs typeface="Arial" charset="0"/>
              </a:rPr>
              <a:t>Thêm về Java</a:t>
            </a:r>
          </a:p>
        </p:txBody>
      </p:sp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3140340" y="6356351"/>
            <a:ext cx="37973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EF5197D-2E58-469D-BCA1-C76B845143F1}" type="slidenum">
              <a:rPr lang="en-US" sz="1400">
                <a:solidFill>
                  <a:srgbClr val="464653"/>
                </a:solidFill>
              </a:rPr>
              <a:pPr algn="r" eaLnBrk="1" hangingPunct="1">
                <a:buClrTx/>
                <a:buFontTx/>
                <a:buNone/>
              </a:pPr>
              <a:t>47</a:t>
            </a:fld>
            <a:endParaRPr lang="en-US" sz="1400">
              <a:solidFill>
                <a:srgbClr val="464653"/>
              </a:solidFill>
            </a:endParaRP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572691" y="1692275"/>
            <a:ext cx="8915400" cy="440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73050" indent="-266700"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latin typeface="Courier New" pitchFamily="49" charset="0"/>
                <a:cs typeface="Courier New" pitchFamily="49" charset="0"/>
              </a:rPr>
              <a:t>class Person {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public MyDate getBirthday() {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      return birthday;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endParaRPr lang="en-US" sz="240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latin typeface="Courier New" pitchFamily="49" charset="0"/>
                <a:cs typeface="Courier New" pitchFamily="49" charset="0"/>
              </a:rPr>
              <a:t>Person p = new Person(...);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latin typeface="Courier New" pitchFamily="49" charset="0"/>
                <a:cs typeface="Courier New" pitchFamily="49" charset="0"/>
              </a:rPr>
              <a:t>MyDate d = p.getBirthday();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d.setYear(1900);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Get/Set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3368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50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50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501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501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501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501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495300" y="1524000"/>
            <a:ext cx="8915400" cy="457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73050" indent="-266700"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class Person {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private String name;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private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birthday;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public Person(String s,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d) {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000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name = s;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      birthday = new </a:t>
            </a:r>
            <a:r>
              <a:rPr lang="en-US" sz="2000" dirty="0" err="1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000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(d);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public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getBirthday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000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return new </a:t>
            </a:r>
            <a:r>
              <a:rPr lang="en-US" sz="2000" dirty="0" err="1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000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(birthday);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public void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setBirthday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d) {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000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birthday = new </a:t>
            </a:r>
            <a:r>
              <a:rPr lang="en-US" sz="2000" dirty="0" err="1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MyDate</a:t>
            </a:r>
            <a:r>
              <a:rPr lang="en-US" sz="2000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(d);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Get/Set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chép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839859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Vào ra từ luồng dữ liệu chuẩn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304800" y="1600201"/>
            <a:ext cx="92583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Ba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  <a:p>
            <a:pPr lvl="1"/>
            <a:r>
              <a:rPr lang="en-US" b="1" dirty="0" err="1"/>
              <a:t>System.out</a:t>
            </a:r>
            <a:r>
              <a:rPr lang="en-US" dirty="0"/>
              <a:t>: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chuẩn</a:t>
            </a:r>
            <a:endParaRPr lang="en-US" dirty="0"/>
          </a:p>
          <a:p>
            <a:pPr lvl="2"/>
            <a:r>
              <a:rPr lang="en-US" dirty="0"/>
              <a:t>T</a:t>
            </a:r>
            <a:r>
              <a:rPr lang="en-US"/>
              <a:t>hường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</a:p>
          <a:p>
            <a:pPr lvl="1"/>
            <a:r>
              <a:rPr lang="en-US" b="1" dirty="0" err="1"/>
              <a:t>System.err</a:t>
            </a:r>
            <a:r>
              <a:rPr lang="en-US" dirty="0"/>
              <a:t>: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chuẩn</a:t>
            </a:r>
            <a:endParaRPr lang="en-US" dirty="0"/>
          </a:p>
          <a:p>
            <a:pPr lvl="2"/>
            <a:r>
              <a:rPr lang="en-US" dirty="0"/>
              <a:t>T</a:t>
            </a:r>
            <a:r>
              <a:rPr lang="en-US"/>
              <a:t>hường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  <a:p>
            <a:pPr lvl="1"/>
            <a:r>
              <a:rPr lang="en-US" b="1" dirty="0"/>
              <a:t>System.in</a:t>
            </a:r>
            <a:r>
              <a:rPr lang="en-US" dirty="0"/>
              <a:t>: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chuẩn</a:t>
            </a:r>
            <a:endParaRPr lang="en-US" dirty="0"/>
          </a:p>
          <a:p>
            <a:pPr lvl="2"/>
            <a:r>
              <a:rPr lang="en-US" dirty="0"/>
              <a:t>T</a:t>
            </a:r>
            <a:r>
              <a:rPr lang="en-US"/>
              <a:t>hường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(bytes)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endParaRPr lang="en-US" dirty="0"/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, </a:t>
            </a:r>
            <a:r>
              <a:rPr lang="en-US" dirty="0" err="1"/>
              <a:t>chẳng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tệp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đĩa</a:t>
            </a:r>
            <a:endParaRPr lang="en-US" dirty="0"/>
          </a:p>
          <a:p>
            <a:pPr lvl="1"/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setIn</a:t>
            </a:r>
            <a:r>
              <a:rPr lang="en-US" dirty="0"/>
              <a:t>(), </a:t>
            </a:r>
            <a:r>
              <a:rPr lang="en-US" dirty="0" err="1"/>
              <a:t>setOut</a:t>
            </a:r>
            <a:r>
              <a:rPr lang="en-US" dirty="0"/>
              <a:t>(), </a:t>
            </a:r>
            <a:r>
              <a:rPr lang="en-US" dirty="0" err="1"/>
              <a:t>setErr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sổ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(</a:t>
            </a:r>
            <a:r>
              <a:rPr lang="en-US" dirty="0" err="1"/>
              <a:t>chỉ</a:t>
            </a:r>
            <a:r>
              <a:rPr lang="en-US" dirty="0"/>
              <a:t> input </a:t>
            </a:r>
            <a:r>
              <a:rPr lang="en-US" dirty="0" err="1"/>
              <a:t>và</a:t>
            </a:r>
            <a:r>
              <a:rPr lang="en-US" dirty="0"/>
              <a:t> output): </a:t>
            </a:r>
            <a:br>
              <a:rPr lang="en-US" dirty="0"/>
            </a:br>
            <a:r>
              <a:rPr lang="en-US" dirty="0"/>
              <a:t>	C:\&gt; input.dat &gt; java </a:t>
            </a:r>
            <a:r>
              <a:rPr lang="en-US" dirty="0" err="1"/>
              <a:t>AJavaProgram</a:t>
            </a:r>
            <a:r>
              <a:rPr lang="en-US" dirty="0"/>
              <a:t> &gt; output.dat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392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Nhập dữ liệu từ luồng vào chuẩn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381000" y="1600201"/>
            <a:ext cx="9563100" cy="4525963"/>
          </a:xfrm>
        </p:spPr>
        <p:txBody>
          <a:bodyPr>
            <a:normAutofit/>
          </a:bodyPr>
          <a:lstStyle/>
          <a:p>
            <a:r>
              <a:rPr lang="en-US" sz="2800" dirty="0" err="1"/>
              <a:t>InputStream</a:t>
            </a:r>
            <a:r>
              <a:rPr lang="en-US" sz="2800" dirty="0"/>
              <a:t>: </a:t>
            </a:r>
            <a:r>
              <a:rPr lang="en-US" sz="2800" dirty="0" err="1"/>
              <a:t>lớp</a:t>
            </a:r>
            <a:r>
              <a:rPr lang="en-US" sz="2800" dirty="0"/>
              <a:t> </a:t>
            </a:r>
            <a:r>
              <a:rPr lang="en-US" sz="2800" dirty="0" err="1"/>
              <a:t>đối</a:t>
            </a:r>
            <a:r>
              <a:rPr lang="en-US" sz="2800" dirty="0"/>
              <a:t> </a:t>
            </a:r>
            <a:r>
              <a:rPr lang="en-US" sz="2800" dirty="0" err="1"/>
              <a:t>tượng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luồng</a:t>
            </a:r>
            <a:r>
              <a:rPr lang="en-US" sz="2800" dirty="0"/>
              <a:t> </a:t>
            </a:r>
            <a:r>
              <a:rPr lang="en-US" sz="2800" dirty="0" err="1"/>
              <a:t>vào</a:t>
            </a:r>
            <a:r>
              <a:rPr lang="en-US" sz="2800" dirty="0"/>
              <a:t> </a:t>
            </a:r>
            <a:r>
              <a:rPr lang="en-US" sz="2800" dirty="0" err="1"/>
              <a:t>chuẩn</a:t>
            </a:r>
            <a:endParaRPr lang="en-US" sz="2800" dirty="0"/>
          </a:p>
          <a:p>
            <a:pPr lvl="1"/>
            <a:r>
              <a:rPr lang="en-US" sz="2400" dirty="0"/>
              <a:t>System.in: </a:t>
            </a: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tượng</a:t>
            </a:r>
            <a:r>
              <a:rPr lang="en-US" sz="2400" dirty="0"/>
              <a:t> </a:t>
            </a:r>
            <a:r>
              <a:rPr lang="en-US" sz="2400" dirty="0" err="1"/>
              <a:t>tương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endParaRPr lang="en-US" sz="2400" dirty="0"/>
          </a:p>
          <a:p>
            <a:pPr lvl="1"/>
            <a:r>
              <a:rPr lang="en-US" sz="2400" dirty="0" err="1"/>
              <a:t>chưa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phương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</a:t>
            </a:r>
            <a:r>
              <a:rPr lang="en-US" sz="2400" dirty="0" err="1"/>
              <a:t>nhập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endParaRPr lang="en-US" sz="2400" dirty="0"/>
          </a:p>
          <a:p>
            <a:r>
              <a:rPr lang="en-US" sz="2800" dirty="0"/>
              <a:t>Scanner: </a:t>
            </a:r>
            <a:r>
              <a:rPr lang="en-US" sz="2800" dirty="0" err="1"/>
              <a:t>nhập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kiểu</a:t>
            </a:r>
            <a:r>
              <a:rPr lang="en-US" sz="2800" dirty="0"/>
              <a:t> </a:t>
            </a:r>
            <a:r>
              <a:rPr lang="en-US" sz="2800" dirty="0" err="1"/>
              <a:t>nguyên</a:t>
            </a:r>
            <a:r>
              <a:rPr lang="en-US" sz="2800" dirty="0"/>
              <a:t> </a:t>
            </a:r>
            <a:r>
              <a:rPr lang="en-US" sz="2800" dirty="0" err="1"/>
              <a:t>thủy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xâu</a:t>
            </a:r>
            <a:r>
              <a:rPr lang="en-US" sz="2800" dirty="0"/>
              <a:t> </a:t>
            </a:r>
            <a:r>
              <a:rPr lang="en-US" sz="2800" dirty="0" err="1"/>
              <a:t>ký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endParaRPr lang="en-US" sz="2800" dirty="0"/>
          </a:p>
          <a:p>
            <a:pPr lvl="1"/>
            <a:r>
              <a:rPr lang="en-US" sz="2400" dirty="0"/>
              <a:t>next(): </a:t>
            </a:r>
            <a:r>
              <a:rPr lang="en-US" sz="2400" dirty="0" err="1"/>
              <a:t>nhập</a:t>
            </a:r>
            <a:r>
              <a:rPr lang="en-US" sz="2400" dirty="0"/>
              <a:t> </a:t>
            </a:r>
            <a:r>
              <a:rPr lang="en-US" sz="2400" dirty="0" err="1"/>
              <a:t>xâu</a:t>
            </a:r>
            <a:r>
              <a:rPr lang="en-US" sz="2400" dirty="0"/>
              <a:t> </a:t>
            </a:r>
            <a:r>
              <a:rPr lang="en-US" sz="2400" dirty="0" err="1"/>
              <a:t>ký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endParaRPr lang="en-US" sz="2400" dirty="0"/>
          </a:p>
          <a:p>
            <a:pPr lvl="1"/>
            <a:r>
              <a:rPr lang="en-US" sz="2400" dirty="0" err="1"/>
              <a:t>nextType</a:t>
            </a:r>
            <a:r>
              <a:rPr lang="en-US" sz="2400" dirty="0"/>
              <a:t>(): </a:t>
            </a:r>
            <a:r>
              <a:rPr lang="en-US" sz="2400" dirty="0" err="1"/>
              <a:t>nhập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kiểu</a:t>
            </a:r>
            <a:r>
              <a:rPr lang="en-US" sz="2400" dirty="0"/>
              <a:t> Type</a:t>
            </a:r>
          </a:p>
          <a:p>
            <a:pPr lvl="1"/>
            <a:r>
              <a:rPr lang="en-US" sz="2400" dirty="0" err="1"/>
              <a:t>hasNext</a:t>
            </a:r>
            <a:r>
              <a:rPr lang="en-US" sz="2400" dirty="0"/>
              <a:t>(), </a:t>
            </a:r>
            <a:r>
              <a:rPr lang="en-US" sz="2400" dirty="0" err="1"/>
              <a:t>hasNextType</a:t>
            </a:r>
            <a:r>
              <a:rPr lang="en-US" sz="2400" dirty="0"/>
              <a:t>(): </a:t>
            </a:r>
            <a:r>
              <a:rPr lang="en-US" sz="2400" dirty="0" err="1"/>
              <a:t>kiểm</a:t>
            </a:r>
            <a:r>
              <a:rPr lang="en-US" sz="2400" dirty="0"/>
              <a:t> </a:t>
            </a:r>
            <a:r>
              <a:rPr lang="en-US" sz="2400" dirty="0" err="1"/>
              <a:t>tra</a:t>
            </a:r>
            <a:r>
              <a:rPr lang="en-US" sz="2400" dirty="0"/>
              <a:t> </a:t>
            </a:r>
            <a:r>
              <a:rPr lang="en-US" sz="2400" dirty="0" err="1"/>
              <a:t>xem</a:t>
            </a:r>
            <a:r>
              <a:rPr lang="en-US" sz="2400" dirty="0"/>
              <a:t> </a:t>
            </a:r>
            <a:r>
              <a:rPr lang="en-US" sz="2400" dirty="0" err="1"/>
              <a:t>còn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endParaRPr lang="en-US" sz="24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756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533400" y="1692275"/>
            <a:ext cx="8915400" cy="4403725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b="1">
                <a:solidFill>
                  <a:srgbClr val="00CC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// import the wrapper class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b="1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import java.util.Scanner;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b="1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...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b="1">
                <a:solidFill>
                  <a:srgbClr val="00CC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// create Scanner to get input from keyboard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b="1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Scanner sc = new Scanner( System.in );</a:t>
            </a:r>
            <a:r>
              <a:rPr lang="en-US" b="1">
                <a:solidFill>
                  <a:srgbClr val="000000"/>
                </a:solidFill>
                <a:ea typeface="Noto Sans CJK SC Regular" charset="0"/>
                <a:cs typeface="Noto Sans CJK SC Regular" charset="0"/>
              </a:rPr>
              <a:t> 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endParaRPr lang="en-US" sz="1600" b="1">
              <a:solidFill>
                <a:srgbClr val="000000"/>
              </a:solidFill>
              <a:latin typeface="Consolas" pitchFamily="49" charset="0"/>
              <a:ea typeface="Noto Sans CJK SC Regular" charset="0"/>
              <a:cs typeface="Noto Sans CJK SC Regular" charset="0"/>
            </a:endParaRP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b="1">
                <a:solidFill>
                  <a:srgbClr val="00CC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// read a word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b="1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System.out.println(sc.next());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endParaRPr lang="en-US" sz="1600" b="1">
              <a:solidFill>
                <a:srgbClr val="000000"/>
              </a:solidFill>
              <a:latin typeface="Consolas" pitchFamily="49" charset="0"/>
              <a:ea typeface="Noto Sans CJK SC Regular" charset="0"/>
              <a:cs typeface="Noto Sans CJK SC Regular" charset="0"/>
            </a:endParaRP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b="1">
                <a:solidFill>
                  <a:srgbClr val="00CC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// read an integer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b="1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int i = sc.nextInt();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endParaRPr lang="en-US" sz="1600" b="1">
              <a:solidFill>
                <a:srgbClr val="000000"/>
              </a:solidFill>
              <a:latin typeface="Consolas" pitchFamily="49" charset="0"/>
              <a:ea typeface="Noto Sans CJK SC Regular" charset="0"/>
              <a:cs typeface="Noto Sans CJK SC Regular" charset="0"/>
            </a:endParaRP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b="1">
                <a:solidFill>
                  <a:srgbClr val="00CC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// read a series of big intergers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b="1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while (sc.hasNextLong()) { 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b="1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	long aLong = sc.nextLong(); </a:t>
            </a:r>
          </a:p>
          <a:p>
            <a:pPr marL="342900" indent="-328613" eaLnBrk="1" hangingPunct="1">
              <a:buClrTx/>
              <a:buSzPct val="75000"/>
              <a:buFontTx/>
              <a:buNone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</a:pPr>
            <a:r>
              <a:rPr lang="en-US" b="1">
                <a:solidFill>
                  <a:srgbClr val="000000"/>
                </a:solidFill>
                <a:latin typeface="Consolas" pitchFamily="49" charset="0"/>
                <a:ea typeface="Noto Sans CJK SC Regular" charset="0"/>
                <a:cs typeface="Noto Sans CJK SC Regular" charset="0"/>
              </a:rPr>
              <a:t>}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152400" y="-9525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464653"/>
                </a:solidFill>
                <a:latin typeface="Tahoma" pitchFamily="32" charset="0"/>
                <a:cs typeface="Tahoma" pitchFamily="32" charset="0"/>
              </a:rPr>
              <a:t>Ví</a:t>
            </a:r>
            <a:r>
              <a:rPr lang="en-US" dirty="0">
                <a:solidFill>
                  <a:srgbClr val="464653"/>
                </a:solidFill>
                <a:latin typeface="Tahoma" pitchFamily="32" charset="0"/>
                <a:cs typeface="Tahoma" pitchFamily="32" charset="0"/>
              </a:rPr>
              <a:t> </a:t>
            </a:r>
            <a:r>
              <a:rPr lang="en-US" dirty="0" err="1">
                <a:solidFill>
                  <a:srgbClr val="464653"/>
                </a:solidFill>
                <a:latin typeface="Tahoma" pitchFamily="32" charset="0"/>
                <a:cs typeface="Tahoma" pitchFamily="32" charset="0"/>
              </a:rPr>
              <a:t>dụ</a:t>
            </a:r>
            <a:r>
              <a:rPr lang="en-US" dirty="0">
                <a:solidFill>
                  <a:srgbClr val="464653"/>
                </a:solidFill>
                <a:latin typeface="Tahoma" pitchFamily="32" charset="0"/>
                <a:cs typeface="Tahoma" pitchFamily="32" charset="0"/>
              </a:rPr>
              <a:t>: </a:t>
            </a:r>
            <a:r>
              <a:rPr lang="en-US" dirty="0" err="1">
                <a:solidFill>
                  <a:srgbClr val="464653"/>
                </a:solidFill>
                <a:latin typeface="Tahoma" pitchFamily="32" charset="0"/>
                <a:cs typeface="Tahoma" pitchFamily="32" charset="0"/>
              </a:rPr>
              <a:t>Nhập</a:t>
            </a:r>
            <a:r>
              <a:rPr lang="en-US" dirty="0">
                <a:solidFill>
                  <a:srgbClr val="464653"/>
                </a:solidFill>
                <a:latin typeface="Tahoma" pitchFamily="32" charset="0"/>
                <a:cs typeface="Tahoma" pitchFamily="32" charset="0"/>
              </a:rPr>
              <a:t> </a:t>
            </a:r>
            <a:r>
              <a:rPr lang="en-US" dirty="0" err="1">
                <a:solidFill>
                  <a:srgbClr val="464653"/>
                </a:solidFill>
                <a:latin typeface="Tahoma" pitchFamily="32" charset="0"/>
                <a:cs typeface="Tahoma" pitchFamily="32" charset="0"/>
              </a:rPr>
              <a:t>liệu</a:t>
            </a:r>
            <a:r>
              <a:rPr lang="en-US" dirty="0">
                <a:solidFill>
                  <a:srgbClr val="464653"/>
                </a:solidFill>
                <a:latin typeface="Tahoma" pitchFamily="32" charset="0"/>
                <a:cs typeface="Tahoma" pitchFamily="32" charset="0"/>
              </a:rPr>
              <a:t> </a:t>
            </a:r>
            <a:r>
              <a:rPr lang="en-US" dirty="0" err="1">
                <a:solidFill>
                  <a:srgbClr val="464653"/>
                </a:solidFill>
                <a:latin typeface="Tahoma" pitchFamily="32" charset="0"/>
                <a:cs typeface="Tahoma" pitchFamily="32" charset="0"/>
              </a:rPr>
              <a:t>từ</a:t>
            </a:r>
            <a:r>
              <a:rPr lang="en-US" dirty="0">
                <a:solidFill>
                  <a:srgbClr val="464653"/>
                </a:solidFill>
                <a:latin typeface="Tahoma" pitchFamily="32" charset="0"/>
                <a:cs typeface="Tahoma" pitchFamily="32" charset="0"/>
              </a:rPr>
              <a:t> </a:t>
            </a:r>
            <a:r>
              <a:rPr lang="en-US" dirty="0" err="1">
                <a:solidFill>
                  <a:srgbClr val="464653"/>
                </a:solidFill>
                <a:latin typeface="Tahoma" pitchFamily="32" charset="0"/>
                <a:cs typeface="Tahoma" pitchFamily="32" charset="0"/>
              </a:rPr>
              <a:t>luồng</a:t>
            </a:r>
            <a:r>
              <a:rPr lang="en-US" dirty="0">
                <a:solidFill>
                  <a:srgbClr val="464653"/>
                </a:solidFill>
                <a:latin typeface="Tahoma" pitchFamily="32" charset="0"/>
                <a:cs typeface="Tahoma" pitchFamily="32" charset="0"/>
              </a:rPr>
              <a:t> </a:t>
            </a:r>
            <a:r>
              <a:rPr lang="en-US" dirty="0" err="1">
                <a:solidFill>
                  <a:srgbClr val="464653"/>
                </a:solidFill>
                <a:latin typeface="Tahoma" pitchFamily="32" charset="0"/>
                <a:cs typeface="Tahoma" pitchFamily="32" charset="0"/>
              </a:rPr>
              <a:t>vào</a:t>
            </a:r>
            <a:r>
              <a:rPr lang="en-US" dirty="0">
                <a:solidFill>
                  <a:srgbClr val="464653"/>
                </a:solidFill>
                <a:latin typeface="Tahoma" pitchFamily="32" charset="0"/>
                <a:cs typeface="Tahoma" pitchFamily="32" charset="0"/>
              </a:rPr>
              <a:t> </a:t>
            </a:r>
            <a:r>
              <a:rPr lang="en-US" dirty="0" err="1">
                <a:solidFill>
                  <a:srgbClr val="464653"/>
                </a:solidFill>
                <a:latin typeface="Tahoma" pitchFamily="32" charset="0"/>
                <a:cs typeface="Tahoma" pitchFamily="32" charset="0"/>
              </a:rPr>
              <a:t>chuẩn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6980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6934200" y="6356351"/>
            <a:ext cx="247994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sz="1400">
                <a:solidFill>
                  <a:srgbClr val="464653"/>
                </a:solidFill>
                <a:cs typeface="Arial" charset="0"/>
              </a:rPr>
              <a:t>Thêm về Java</a:t>
            </a:r>
          </a:p>
        </p:txBody>
      </p:sp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3140340" y="6356351"/>
            <a:ext cx="37973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9AAA7FB2-F08E-4351-9AF2-8D6E7A0E6A07}" type="slidenum">
              <a:rPr lang="en-US" sz="1400">
                <a:solidFill>
                  <a:srgbClr val="464653"/>
                </a:solidFill>
              </a:rPr>
              <a:pPr algn="r" eaLnBrk="1" hangingPunct="1">
                <a:buClrTx/>
                <a:buFontTx/>
                <a:buNone/>
              </a:pPr>
              <a:t>52</a:t>
            </a:fld>
            <a:endParaRPr lang="en-US" sz="1400">
              <a:solidFill>
                <a:srgbClr val="464653"/>
              </a:solidFill>
            </a:endParaRPr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495300" y="1676400"/>
            <a:ext cx="89154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73050" indent="-268288"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73050" algn="l"/>
                <a:tab pos="730250" algn="l"/>
                <a:tab pos="1187450" algn="l"/>
                <a:tab pos="1644650" algn="l"/>
                <a:tab pos="2101850" algn="l"/>
                <a:tab pos="2559050" algn="l"/>
                <a:tab pos="3016250" algn="l"/>
                <a:tab pos="3473450" algn="l"/>
                <a:tab pos="3930650" algn="l"/>
                <a:tab pos="4387850" algn="l"/>
                <a:tab pos="4845050" algn="l"/>
                <a:tab pos="5302250" algn="l"/>
                <a:tab pos="5759450" algn="l"/>
                <a:tab pos="6216650" algn="l"/>
                <a:tab pos="6673850" algn="l"/>
                <a:tab pos="7131050" algn="l"/>
                <a:tab pos="7588250" algn="l"/>
                <a:tab pos="8045450" algn="l"/>
                <a:tab pos="8502650" algn="l"/>
                <a:tab pos="8959850" algn="l"/>
                <a:tab pos="941705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 b="1">
                <a:latin typeface="Courier New" pitchFamily="49" charset="0"/>
                <a:ea typeface="SimSun" charset="-122"/>
              </a:rPr>
              <a:t>CmdLineParas.java: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latin typeface="Courier New" pitchFamily="49" charset="0"/>
                <a:ea typeface="SimSun" charset="-122"/>
              </a:rPr>
              <a:t>public class CmdLineParas {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latin typeface="Courier New" pitchFamily="49" charset="0"/>
                <a:ea typeface="SimSun" charset="-122"/>
              </a:rPr>
              <a:t>public static void main(</a:t>
            </a:r>
            <a:r>
              <a:rPr lang="en-US" sz="2400">
                <a:solidFill>
                  <a:srgbClr val="0000CC"/>
                </a:solidFill>
                <a:latin typeface="Courier New" pitchFamily="49" charset="0"/>
                <a:ea typeface="SimSun" charset="-122"/>
              </a:rPr>
              <a:t>String[] args</a:t>
            </a:r>
            <a:r>
              <a:rPr lang="en-US" sz="2400">
                <a:latin typeface="Courier New" pitchFamily="49" charset="0"/>
                <a:ea typeface="SimSun" charset="-122"/>
              </a:rPr>
              <a:t>) {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latin typeface="Courier New" pitchFamily="49" charset="0"/>
                <a:ea typeface="SimSun" charset="-122"/>
              </a:rPr>
              <a:t>    for (int i=0; i&lt;</a:t>
            </a:r>
            <a:r>
              <a:rPr lang="en-US" sz="2400">
                <a:solidFill>
                  <a:srgbClr val="0000CC"/>
                </a:solidFill>
                <a:latin typeface="Courier New" pitchFamily="49" charset="0"/>
                <a:ea typeface="SimSun" charset="-122"/>
              </a:rPr>
              <a:t>args.length</a:t>
            </a:r>
            <a:r>
              <a:rPr lang="en-US" sz="2400">
                <a:latin typeface="Courier New" pitchFamily="49" charset="0"/>
                <a:ea typeface="SimSun" charset="-122"/>
              </a:rPr>
              <a:t>; i++)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latin typeface="Courier New" pitchFamily="49" charset="0"/>
                <a:ea typeface="SimSun" charset="-122"/>
              </a:rPr>
              <a:t>        System.out.println(</a:t>
            </a:r>
            <a:r>
              <a:rPr lang="en-US" sz="2400">
                <a:solidFill>
                  <a:srgbClr val="0000CC"/>
                </a:solidFill>
                <a:latin typeface="Courier New" pitchFamily="49" charset="0"/>
                <a:ea typeface="SimSun" charset="-122"/>
              </a:rPr>
              <a:t>args[i]</a:t>
            </a:r>
            <a:r>
              <a:rPr lang="en-US" sz="2400">
                <a:latin typeface="Courier New" pitchFamily="49" charset="0"/>
                <a:ea typeface="SimSun" charset="-122"/>
              </a:rPr>
              <a:t>); 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latin typeface="Courier New" pitchFamily="49" charset="0"/>
                <a:ea typeface="SimSun" charset="-122"/>
              </a:rPr>
              <a:t>    }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latin typeface="Courier New" pitchFamily="49" charset="0"/>
                <a:ea typeface="SimSun" charset="-122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endParaRPr lang="en-US" sz="2400">
              <a:latin typeface="Times New Roman" pitchFamily="16" charset="0"/>
              <a:ea typeface="SimSun" charset="-122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 b="1">
                <a:latin typeface="Times New Roman" pitchFamily="16" charset="0"/>
                <a:ea typeface="SimSun" charset="-122"/>
              </a:rPr>
              <a:t>Ví dụ: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latin typeface="Courier New" pitchFamily="49" charset="0"/>
                <a:ea typeface="SimSun" charset="-122"/>
              </a:rPr>
              <a:t>#java CmdLineParas hello world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latin typeface="Courier New" pitchFamily="49" charset="0"/>
                <a:ea typeface="SimSun" charset="-122"/>
              </a:rPr>
              <a:t>hello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Tx/>
              <a:buSzPct val="76000"/>
              <a:buFontTx/>
              <a:buNone/>
            </a:pPr>
            <a:r>
              <a:rPr lang="en-US" sz="2400">
                <a:latin typeface="Courier New" pitchFamily="49" charset="0"/>
                <a:ea typeface="SimSun" charset="-122"/>
              </a:rPr>
              <a:t>world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464653"/>
                </a:solidFill>
                <a:latin typeface="Tahoma" pitchFamily="32" charset="0"/>
                <a:ea typeface="SimSun" charset="-122"/>
              </a:rPr>
              <a:t>Tham</a:t>
            </a:r>
            <a:r>
              <a:rPr lang="en-US" dirty="0">
                <a:solidFill>
                  <a:srgbClr val="464653"/>
                </a:solidFill>
                <a:latin typeface="Tahoma" pitchFamily="32" charset="0"/>
                <a:ea typeface="SimSun" charset="-122"/>
              </a:rPr>
              <a:t> </a:t>
            </a:r>
            <a:r>
              <a:rPr lang="en-US" dirty="0" err="1">
                <a:solidFill>
                  <a:srgbClr val="464653"/>
                </a:solidFill>
                <a:latin typeface="Tahoma" pitchFamily="32" charset="0"/>
                <a:ea typeface="SimSun" charset="-122"/>
              </a:rPr>
              <a:t>s</a:t>
            </a:r>
            <a:r>
              <a:rPr lang="en-US" dirty="0" err="1">
                <a:solidFill>
                  <a:srgbClr val="464653"/>
                </a:solidFill>
                <a:latin typeface="Tahoma" pitchFamily="32" charset="0"/>
                <a:cs typeface="Tahoma" pitchFamily="32" charset="0"/>
              </a:rPr>
              <a:t>ố</a:t>
            </a:r>
            <a:r>
              <a:rPr lang="en-US" dirty="0">
                <a:solidFill>
                  <a:srgbClr val="464653"/>
                </a:solidFill>
                <a:latin typeface="Tahoma" pitchFamily="32" charset="0"/>
                <a:ea typeface="SimSun" charset="-122"/>
              </a:rPr>
              <a:t> </a:t>
            </a:r>
            <a:r>
              <a:rPr lang="en-US" dirty="0" err="1">
                <a:solidFill>
                  <a:srgbClr val="464653"/>
                </a:solidFill>
                <a:latin typeface="Tahoma" pitchFamily="32" charset="0"/>
                <a:ea typeface="SimSun" charset="-122"/>
              </a:rPr>
              <a:t>dòng</a:t>
            </a:r>
            <a:r>
              <a:rPr lang="en-US" dirty="0">
                <a:solidFill>
                  <a:srgbClr val="464653"/>
                </a:solidFill>
                <a:latin typeface="Tahoma" pitchFamily="32" charset="0"/>
                <a:ea typeface="SimSun" charset="-122"/>
              </a:rPr>
              <a:t> </a:t>
            </a:r>
            <a:r>
              <a:rPr lang="en-US" dirty="0" err="1">
                <a:solidFill>
                  <a:srgbClr val="464653"/>
                </a:solidFill>
                <a:latin typeface="Tahoma" pitchFamily="32" charset="0"/>
                <a:ea typeface="SimSun" charset="-122"/>
              </a:rPr>
              <a:t>l</a:t>
            </a:r>
            <a:r>
              <a:rPr lang="en-US" dirty="0" err="1">
                <a:solidFill>
                  <a:srgbClr val="464653"/>
                </a:solidFill>
                <a:latin typeface="Tahoma" pitchFamily="32" charset="0"/>
                <a:cs typeface="Tahoma" pitchFamily="32" charset="0"/>
              </a:rPr>
              <a:t>ệ</a:t>
            </a:r>
            <a:r>
              <a:rPr lang="en-US" dirty="0" err="1">
                <a:solidFill>
                  <a:srgbClr val="464653"/>
                </a:solidFill>
                <a:latin typeface="Tahoma" pitchFamily="32" charset="0"/>
                <a:ea typeface="SimSun" charset="-122"/>
              </a:rPr>
              <a:t>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4796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93710" y="2438400"/>
            <a:ext cx="77185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Thanks for your attention!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Hiểu thêm về Java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0524"/>
      </p:ext>
    </p:extLst>
  </p:cSld>
  <p:clrMapOvr>
    <a:masterClrMapping/>
  </p:clrMapOvr>
</p:sld>
</file>

<file path=ppt/theme/theme1.xml><?xml version="1.0" encoding="utf-8"?>
<a:theme xmlns:a="http://schemas.openxmlformats.org/drawingml/2006/main" name="Trinhlk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Trinhlk_template</Template>
  <TotalTime>21053</TotalTime>
  <Words>3894</Words>
  <Application>Microsoft Office PowerPoint</Application>
  <PresentationFormat>A4 Paper (210x297 mm)</PresentationFormat>
  <Paragraphs>878</Paragraphs>
  <Slides>53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6" baseType="lpstr">
      <vt:lpstr>SimSun</vt:lpstr>
      <vt:lpstr>Arial</vt:lpstr>
      <vt:lpstr>Calibri</vt:lpstr>
      <vt:lpstr>Candara</vt:lpstr>
      <vt:lpstr>Century Gothic</vt:lpstr>
      <vt:lpstr>Consolas</vt:lpstr>
      <vt:lpstr>Courier New</vt:lpstr>
      <vt:lpstr>DejaVu Sans</vt:lpstr>
      <vt:lpstr>Noto Sans CJK SC Regular</vt:lpstr>
      <vt:lpstr>Tahoma</vt:lpstr>
      <vt:lpstr>Times New Roman</vt:lpstr>
      <vt:lpstr>Wingdings</vt:lpstr>
      <vt:lpstr>Trinhlk_template</vt:lpstr>
      <vt:lpstr>Bài 4: Hiểu thêm về Java</vt:lpstr>
      <vt:lpstr>Đã học (Lớp và Đối tượng trong Java)</vt:lpstr>
      <vt:lpstr>Tài liệu tham khảo</vt:lpstr>
      <vt:lpstr>Nội dung</vt:lpstr>
      <vt:lpstr>Các kiểu dữ liệu</vt:lpstr>
      <vt:lpstr>Các kiểu dữ liệu nguyên thủy</vt:lpstr>
      <vt:lpstr>Các kiểu dữ liệu nguyên thủy</vt:lpstr>
      <vt:lpstr>Dữ liệu được lưu ở đâu?</vt:lpstr>
      <vt:lpstr>Các vùng bộ nhớ cho ứng dụng</vt:lpstr>
      <vt:lpstr>Các tham chiếu (references)</vt:lpstr>
      <vt:lpstr>Toán tử New</vt:lpstr>
      <vt:lpstr>Phép gán “=”</vt:lpstr>
      <vt:lpstr>Ví dụ về “new” và “=”</vt:lpstr>
      <vt:lpstr>Ví dụ về “new” và “=”</vt:lpstr>
      <vt:lpstr>Ví dụ về “new” và “=”</vt:lpstr>
      <vt:lpstr>Toán tử “==” và “!=”</vt:lpstr>
      <vt:lpstr>So sánh nội dung đối tượng</vt:lpstr>
      <vt:lpstr>Thu hồi bộ nhớ (Garbage collection)</vt:lpstr>
      <vt:lpstr>GC hoạt động như thế nào?</vt:lpstr>
      <vt:lpstr>GC (tiếp)</vt:lpstr>
      <vt:lpstr>Truyền tham số và nhận giá trị trả về</vt:lpstr>
      <vt:lpstr>Truyền tham số và nhận giá trị trả về</vt:lpstr>
      <vt:lpstr>Truyền tham số và nhận giá trị trả về</vt:lpstr>
      <vt:lpstr>Truyền tham số và nhận giá trị trả về</vt:lpstr>
      <vt:lpstr>Truyền tham số và nhận giá trị trả về</vt:lpstr>
      <vt:lpstr>Truyền tham số và nhận giá trị trả về</vt:lpstr>
      <vt:lpstr>Tham chiếu “this”</vt:lpstr>
      <vt:lpstr>“this” để tham chiếu tường minh </vt:lpstr>
      <vt:lpstr>“this” làm tham số</vt:lpstr>
      <vt:lpstr>“this” là giá trị trả về</vt:lpstr>
      <vt:lpstr>“this” để gọi phương thức tạo</vt:lpstr>
      <vt:lpstr>Nội dung</vt:lpstr>
      <vt:lpstr>Phương thức và thuộc tính tĩnh </vt:lpstr>
      <vt:lpstr>PowerPoint Presentation</vt:lpstr>
      <vt:lpstr>Phương thức và thuộc tính tĩnh</vt:lpstr>
      <vt:lpstr>PowerPoint Presentation</vt:lpstr>
      <vt:lpstr>PowerPoint Presentation</vt:lpstr>
      <vt:lpstr>Gói các lớp đối tượng (package)</vt:lpstr>
      <vt:lpstr>Sử dụng Gói như thế nào?</vt:lpstr>
      <vt:lpstr>Khai báo Gói</vt:lpstr>
      <vt:lpstr>Hai cách sử dụng Gói</vt:lpstr>
      <vt:lpstr>PowerPoint Presentation</vt:lpstr>
      <vt:lpstr>PowerPoint Presentation</vt:lpstr>
      <vt:lpstr>Biên dịch và thực thi</vt:lpstr>
      <vt:lpstr>Hợp thành (composition)</vt:lpstr>
      <vt:lpstr>Hợp thành</vt:lpstr>
      <vt:lpstr>Get/Set thuộc tính tham chiếu</vt:lpstr>
      <vt:lpstr>Get/Set bằng khởi tạo sao chép</vt:lpstr>
      <vt:lpstr>Vào ra từ luồng dữ liệu chuẩn</vt:lpstr>
      <vt:lpstr>Nhập dữ liệu từ luồng vào chuẩn</vt:lpstr>
      <vt:lpstr>Ví dụ: Nhập liệu từ luồng vào chuẩn</vt:lpstr>
      <vt:lpstr>Tham số dòng lệnh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Method for Automated Generating Test Cases for Memory Protection of Autosar OS</dc:title>
  <dc:creator>Trinh Le</dc:creator>
  <cp:lastModifiedBy>Viet Tran Hoang</cp:lastModifiedBy>
  <cp:revision>745</cp:revision>
  <cp:lastPrinted>2016-09-21T04:17:26Z</cp:lastPrinted>
  <dcterms:created xsi:type="dcterms:W3CDTF">2016-05-31T12:51:22Z</dcterms:created>
  <dcterms:modified xsi:type="dcterms:W3CDTF">2025-09-05T15:40:34Z</dcterms:modified>
</cp:coreProperties>
</file>