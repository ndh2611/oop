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06" r:id="rId3"/>
    <p:sldId id="284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257" r:id="rId44"/>
  </p:sldIdLst>
  <p:sldSz cx="9906000" cy="6858000" type="A4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5409" autoAdjust="0"/>
  </p:normalViewPr>
  <p:slideViewPr>
    <p:cSldViewPr>
      <p:cViewPr varScale="1">
        <p:scale>
          <a:sx n="63" d="100"/>
          <a:sy n="63" d="100"/>
        </p:scale>
        <p:origin x="1452" y="60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46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t Tran Hoang" userId="c38b94eb56962286" providerId="LiveId" clId="{A1D5F632-24FF-47AC-A36B-102BB2E28121}"/>
    <pc:docChg chg="modSld">
      <pc:chgData name="Viet Tran Hoang" userId="c38b94eb56962286" providerId="LiveId" clId="{A1D5F632-24FF-47AC-A36B-102BB2E28121}" dt="2021-08-22T09:39:52.292" v="0" actId="6549"/>
      <pc:docMkLst>
        <pc:docMk/>
      </pc:docMkLst>
      <pc:sldChg chg="modSp mod">
        <pc:chgData name="Viet Tran Hoang" userId="c38b94eb56962286" providerId="LiveId" clId="{A1D5F632-24FF-47AC-A36B-102BB2E28121}" dt="2021-08-22T09:39:52.292" v="0" actId="6549"/>
        <pc:sldMkLst>
          <pc:docMk/>
          <pc:sldMk cId="3202534133" sldId="285"/>
        </pc:sldMkLst>
        <pc:spChg chg="mod">
          <ac:chgData name="Viet Tran Hoang" userId="c38b94eb56962286" providerId="LiveId" clId="{A1D5F632-24FF-47AC-A36B-102BB2E28121}" dt="2021-08-22T09:39:52.292" v="0" actId="6549"/>
          <ac:spMkLst>
            <pc:docMk/>
            <pc:sldMk cId="3202534133" sldId="285"/>
            <ac:spMk id="717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748AC-93B4-487F-A96C-BA994DE4E7E8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D8547-35A4-4EEA-B872-4474869B3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410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2CEB1-7062-46D9-BB31-314D962DF5FD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692150"/>
            <a:ext cx="5000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78E64-6641-4E4F-82C1-AAE95B32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906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4725" y="692150"/>
            <a:ext cx="50006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78E64-6641-4E4F-82C1-AAE95B32853E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</p:spTree>
    <p:extLst>
      <p:ext uri="{BB962C8B-B14F-4D97-AF65-F5344CB8AC3E}">
        <p14:creationId xmlns:p14="http://schemas.microsoft.com/office/powerpoint/2010/main" val="234868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15D71F6-9571-4A24-9964-7868755989C7}" type="slidenum">
              <a:rPr lang="en-US"/>
              <a:pPr/>
              <a:t>3</a:t>
            </a:fld>
            <a:endParaRPr lang="en-US"/>
          </a:p>
        </p:txBody>
      </p:sp>
      <p:sp>
        <p:nvSpPr>
          <p:cNvPr id="307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7048BB5-30B1-4C2E-86BE-38199944F80A}" type="slidenum">
              <a:rPr lang="en-US"/>
              <a:pPr/>
              <a:t>4</a:t>
            </a:fld>
            <a:endParaRPr lang="en-US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H</a:t>
            </a:r>
            <a:r>
              <a:rPr lang="en-US" baseline="0" dirty="0" err="1"/>
              <a:t>ai</a:t>
            </a:r>
            <a:r>
              <a:rPr lang="en-US" baseline="0" dirty="0"/>
              <a:t> </a:t>
            </a:r>
            <a:r>
              <a:rPr lang="en-US" baseline="0" dirty="0" err="1"/>
              <a:t>lược</a:t>
            </a:r>
            <a:r>
              <a:rPr lang="en-US" baseline="0" dirty="0"/>
              <a:t> </a:t>
            </a:r>
            <a:r>
              <a:rPr lang="en-US" baseline="0" dirty="0" err="1"/>
              <a:t>đồ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chính</a:t>
            </a:r>
            <a:r>
              <a:rPr lang="en-US" baseline="0" dirty="0"/>
              <a:t>: </a:t>
            </a:r>
            <a:r>
              <a:rPr lang="en-US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khai</a:t>
            </a:r>
            <a:r>
              <a:rPr lang="en-US" baseline="0" dirty="0"/>
              <a:t> </a:t>
            </a:r>
            <a:r>
              <a:rPr lang="en-US" baseline="0" dirty="0" err="1"/>
              <a:t>báo</a:t>
            </a:r>
            <a:r>
              <a:rPr lang="en-US" baseline="0" dirty="0"/>
              <a:t> (declarative)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thị</a:t>
            </a:r>
            <a:r>
              <a:rPr lang="en-US" baseline="0" dirty="0"/>
              <a:t> </a:t>
            </a:r>
            <a:r>
              <a:rPr lang="en-US" baseline="0" dirty="0" err="1"/>
              <a:t>lệnh</a:t>
            </a:r>
            <a:r>
              <a:rPr lang="en-US" baseline="0" dirty="0"/>
              <a:t> (imperative).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D3CA483-6F97-4062-9299-9B82069017A1}" type="slidenum">
              <a:rPr lang="en-US"/>
              <a:pPr/>
              <a:t>5</a:t>
            </a:fld>
            <a:endParaRPr lang="en-US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F020A4-2485-4834-B51E-2D9EA424CA69}" type="slidenum">
              <a:rPr lang="en-US"/>
              <a:pPr/>
              <a:t>6</a:t>
            </a:fld>
            <a:endParaRPr lang="en-US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phi </a:t>
            </a:r>
            <a:r>
              <a:rPr lang="en-US" baseline="0" dirty="0" err="1"/>
              <a:t>cấu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với</a:t>
            </a:r>
            <a:r>
              <a:rPr lang="en-US" baseline="0" dirty="0"/>
              <a:t> </a:t>
            </a:r>
            <a:r>
              <a:rPr lang="en-US" baseline="0" dirty="0" err="1"/>
              <a:t>ngôn</a:t>
            </a:r>
            <a:r>
              <a:rPr lang="en-US" baseline="0" dirty="0"/>
              <a:t> </a:t>
            </a:r>
            <a:r>
              <a:rPr lang="en-US" baseline="0" dirty="0" err="1"/>
              <a:t>ngữ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Assembly.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6FE6A81-8FEA-4DC8-A572-DF6D3193759D}" type="slidenum">
              <a:rPr lang="en-US"/>
              <a:pPr/>
              <a:t>7</a:t>
            </a:fld>
            <a:endParaRPr lang="en-US"/>
          </a:p>
        </p:txBody>
      </p:sp>
      <p:sp>
        <p:nvSpPr>
          <p:cNvPr id="358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B18657-ED24-4055-A0C7-3FA717F5761A}" type="slidenum">
              <a:rPr lang="en-US"/>
              <a:pPr/>
              <a:t>8</a:t>
            </a:fld>
            <a:endParaRPr lang="en-US"/>
          </a:p>
        </p:txBody>
      </p:sp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E5E89EC-AE6C-4188-93CC-03D5124F51B2}" type="slidenum">
              <a:rPr lang="en-US"/>
              <a:pPr/>
              <a:t>9</a:t>
            </a:fld>
            <a:endParaRPr lang="en-US"/>
          </a:p>
        </p:txBody>
      </p:sp>
      <p:sp>
        <p:nvSpPr>
          <p:cNvPr id="378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logic </a:t>
            </a:r>
            <a:r>
              <a:rPr lang="en-US" baseline="0" dirty="0" err="1"/>
              <a:t>bằng</a:t>
            </a:r>
            <a:r>
              <a:rPr lang="en-US" baseline="0" dirty="0"/>
              <a:t> </a:t>
            </a:r>
            <a:r>
              <a:rPr lang="en-US" baseline="0" dirty="0" err="1"/>
              <a:t>ngôn</a:t>
            </a:r>
            <a:r>
              <a:rPr lang="en-US" baseline="0" dirty="0"/>
              <a:t> </a:t>
            </a:r>
            <a:r>
              <a:rPr lang="en-US" baseline="0" dirty="0" err="1"/>
              <a:t>ngữ</a:t>
            </a:r>
            <a:r>
              <a:rPr lang="en-US" baseline="0" dirty="0"/>
              <a:t> Prolog.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74DAB9-0821-4F8A-AB4A-7A51D932FD4B}" type="slidenum">
              <a:rPr lang="en-US"/>
              <a:pPr/>
              <a:t>10</a:t>
            </a:fld>
            <a:endParaRPr lang="en-US"/>
          </a:p>
        </p:txBody>
      </p:sp>
      <p:sp>
        <p:nvSpPr>
          <p:cNvPr id="389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Ví</a:t>
            </a:r>
            <a:r>
              <a:rPr lang="en-US" baseline="0" dirty="0"/>
              <a:t> </a:t>
            </a:r>
            <a:r>
              <a:rPr lang="en-US" baseline="0" dirty="0" err="1"/>
              <a:t>dụ</a:t>
            </a:r>
            <a:r>
              <a:rPr lang="en-US" baseline="0" dirty="0"/>
              <a:t> </a:t>
            </a:r>
            <a:r>
              <a:rPr lang="en-US" baseline="0" dirty="0" err="1"/>
              <a:t>tìm</a:t>
            </a:r>
            <a:r>
              <a:rPr lang="en-US" baseline="0" dirty="0"/>
              <a:t> </a:t>
            </a:r>
            <a:r>
              <a:rPr lang="en-US" baseline="0" dirty="0" err="1"/>
              <a:t>ước</a:t>
            </a:r>
            <a:r>
              <a:rPr lang="en-US" baseline="0" dirty="0"/>
              <a:t> </a:t>
            </a:r>
            <a:r>
              <a:rPr lang="en-US" baseline="0" dirty="0" err="1"/>
              <a:t>chung</a:t>
            </a:r>
            <a:r>
              <a:rPr lang="en-US" baseline="0" dirty="0"/>
              <a:t> </a:t>
            </a:r>
            <a:r>
              <a:rPr lang="en-US" baseline="0" dirty="0" err="1"/>
              <a:t>lớn</a:t>
            </a:r>
            <a:r>
              <a:rPr lang="en-US" baseline="0" dirty="0"/>
              <a:t> </a:t>
            </a:r>
            <a:r>
              <a:rPr lang="en-US" baseline="0" dirty="0" err="1"/>
              <a:t>nhất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viết</a:t>
            </a:r>
            <a:r>
              <a:rPr lang="en-US" baseline="0" dirty="0"/>
              <a:t> </a:t>
            </a:r>
            <a:r>
              <a:rPr lang="en-US" baseline="0" dirty="0" err="1"/>
              <a:t>bằng</a:t>
            </a:r>
            <a:r>
              <a:rPr lang="en-US" baseline="0" dirty="0"/>
              <a:t> </a:t>
            </a:r>
            <a:r>
              <a:rPr lang="en-US" baseline="0" dirty="0" err="1"/>
              <a:t>ngôn</a:t>
            </a:r>
            <a:r>
              <a:rPr lang="en-US" baseline="0" dirty="0"/>
              <a:t> </a:t>
            </a:r>
            <a:r>
              <a:rPr lang="en-US" baseline="0" dirty="0" err="1"/>
              <a:t>ngữ</a:t>
            </a:r>
            <a:r>
              <a:rPr lang="en-US" baseline="0" dirty="0"/>
              <a:t> Python </a:t>
            </a:r>
            <a:r>
              <a:rPr lang="en-US" baseline="0" dirty="0" err="1"/>
              <a:t>theo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pháp</a:t>
            </a:r>
            <a:r>
              <a:rPr lang="en-US" baseline="0" dirty="0"/>
              <a:t> </a:t>
            </a:r>
            <a:r>
              <a:rPr lang="en-US" baseline="0" dirty="0" err="1"/>
              <a:t>lập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hàm</a:t>
            </a:r>
            <a:r>
              <a:rPr lang="en-US" baseline="0" dirty="0"/>
              <a:t>.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A2D21D-95A8-4C2B-A933-413B181E6197}" type="slidenum">
              <a:rPr lang="en-US"/>
              <a:pPr/>
              <a:t>11</a:t>
            </a:fld>
            <a:endParaRPr 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B84BD6E-7985-4074-BED4-07189142E935}" type="slidenum">
              <a:rPr lang="en-US"/>
              <a:pPr/>
              <a:t>12</a:t>
            </a:fld>
            <a:endParaRPr lang="en-US"/>
          </a:p>
        </p:txBody>
      </p:sp>
      <p:sp>
        <p:nvSpPr>
          <p:cNvPr id="409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7C4736-6BCB-44AC-A1E2-A7349755EBB7}" type="slidenum">
              <a:rPr lang="en-US"/>
              <a:pPr/>
              <a:t>13</a:t>
            </a:fld>
            <a:endParaRPr lang="en-US"/>
          </a:p>
        </p:txBody>
      </p:sp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Trừu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hóa</a:t>
            </a:r>
            <a:r>
              <a:rPr lang="en-US" baseline="0" dirty="0"/>
              <a:t>: </a:t>
            </a:r>
            <a:r>
              <a:rPr lang="en-US" baseline="0" dirty="0" err="1"/>
              <a:t>tập</a:t>
            </a:r>
            <a:r>
              <a:rPr lang="en-US" baseline="0" dirty="0"/>
              <a:t> </a:t>
            </a:r>
            <a:r>
              <a:rPr lang="en-US" baseline="0" dirty="0" err="1"/>
              <a:t>trung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đặc</a:t>
            </a:r>
            <a:r>
              <a:rPr lang="en-US" baseline="0" dirty="0"/>
              <a:t> </a:t>
            </a:r>
            <a:r>
              <a:rPr lang="en-US" baseline="0" dirty="0" err="1"/>
              <a:t>điểm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yếu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thực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,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phép</a:t>
            </a:r>
            <a:r>
              <a:rPr lang="en-US" baseline="0" dirty="0"/>
              <a:t> </a:t>
            </a:r>
            <a:r>
              <a:rPr lang="en-US" baseline="0" dirty="0" err="1"/>
              <a:t>phân</a:t>
            </a:r>
            <a:r>
              <a:rPr lang="en-US" baseline="0" dirty="0"/>
              <a:t> </a:t>
            </a:r>
            <a:r>
              <a:rPr lang="en-US" baseline="0" dirty="0" err="1"/>
              <a:t>biệt</a:t>
            </a:r>
            <a:r>
              <a:rPr lang="en-US" baseline="0" dirty="0"/>
              <a:t> </a:t>
            </a:r>
            <a:r>
              <a:rPr lang="en-US" baseline="0" dirty="0" err="1"/>
              <a:t>thực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với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nhóm</a:t>
            </a:r>
            <a:r>
              <a:rPr lang="en-US" baseline="0" dirty="0"/>
              <a:t> </a:t>
            </a:r>
            <a:r>
              <a:rPr lang="en-US" baseline="0" dirty="0" err="1"/>
              <a:t>thực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.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52698E-86E1-41F6-B159-037F30BF9C9C}" type="slidenum">
              <a:rPr lang="en-US"/>
              <a:pPr/>
              <a:t>14</a:t>
            </a:fld>
            <a:endParaRPr lang="en-US"/>
          </a:p>
        </p:txBody>
      </p:sp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8F0C2BC-5B47-4965-82BC-7ECDB9CA5FD2}" type="slidenum">
              <a:rPr lang="en-US"/>
              <a:pPr/>
              <a:t>15</a:t>
            </a:fld>
            <a:endParaRPr lang="en-US"/>
          </a:p>
        </p:txBody>
      </p:sp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E5576C-819E-40EE-BF73-A03782470CB1}" type="slidenum">
              <a:rPr lang="en-US"/>
              <a:pPr/>
              <a:t>16</a:t>
            </a:fld>
            <a:endParaRPr lang="en-US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Biến</a:t>
            </a:r>
            <a:r>
              <a:rPr lang="en-US" baseline="0" dirty="0"/>
              <a:t> today </a:t>
            </a:r>
            <a:r>
              <a:rPr lang="en-US" baseline="0" dirty="0" err="1"/>
              <a:t>lưu</a:t>
            </a:r>
            <a:r>
              <a:rPr lang="en-US" baseline="0" dirty="0"/>
              <a:t> “</a:t>
            </a:r>
            <a:r>
              <a:rPr lang="en-US" baseline="0" dirty="0" err="1"/>
              <a:t>địa</a:t>
            </a:r>
            <a:r>
              <a:rPr lang="en-US" baseline="0" dirty="0"/>
              <a:t> </a:t>
            </a:r>
            <a:r>
              <a:rPr lang="en-US" baseline="0" dirty="0" err="1"/>
              <a:t>chỉ</a:t>
            </a:r>
            <a:r>
              <a:rPr lang="en-US" baseline="0" dirty="0"/>
              <a:t>”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tham</a:t>
            </a:r>
            <a:r>
              <a:rPr lang="en-US" baseline="0" dirty="0"/>
              <a:t> </a:t>
            </a:r>
            <a:r>
              <a:rPr lang="en-US" baseline="0" dirty="0" err="1"/>
              <a:t>chiếu</a:t>
            </a:r>
            <a:r>
              <a:rPr lang="en-US" baseline="0" dirty="0"/>
              <a:t> </a:t>
            </a:r>
            <a:r>
              <a:rPr lang="en-US" baseline="0" dirty="0" err="1"/>
              <a:t>đến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Date.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lưu</a:t>
            </a:r>
            <a:r>
              <a:rPr lang="en-US" baseline="0" dirty="0"/>
              <a:t>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vùng</a:t>
            </a:r>
            <a:r>
              <a:rPr lang="en-US" baseline="0" dirty="0"/>
              <a:t> </a:t>
            </a:r>
            <a:r>
              <a:rPr lang="en-US" baseline="0" dirty="0" err="1"/>
              <a:t>nhớ</a:t>
            </a:r>
            <a:r>
              <a:rPr lang="en-US" baseline="0" dirty="0"/>
              <a:t> Heap.</a:t>
            </a: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45F44BF-66BC-4516-8066-61C482F40520}" type="slidenum">
              <a:rPr lang="en-US"/>
              <a:pPr/>
              <a:t>17</a:t>
            </a:fld>
            <a:endParaRPr lang="en-US"/>
          </a:p>
        </p:txBody>
      </p:sp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4F08C1C-76C5-4F49-B9A7-78C54F769C81}" type="slidenum">
              <a:rPr lang="en-US"/>
              <a:pPr/>
              <a:t>18</a:t>
            </a:fld>
            <a:endParaRPr lang="en-US"/>
          </a:p>
        </p:txBody>
      </p:sp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AFC4383-4EDA-48D8-8349-4BE2C29AD458}" type="slidenum">
              <a:rPr lang="en-US"/>
              <a:pPr/>
              <a:t>19</a:t>
            </a:fld>
            <a:endParaRPr lang="en-US"/>
          </a:p>
        </p:txBody>
      </p:sp>
      <p:sp>
        <p:nvSpPr>
          <p:cNvPr id="481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73F0B2A-A21E-4900-890F-6435759595CE}" type="slidenum">
              <a:rPr lang="en-US"/>
              <a:pPr/>
              <a:t>20</a:t>
            </a:fld>
            <a:endParaRPr lang="en-US"/>
          </a:p>
        </p:txBody>
      </p:sp>
      <p:sp>
        <p:nvSpPr>
          <p:cNvPr id="491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6835BB-5960-4621-840D-CE05AE6205F8}" type="slidenum">
              <a:rPr lang="en-US"/>
              <a:pPr/>
              <a:t>21</a:t>
            </a:fld>
            <a:endParaRPr lang="en-US"/>
          </a:p>
        </p:txBody>
      </p:sp>
      <p:sp>
        <p:nvSpPr>
          <p:cNvPr id="501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371D10C-F9CF-4587-9880-C14C7A5C4564}" type="slidenum">
              <a:rPr lang="en-US"/>
              <a:pPr/>
              <a:t>22</a:t>
            </a:fld>
            <a:endParaRPr lang="en-US"/>
          </a:p>
        </p:txBody>
      </p:sp>
      <p:sp>
        <p:nvSpPr>
          <p:cNvPr id="512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91FA18D-F636-4460-A802-EAFEA81A914C}" type="slidenum">
              <a:rPr lang="en-US"/>
              <a:pPr/>
              <a:t>23</a:t>
            </a:fld>
            <a:endParaRPr lang="en-US"/>
          </a:p>
        </p:txBody>
      </p:sp>
      <p:sp>
        <p:nvSpPr>
          <p:cNvPr id="522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58D041-678C-44D4-A944-2D6AB6D7E009}" type="slidenum">
              <a:rPr lang="en-US"/>
              <a:pPr/>
              <a:t>24</a:t>
            </a:fld>
            <a:endParaRPr lang="en-US"/>
          </a:p>
        </p:txBody>
      </p:sp>
      <p:sp>
        <p:nvSpPr>
          <p:cNvPr id="307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6313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01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61962C8-A633-4CBD-A15B-3B9C83C1D8E4}" type="slidenum">
              <a:rPr lang="en-US"/>
              <a:pPr/>
              <a:t>25</a:t>
            </a:fld>
            <a:endParaRPr lang="en-US"/>
          </a:p>
        </p:txBody>
      </p:sp>
      <p:sp>
        <p:nvSpPr>
          <p:cNvPr id="317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45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0BBCE80-5F74-4911-BF0E-E4FDD75EBB7F}" type="slidenum">
              <a:rPr lang="en-US"/>
              <a:pPr/>
              <a:t>26</a:t>
            </a:fld>
            <a:endParaRPr lang="en-US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6313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74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71213E-35BD-42CD-A710-94172A1E7A4F}" type="slidenum">
              <a:rPr lang="en-US"/>
              <a:pPr/>
              <a:t>27</a:t>
            </a:fld>
            <a:endParaRPr lang="en-US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1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5507F27-3CB2-49F2-A5FA-C32709423F53}" type="slidenum">
              <a:rPr lang="en-US"/>
              <a:pPr/>
              <a:t>28</a:t>
            </a:fld>
            <a:endParaRPr lang="en-US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3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DAB601C-67A6-4999-BA50-3633C63B6234}" type="slidenum">
              <a:rPr lang="en-US"/>
              <a:pPr/>
              <a:t>29</a:t>
            </a:fld>
            <a:endParaRPr lang="en-US"/>
          </a:p>
        </p:txBody>
      </p:sp>
      <p:sp>
        <p:nvSpPr>
          <p:cNvPr id="358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39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E9E1D07-0CF9-4F2E-9B11-526D7E2978CD}" type="slidenum">
              <a:rPr lang="en-US"/>
              <a:pPr/>
              <a:t>30</a:t>
            </a:fld>
            <a:endParaRPr lang="en-US"/>
          </a:p>
        </p:txBody>
      </p:sp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Lỗi</a:t>
            </a:r>
            <a:r>
              <a:rPr lang="en-US" baseline="0" dirty="0"/>
              <a:t> ở </a:t>
            </a:r>
            <a:r>
              <a:rPr lang="en-US" baseline="0" dirty="0" err="1"/>
              <a:t>lệnh</a:t>
            </a:r>
            <a:r>
              <a:rPr lang="en-US" baseline="0" dirty="0"/>
              <a:t> </a:t>
            </a:r>
            <a:r>
              <a:rPr lang="en-US" baseline="0" dirty="0" err="1"/>
              <a:t>g</a:t>
            </a:r>
            <a:r>
              <a:rPr lang="en-US" dirty="0" err="1"/>
              <a:t>án</a:t>
            </a:r>
            <a:r>
              <a:rPr lang="en-US" baseline="0" dirty="0"/>
              <a:t> </a:t>
            </a:r>
            <a:r>
              <a:rPr lang="en-US" baseline="0" dirty="0" err="1"/>
              <a:t>giá</a:t>
            </a:r>
            <a:r>
              <a:rPr lang="en-US" baseline="0" dirty="0"/>
              <a:t> </a:t>
            </a:r>
            <a:r>
              <a:rPr lang="en-US" baseline="0" dirty="0" err="1"/>
              <a:t>trị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dirty="0" err="1"/>
              <a:t>d.year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baseline="0" dirty="0"/>
              <a:t> </a:t>
            </a:r>
            <a:r>
              <a:rPr lang="en-US" baseline="0" dirty="0" err="1"/>
              <a:t>từ</a:t>
            </a:r>
            <a:r>
              <a:rPr lang="en-US" baseline="0" dirty="0"/>
              <a:t> </a:t>
            </a:r>
            <a:r>
              <a:rPr lang="en-US" baseline="0" dirty="0" err="1"/>
              <a:t>ngoài</a:t>
            </a:r>
            <a:r>
              <a:rPr lang="en-US" baseline="0" dirty="0"/>
              <a:t> </a:t>
            </a:r>
            <a:r>
              <a:rPr lang="en-US" baseline="0" dirty="0" err="1"/>
              <a:t>lớp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phép</a:t>
            </a:r>
            <a:r>
              <a:rPr lang="en-US" baseline="0" dirty="0"/>
              <a:t> </a:t>
            </a:r>
            <a:r>
              <a:rPr lang="en-US" baseline="0" dirty="0" err="1"/>
              <a:t>t</a:t>
            </a:r>
            <a:r>
              <a:rPr lang="en-US" dirty="0" err="1"/>
              <a:t>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baseline="0" dirty="0"/>
              <a:t> </a:t>
            </a:r>
            <a:r>
              <a:rPr lang="en-US" baseline="0" dirty="0" err="1"/>
              <a:t>trực</a:t>
            </a:r>
            <a:r>
              <a:rPr lang="en-US" baseline="0" dirty="0"/>
              <a:t> </a:t>
            </a:r>
            <a:r>
              <a:rPr lang="en-US" baseline="0" dirty="0" err="1"/>
              <a:t>tiếp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thuộc</a:t>
            </a:r>
            <a:r>
              <a:rPr lang="en-US" baseline="0" dirty="0"/>
              <a:t> </a:t>
            </a:r>
            <a:r>
              <a:rPr lang="en-US" baseline="0" dirty="0" err="1"/>
              <a:t>tính</a:t>
            </a:r>
            <a:r>
              <a:rPr lang="en-US" baseline="0" dirty="0"/>
              <a:t> private “year”.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9428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F62F83A-495F-4A8D-B671-B25B0707B792}" type="slidenum">
              <a:rPr lang="en-US"/>
              <a:pPr/>
              <a:t>31</a:t>
            </a:fld>
            <a:endParaRPr lang="en-US"/>
          </a:p>
        </p:txBody>
      </p:sp>
      <p:sp>
        <p:nvSpPr>
          <p:cNvPr id="378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792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C3F4176-2F94-4E17-AFB8-25BE8D94C904}" type="slidenum">
              <a:rPr lang="en-US"/>
              <a:pPr/>
              <a:t>32</a:t>
            </a:fld>
            <a:endParaRPr lang="en-US"/>
          </a:p>
        </p:txBody>
      </p:sp>
      <p:sp>
        <p:nvSpPr>
          <p:cNvPr id="389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12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2225658-CCC5-4B38-B6AC-28A22FAFC04F}" type="slidenum">
              <a:rPr lang="en-US"/>
              <a:pPr/>
              <a:t>33</a:t>
            </a:fld>
            <a:endParaRPr 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01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F7FE751-61CF-4DDF-8A81-913407F294F8}" type="slidenum">
              <a:rPr lang="en-US"/>
              <a:pPr/>
              <a:t>34</a:t>
            </a:fld>
            <a:endParaRPr lang="en-US"/>
          </a:p>
        </p:txBody>
      </p:sp>
      <p:sp>
        <p:nvSpPr>
          <p:cNvPr id="409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283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CA2708B-0EE7-486E-BEDF-9E3F5FDA23CE}" type="slidenum">
              <a:rPr lang="en-US"/>
              <a:pPr/>
              <a:t>35</a:t>
            </a:fld>
            <a:endParaRPr lang="en-US"/>
          </a:p>
        </p:txBody>
      </p:sp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baseline="0" dirty="0"/>
              <a:t> </a:t>
            </a:r>
            <a:r>
              <a:rPr lang="en-US" baseline="0" dirty="0" err="1"/>
              <a:t>MyDate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err="1"/>
              <a:t>khai</a:t>
            </a:r>
            <a:r>
              <a:rPr lang="en-US" baseline="0"/>
              <a:t> báo hàm </a:t>
            </a:r>
            <a:r>
              <a:rPr lang="en-US" baseline="0" dirty="0" err="1"/>
              <a:t>khởi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, </a:t>
            </a:r>
            <a:r>
              <a:rPr lang="en-US" baseline="0" dirty="0" err="1"/>
              <a:t>hàm</a:t>
            </a:r>
            <a:r>
              <a:rPr lang="en-US" baseline="0" dirty="0"/>
              <a:t> </a:t>
            </a:r>
            <a:r>
              <a:rPr lang="en-US" baseline="0" dirty="0" err="1"/>
              <a:t>khởi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</a:t>
            </a:r>
            <a:r>
              <a:rPr lang="en-US" baseline="0" dirty="0" err="1"/>
              <a:t>ngầm</a:t>
            </a:r>
            <a:r>
              <a:rPr lang="en-US" baseline="0" dirty="0"/>
              <a:t> </a:t>
            </a:r>
            <a:r>
              <a:rPr lang="en-US" baseline="0" dirty="0" err="1"/>
              <a:t>định</a:t>
            </a:r>
            <a:r>
              <a:rPr lang="en-US" baseline="0" dirty="0"/>
              <a:t>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gọi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79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019E7FE-D9EF-47F4-B8B8-AAF65D58CBE6}" type="slidenum">
              <a:rPr lang="en-US"/>
              <a:pPr/>
              <a:t>36</a:t>
            </a:fld>
            <a:endParaRPr lang="en-US"/>
          </a:p>
        </p:txBody>
      </p:sp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9533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8CCE9E0-5410-4DEF-9172-98EB1F7A0A95}" type="slidenum">
              <a:rPr lang="en-US"/>
              <a:pPr/>
              <a:t>37</a:t>
            </a:fld>
            <a:endParaRPr lang="en-US"/>
          </a:p>
        </p:txBody>
      </p:sp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094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DFCCEB2-07A8-4506-944A-5404C8A377A2}" type="slidenum">
              <a:rPr lang="en-US"/>
              <a:pPr/>
              <a:t>38</a:t>
            </a:fld>
            <a:endParaRPr lang="en-US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baseline="0" dirty="0"/>
              <a:t>Ở </a:t>
            </a:r>
            <a:r>
              <a:rPr lang="en-US" baseline="0" dirty="0" err="1"/>
              <a:t>lệnh</a:t>
            </a:r>
            <a:r>
              <a:rPr lang="en-US" baseline="0" dirty="0"/>
              <a:t> </a:t>
            </a:r>
            <a:r>
              <a:rPr lang="en-US" baseline="0" dirty="0" err="1"/>
              <a:t>gán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biến</a:t>
            </a:r>
            <a:r>
              <a:rPr lang="en-US" baseline="0" dirty="0"/>
              <a:t> d1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xuất</a:t>
            </a:r>
            <a:r>
              <a:rPr lang="en-US" baseline="0" dirty="0"/>
              <a:t> </a:t>
            </a:r>
            <a:r>
              <a:rPr lang="en-US" baseline="0" dirty="0" err="1"/>
              <a:t>hiện</a:t>
            </a:r>
            <a:r>
              <a:rPr lang="en-US" baseline="0" dirty="0"/>
              <a:t> </a:t>
            </a:r>
            <a:r>
              <a:rPr lang="en-US" baseline="0" dirty="0" err="1"/>
              <a:t>lỗi</a:t>
            </a:r>
            <a:r>
              <a:rPr lang="en-US" baseline="0" dirty="0"/>
              <a:t> </a:t>
            </a:r>
            <a:r>
              <a:rPr lang="en-US" baseline="0" dirty="0" err="1"/>
              <a:t>vì</a:t>
            </a:r>
            <a:r>
              <a:rPr lang="en-US" baseline="0" dirty="0"/>
              <a:t> </a:t>
            </a:r>
            <a:r>
              <a:rPr lang="en-US" baseline="0" dirty="0" err="1"/>
              <a:t>hàm</a:t>
            </a:r>
            <a:r>
              <a:rPr lang="en-US" baseline="0" dirty="0"/>
              <a:t> </a:t>
            </a:r>
            <a:r>
              <a:rPr lang="en-US" baseline="0" dirty="0" err="1"/>
              <a:t>khởi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</a:t>
            </a:r>
            <a:r>
              <a:rPr lang="en-US" baseline="0" dirty="0" err="1"/>
              <a:t>mặc</a:t>
            </a:r>
            <a:r>
              <a:rPr lang="en-US" baseline="0" dirty="0"/>
              <a:t> </a:t>
            </a:r>
            <a:r>
              <a:rPr lang="en-US" baseline="0" dirty="0" err="1"/>
              <a:t>định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lớp</a:t>
            </a:r>
            <a:r>
              <a:rPr lang="en-US" baseline="0" dirty="0"/>
              <a:t> </a:t>
            </a:r>
            <a:r>
              <a:rPr lang="en-US" baseline="0" dirty="0" err="1"/>
              <a:t>MyDate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khai</a:t>
            </a:r>
            <a:r>
              <a:rPr lang="en-US" baseline="0" dirty="0"/>
              <a:t> </a:t>
            </a:r>
            <a:r>
              <a:rPr lang="en-US" baseline="0" dirty="0" err="1"/>
              <a:t>báo</a:t>
            </a:r>
            <a:r>
              <a:rPr lang="en-US" baseline="0" dirty="0"/>
              <a:t> </a:t>
            </a:r>
            <a:r>
              <a:rPr lang="en-US" baseline="0" dirty="0" err="1"/>
              <a:t>tường</a:t>
            </a:r>
            <a:r>
              <a:rPr lang="en-US" baseline="0" dirty="0"/>
              <a:t> minh.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51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87092F9-C586-4300-96F0-F3509E3CA01E}" type="slidenum">
              <a:rPr lang="en-US"/>
              <a:pPr/>
              <a:t>39</a:t>
            </a:fld>
            <a:endParaRPr lang="en-US"/>
          </a:p>
        </p:txBody>
      </p:sp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38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881E544-3A1D-4A10-BF30-116114919A9B}" type="slidenum">
              <a:rPr lang="en-US"/>
              <a:pPr/>
              <a:t>40</a:t>
            </a:fld>
            <a:endParaRPr lang="en-US"/>
          </a:p>
        </p:txBody>
      </p:sp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Ở</a:t>
            </a:r>
            <a:r>
              <a:rPr lang="en-US" baseline="0" dirty="0"/>
              <a:t> </a:t>
            </a:r>
            <a:r>
              <a:rPr lang="en-US" baseline="0" dirty="0" err="1"/>
              <a:t>lệnh</a:t>
            </a:r>
            <a:r>
              <a:rPr lang="en-US" baseline="0" dirty="0"/>
              <a:t>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openDay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(d);</a:t>
            </a:r>
            <a:endParaRPr lang="en-US" dirty="0"/>
          </a:p>
          <a:p>
            <a:r>
              <a:rPr lang="en-US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openDay</a:t>
            </a:r>
            <a:r>
              <a:rPr lang="en-US" baseline="0" dirty="0"/>
              <a:t>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khởi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</a:t>
            </a:r>
            <a:r>
              <a:rPr lang="en-US" baseline="0" dirty="0" err="1"/>
              <a:t>bằng</a:t>
            </a:r>
            <a:r>
              <a:rPr lang="en-US" baseline="0" dirty="0"/>
              <a:t> </a:t>
            </a:r>
            <a:r>
              <a:rPr lang="en-US" baseline="0" dirty="0" err="1"/>
              <a:t>cách</a:t>
            </a:r>
            <a:r>
              <a:rPr lang="en-US" baseline="0" dirty="0"/>
              <a:t> </a:t>
            </a:r>
            <a:r>
              <a:rPr lang="en-US" baseline="0" dirty="0" err="1"/>
              <a:t>thực</a:t>
            </a:r>
            <a:r>
              <a:rPr lang="en-US" baseline="0" dirty="0"/>
              <a:t> </a:t>
            </a:r>
            <a:r>
              <a:rPr lang="en-US" baseline="0" dirty="0" err="1"/>
              <a:t>hiện</a:t>
            </a:r>
            <a:r>
              <a:rPr lang="en-US" baseline="0" dirty="0"/>
              <a:t> </a:t>
            </a:r>
            <a:r>
              <a:rPr lang="en-US" baseline="0" dirty="0" err="1"/>
              <a:t>sao</a:t>
            </a:r>
            <a:r>
              <a:rPr lang="en-US" baseline="0" dirty="0"/>
              <a:t> </a:t>
            </a:r>
            <a:r>
              <a:rPr lang="en-US" baseline="0" dirty="0" err="1"/>
              <a:t>chép</a:t>
            </a:r>
            <a:r>
              <a:rPr lang="en-US" baseline="0" dirty="0"/>
              <a:t> </a:t>
            </a:r>
            <a:r>
              <a:rPr lang="en-US" baseline="0" dirty="0" err="1"/>
              <a:t>từ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572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5955E75-3EE2-4B29-BA2E-469A505CE402}" type="slidenum">
              <a:rPr lang="en-US"/>
              <a:pPr/>
              <a:t>41</a:t>
            </a:fld>
            <a:endParaRPr lang="en-US"/>
          </a:p>
        </p:txBody>
      </p:sp>
      <p:sp>
        <p:nvSpPr>
          <p:cNvPr id="481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099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B0D6EA8-BE82-46FE-AA57-237992377D07}" type="slidenum">
              <a:rPr lang="en-US"/>
              <a:pPr/>
              <a:t>42</a:t>
            </a:fld>
            <a:endParaRPr lang="en-US"/>
          </a:p>
        </p:txBody>
      </p:sp>
      <p:sp>
        <p:nvSpPr>
          <p:cNvPr id="491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2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 Khanh Trinh\Desktop\2267_physics_lessons\template_internal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76400"/>
            <a:ext cx="84201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1148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2" descr="C:\Users\Trinh Le\Desktop\slider-blue-ba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659505"/>
            <a:ext cx="8915400" cy="5143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91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 marL="1143000" indent="-228600">
              <a:buFont typeface="Courier New" panose="02070309020205020404" pitchFamily="49" charset="0"/>
              <a:buChar char="o"/>
              <a:defRPr sz="2400"/>
            </a:lvl3pPr>
            <a:lvl4pPr marL="1600200" indent="-228600">
              <a:buFont typeface="Wingdings" panose="05000000000000000000" pitchFamily="2" charset="2"/>
              <a:buChar char="Ø"/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EBC0-88DB-4BC3-9FC2-A38FA07C4CCF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860E-23C9-4142-A97E-07A35E81E5DA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8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23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B593B-B1A1-4091-B5E3-B0F50E64CDA4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0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BD1-24BD-4876-84B6-8B0AD8AC10CB}" type="datetime1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67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6B33A-D12D-4C6B-978A-A683ACEB41D2}" type="datetime1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284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12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3F4-A2A8-416E-A44E-CDB16C259660}" type="datetime1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6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F1340-629A-42BA-BD64-7AC94B505105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1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0F16-B8F7-4F70-982C-EDED7FA25E35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5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A0BF-7DA8-484E-AF77-B831E902786B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37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CAB7-D2C4-4443-B2E4-20D05B5C6725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39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1" y="457201"/>
            <a:ext cx="891196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95300" y="1676401"/>
            <a:ext cx="4373431" cy="449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76401"/>
            <a:ext cx="4373430" cy="449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>
          <a:xfrm>
            <a:off x="7099301" y="6248401"/>
            <a:ext cx="2307960" cy="454025"/>
          </a:xfrm>
        </p:spPr>
        <p:txBody>
          <a:bodyPr/>
          <a:lstStyle>
            <a:lvl1pPr>
              <a:defRPr/>
            </a:lvl1pPr>
          </a:lstStyle>
          <a:p>
            <a:fld id="{E847EFCF-F314-4177-BA34-77A0418329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0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rinh Le\Desktop\slider-blue-bar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324600"/>
            <a:ext cx="9906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183" y="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9C68988C-264E-4021-9022-64CD43F1D72A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C102E81D-EE5C-4746-BACE-D5CEA6BB4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7"/>
          <p:cNvSpPr txBox="1">
            <a:spLocks/>
          </p:cNvSpPr>
          <p:nvPr userDrawn="1"/>
        </p:nvSpPr>
        <p:spPr>
          <a:xfrm>
            <a:off x="495300" y="1143000"/>
            <a:ext cx="5365750" cy="457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13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Bài</a:t>
            </a:r>
            <a:r>
              <a:rPr lang="en-US" dirty="0"/>
              <a:t> 2: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Trường ĐH Công nghệ, ĐHQGHN</a:t>
            </a:r>
            <a:endParaRPr lang="en-US" dirty="0"/>
          </a:p>
        </p:txBody>
      </p:sp>
      <p:pic>
        <p:nvPicPr>
          <p:cNvPr id="4" name="Picture 3" descr="C:\Users\Le Khanh Trinh\Desktop\3-VNU-UE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8352-C9BB-4CA4-8F49-29667291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Đã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F560-C035-4634-99DE-5C40D5478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Vấn đề của lập trình cấu trúc để cần sự tồn tại của lập trình hướng đối tượng?</a:t>
            </a:r>
          </a:p>
          <a:p>
            <a:pPr lvl="1"/>
            <a:r>
              <a:rPr lang="en-US"/>
              <a:t>Dữ liệu và mã xử lý tách rời nhau</a:t>
            </a:r>
          </a:p>
          <a:p>
            <a:r>
              <a:rPr lang="en-US"/>
              <a:t>Lập trình hướng đối tượng</a:t>
            </a:r>
          </a:p>
          <a:p>
            <a:pPr lvl="1"/>
            <a:r>
              <a:rPr lang="en-US"/>
              <a:t>Che giấu dữ liệu (đóng gói)</a:t>
            </a:r>
          </a:p>
          <a:p>
            <a:pPr lvl="1"/>
            <a:r>
              <a:rPr lang="en-US"/>
              <a:t>Truy cập thông qua phương thức (giao diện)</a:t>
            </a:r>
          </a:p>
          <a:p>
            <a:pPr lvl="1"/>
            <a:r>
              <a:rPr lang="en-US"/>
              <a:t>Lớp và đối tượng</a:t>
            </a:r>
          </a:p>
          <a:p>
            <a:pPr lvl="1"/>
            <a:r>
              <a:rPr lang="en-US"/>
              <a:t>Hệ thống hướng đối tượng: nhiều đối tượng tương tác với nhau qua thông điệp</a:t>
            </a:r>
          </a:p>
          <a:p>
            <a:r>
              <a:rPr lang="en-US"/>
              <a:t>Java: lập trình 1 lần, chạy khắp nơi</a:t>
            </a:r>
          </a:p>
          <a:p>
            <a:pPr lvl="1"/>
            <a:r>
              <a:rPr lang="en-US"/>
              <a:t>Java Virtual Machine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8208F-BDA6-4193-AA78-C4A9FA5B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A083B-6864-4936-9500-463B26BF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Các phương pháp lập trình</a:t>
            </a:r>
          </a:p>
          <a:p>
            <a:r>
              <a:rPr lang="en-US"/>
              <a:t>Lập trình thủ tục &amp; Lập trình HĐT</a:t>
            </a:r>
          </a:p>
          <a:p>
            <a:r>
              <a:rPr lang="en-US"/>
              <a:t>Các khái niệm cơ bản về Lập trình </a:t>
            </a:r>
            <a:r>
              <a:rPr lang="en-US" smtClean="0"/>
              <a:t>HĐT</a:t>
            </a:r>
          </a:p>
          <a:p>
            <a:r>
              <a:rPr lang="en-US"/>
              <a:t>Khai báo Lớp </a:t>
            </a:r>
          </a:p>
          <a:p>
            <a:r>
              <a:rPr lang="en-US"/>
              <a:t>Thao tác với các Đối tượng </a:t>
            </a:r>
          </a:p>
          <a:p>
            <a:r>
              <a:rPr lang="en-US"/>
              <a:t>Thuộc tính, Phương thức, Kiểm soát truy cập </a:t>
            </a:r>
          </a:p>
          <a:p>
            <a:r>
              <a:rPr lang="en-US"/>
              <a:t>Các phương thức khởi tạo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04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1600201"/>
            <a:ext cx="9677400" cy="4525963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phi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(imperative / how to do)</a:t>
            </a:r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(</a:t>
            </a:r>
            <a:r>
              <a:rPr lang="en-US" sz="2800" dirty="0"/>
              <a:t>structured / procedural, imperative</a:t>
            </a:r>
            <a:r>
              <a:rPr lang="en-US" dirty="0"/>
              <a:t>)</a:t>
            </a:r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logic;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(declarative / what)</a:t>
            </a:r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(imperative)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18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SimSun" charset="-122"/>
              </a:rPr>
              <a:t>L</a:t>
            </a:r>
            <a:r>
              <a:rPr lang="en-US" dirty="0" err="1"/>
              <a:t>ậ</a:t>
            </a:r>
            <a:r>
              <a:rPr lang="en-US" dirty="0" err="1">
                <a:ea typeface="SimSun" charset="-122"/>
              </a:rPr>
              <a:t>p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trình</a:t>
            </a:r>
            <a:r>
              <a:rPr lang="en-US" dirty="0">
                <a:ea typeface="SimSun" charset="-122"/>
              </a:rPr>
              <a:t> phi </a:t>
            </a:r>
            <a:r>
              <a:rPr lang="en-US" dirty="0" err="1">
                <a:ea typeface="SimSun" charset="-122"/>
              </a:rPr>
              <a:t>c</a:t>
            </a:r>
            <a:r>
              <a:rPr lang="en-US" dirty="0" err="1"/>
              <a:t>ấ</a:t>
            </a:r>
            <a:r>
              <a:rPr lang="en-US" dirty="0" err="1">
                <a:ea typeface="SimSun" charset="-122"/>
              </a:rPr>
              <a:t>u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trúc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00007D"/>
              </a:buClr>
              <a:buSzPct val="75000"/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endParaRPr lang="en-US" dirty="0"/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Assembly, Basic</a:t>
            </a:r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lạm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GOTO</a:t>
            </a:r>
          </a:p>
          <a:p>
            <a:pPr>
              <a:lnSpc>
                <a:spcPct val="90000"/>
              </a:lnSpc>
              <a:buClr>
                <a:srgbClr val="00007D"/>
              </a:buClr>
              <a:buSzPct val="75000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trì</a:t>
            </a:r>
            <a:r>
              <a:rPr lang="en-US" dirty="0"/>
              <a:t>,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kém</a:t>
            </a:r>
            <a:endParaRPr lang="en-US" dirty="0"/>
          </a:p>
          <a:p>
            <a:pPr lvl="1">
              <a:buClr>
                <a:srgbClr val="9999CC"/>
              </a:buClr>
              <a:buSzPct val="80000"/>
            </a:pPr>
            <a:r>
              <a:rPr lang="en-US" dirty="0"/>
              <a:t>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lvl="1">
              <a:buClr>
                <a:srgbClr val="9999CC"/>
              </a:buClr>
              <a:buSzPct val="80000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066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-9525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SimSun" charset="-122"/>
              </a:rPr>
              <a:t>Lập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trình</a:t>
            </a:r>
            <a:r>
              <a:rPr lang="en-US" dirty="0">
                <a:ea typeface="SimSun" charset="-122"/>
              </a:rPr>
              <a:t> phi </a:t>
            </a:r>
            <a:r>
              <a:rPr lang="en-US" dirty="0" err="1">
                <a:ea typeface="SimSun" charset="-122"/>
              </a:rPr>
              <a:t>cấu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trúc</a:t>
            </a:r>
            <a:r>
              <a:rPr lang="en-US" dirty="0">
                <a:ea typeface="SimSun" charset="-122"/>
              </a:rPr>
              <a:t> - </a:t>
            </a:r>
            <a:r>
              <a:rPr lang="en-US" dirty="0" err="1">
                <a:ea typeface="SimSun" charset="-122"/>
              </a:rPr>
              <a:t>Ví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dụ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10   k =1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20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gosub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100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30   if y &gt; 120 </a:t>
            </a:r>
            <a:r>
              <a:rPr lang="en-US" dirty="0" err="1">
                <a:latin typeface="Courier New" pitchFamily="49" charset="0"/>
              </a:rPr>
              <a:t>goto</a:t>
            </a:r>
            <a:r>
              <a:rPr lang="en-US" dirty="0">
                <a:latin typeface="Courier New" pitchFamily="49" charset="0"/>
              </a:rPr>
              <a:t> 60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40   k = k+1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50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goto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20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60   print k, y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70   stop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100  y = 3*k*k + 7*k-3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Tx/>
              <a:buSzPct val="76000"/>
              <a:buFontTx/>
              <a:buNone/>
            </a:pPr>
            <a:r>
              <a:rPr lang="en-US" dirty="0">
                <a:latin typeface="Courier New" pitchFamily="49" charset="0"/>
              </a:rPr>
              <a:t>110  return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871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4572000" y="1328058"/>
            <a:ext cx="5257800" cy="2532104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func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 j){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return (3*j*j + 7*j-3);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600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 k = 1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while (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func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(k) &lt; 120)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   k++;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printf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("%d\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t%d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\n", k, </a:t>
            </a:r>
            <a:r>
              <a:rPr lang="en-US" sz="1600" dirty="0" err="1">
                <a:latin typeface="Consolas" pitchFamily="49" charset="0"/>
                <a:cs typeface="Courier New" pitchFamily="49" charset="0"/>
              </a:rPr>
              <a:t>func</a:t>
            </a:r>
            <a:r>
              <a:rPr lang="en-US" sz="1600" dirty="0">
                <a:latin typeface="Consolas" pitchFamily="49" charset="0"/>
                <a:cs typeface="Courier New" pitchFamily="49" charset="0"/>
              </a:rPr>
              <a:t>(k));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   return(0);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dirty="0">
                <a:latin typeface="Consolas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" y="-9525"/>
            <a:ext cx="9220200" cy="1143000"/>
          </a:xfrm>
        </p:spPr>
        <p:txBody>
          <a:bodyPr>
            <a:normAutofit/>
          </a:bodyPr>
          <a:lstStyle/>
          <a:p>
            <a:r>
              <a:rPr lang="en-US" dirty="0" err="1">
                <a:ea typeface="SimSun" charset="-122"/>
              </a:rPr>
              <a:t>Lập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trình</a:t>
            </a:r>
            <a:r>
              <a:rPr lang="en-US" dirty="0">
                <a:ea typeface="SimSun" charset="-122"/>
              </a:rPr>
              <a:t>  </a:t>
            </a:r>
            <a:r>
              <a:rPr lang="en-US" dirty="0" err="1">
                <a:ea typeface="SimSun" charset="-122"/>
              </a:rPr>
              <a:t>thủ</a:t>
            </a:r>
            <a:r>
              <a:rPr lang="en-US" dirty="0">
                <a:ea typeface="SimSun" charset="-122"/>
              </a:rPr>
              <a:t> </a:t>
            </a:r>
            <a:r>
              <a:rPr lang="en-US" dirty="0" err="1">
                <a:ea typeface="SimSun" charset="-122"/>
              </a:rPr>
              <a:t>tục</a:t>
            </a:r>
            <a:r>
              <a:rPr lang="en-US" dirty="0">
                <a:ea typeface="SimSun" charset="-122"/>
              </a:rPr>
              <a:t> </a:t>
            </a:r>
            <a:r>
              <a:rPr lang="en-US" sz="4000" dirty="0">
                <a:ea typeface="SimSun" charset="-122"/>
              </a:rPr>
              <a:t>(</a:t>
            </a:r>
            <a:r>
              <a:rPr lang="en-US" sz="4000" dirty="0" err="1">
                <a:ea typeface="SimSun" charset="-122"/>
              </a:rPr>
              <a:t>Algol</a:t>
            </a:r>
            <a:r>
              <a:rPr lang="en-US" sz="4000" dirty="0">
                <a:ea typeface="SimSun" charset="-122"/>
              </a:rPr>
              <a:t>, Pascal, C, ...)</a:t>
            </a:r>
            <a:endParaRPr lang="en-US" sz="40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2400" y="1493837"/>
            <a:ext cx="8915400" cy="4525963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: for, while, </a:t>
            </a:r>
            <a:br>
              <a:rPr lang="en-US" sz="2800" dirty="0"/>
            </a:br>
            <a:r>
              <a:rPr lang="en-US" sz="2800" dirty="0"/>
              <a:t>do-while, repeat, ...</a:t>
            </a:r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chuỗi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/</a:t>
            </a:r>
            <a:r>
              <a:rPr lang="en-US" sz="2800" dirty="0" err="1"/>
              <a:t>thủ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endParaRPr lang="en-US" sz="2800" dirty="0"/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trung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(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nào</a:t>
            </a:r>
            <a:r>
              <a:rPr lang="en-US" sz="2800" dirty="0"/>
              <a:t>)</a:t>
            </a:r>
          </a:p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</a:pP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endParaRPr lang="en-US" sz="2800" dirty="0"/>
          </a:p>
          <a:p>
            <a:pPr lvl="1">
              <a:lnSpc>
                <a:spcPct val="90000"/>
              </a:lnSpc>
              <a:buClr>
                <a:srgbClr val="9999CC"/>
              </a:buClr>
              <a:buSzPct val="80000"/>
            </a:pP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: </a:t>
            </a:r>
            <a:r>
              <a:rPr lang="en-US" sz="2400" dirty="0" err="1"/>
              <a:t>cục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,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, </a:t>
            </a: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trì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endParaRPr lang="en-US" sz="2400" dirty="0"/>
          </a:p>
          <a:p>
            <a:pPr lvl="1">
              <a:lnSpc>
                <a:spcPct val="90000"/>
              </a:lnSpc>
              <a:buClr>
                <a:srgbClr val="9999CC"/>
              </a:buClr>
              <a:buSzPct val="80000"/>
            </a:pPr>
            <a:r>
              <a:rPr lang="en-US" sz="2400" dirty="0" err="1"/>
              <a:t>Dễ</a:t>
            </a:r>
            <a:r>
              <a:rPr lang="en-US" sz="2400" dirty="0"/>
              <a:t> </a:t>
            </a:r>
            <a:r>
              <a:rPr lang="en-US" sz="2400" dirty="0" err="1"/>
              <a:t>dàng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thư</a:t>
            </a:r>
            <a:r>
              <a:rPr lang="en-US" sz="2400" dirty="0"/>
              <a:t> </a:t>
            </a:r>
            <a:r>
              <a:rPr lang="en-US" sz="2400" dirty="0" err="1"/>
              <a:t>viện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mềm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01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143000"/>
          </a:xfrm>
        </p:spPr>
        <p:txBody>
          <a:bodyPr/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(2)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371600"/>
            <a:ext cx="8915400" cy="4525963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buClr>
                <a:srgbClr val="00007D"/>
              </a:buClr>
              <a:buSzPct val="7500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sz="2800" dirty="0" err="1"/>
              <a:t>Nhược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endParaRPr lang="en-US" sz="2800" dirty="0"/>
          </a:p>
          <a:p>
            <a:pPr lvl="1">
              <a:lnSpc>
                <a:spcPct val="90000"/>
              </a:lnSpc>
              <a:spcBef>
                <a:spcPts val="700"/>
              </a:spcBef>
              <a:buClr>
                <a:srgbClr val="9999CC"/>
              </a:buClr>
              <a:buSzPct val="8000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tách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(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)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(</a:t>
            </a:r>
            <a:r>
              <a:rPr lang="en-US" sz="2400" dirty="0" err="1"/>
              <a:t>chủ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)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Clr>
                <a:srgbClr val="9999CC"/>
              </a:buClr>
              <a:buSzPct val="8000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quán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>
              <a:lnSpc>
                <a:spcPct val="90000"/>
              </a:lnSpc>
              <a:spcBef>
                <a:spcPts val="700"/>
              </a:spcBef>
              <a:buClr>
                <a:srgbClr val="9999CC"/>
              </a:buClr>
              <a:buSzPct val="8000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trì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endParaRPr lang="en-US" sz="2400" dirty="0"/>
          </a:p>
          <a:p>
            <a:pPr marL="341313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Tx/>
              <a:buSzPct val="75000"/>
              <a:buFontTx/>
              <a:buNone/>
            </a:pPr>
            <a:endParaRPr lang="en-US" sz="2200" dirty="0"/>
          </a:p>
          <a:p>
            <a:endParaRPr lang="en-US" dirty="0"/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689637" y="3389314"/>
            <a:ext cx="9016867" cy="2227406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struct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Date{	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day;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month;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year;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400" b="1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setDate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(Date&amp; date,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newDay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newMonth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newYear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){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date.day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 = </a:t>
            </a:r>
            <a:r>
              <a:rPr lang="en-US" sz="1400" b="1" dirty="0" err="1">
                <a:latin typeface="Consolas" pitchFamily="49" charset="0"/>
                <a:cs typeface="Courier New" pitchFamily="49" charset="0"/>
              </a:rPr>
              <a:t>newDay</a:t>
            </a:r>
            <a:r>
              <a:rPr lang="en-US" sz="1400" b="1" dirty="0">
                <a:latin typeface="Consolas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   ...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 dirty="0">
                <a:latin typeface="Consolas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5486135" y="5329238"/>
            <a:ext cx="4024313" cy="617734"/>
          </a:xfrm>
          <a:prstGeom prst="rect">
            <a:avLst/>
          </a:prstGeom>
          <a:solidFill>
            <a:srgbClr val="CC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>
                <a:latin typeface="Times New Roman" pitchFamily="16" charset="0"/>
                <a:cs typeface="Times New Roman" pitchFamily="16" charset="0"/>
              </a:rPr>
              <a:t>Bộ giá trị </a:t>
            </a:r>
            <a:r>
              <a:rPr lang="en-US" sz="1600" b="1">
                <a:latin typeface="Consolas" pitchFamily="49" charset="0"/>
                <a:cs typeface="Times New Roman" pitchFamily="16" charset="0"/>
              </a:rPr>
              <a:t>newDay,newMonth,newYear</a:t>
            </a:r>
            <a:r>
              <a:rPr lang="en-US" sz="1600">
                <a:latin typeface="Times New Roman" pitchFamily="16" charset="0"/>
                <a:cs typeface="Times New Roman" pitchFamily="16" charset="0"/>
              </a:rPr>
              <a:t> </a:t>
            </a:r>
            <a:br>
              <a:rPr lang="en-US" sz="1600">
                <a:latin typeface="Times New Roman" pitchFamily="16" charset="0"/>
                <a:cs typeface="Times New Roman" pitchFamily="16" charset="0"/>
              </a:rPr>
            </a:br>
            <a:r>
              <a:rPr lang="en-US" sz="1600">
                <a:latin typeface="Times New Roman" pitchFamily="16" charset="0"/>
                <a:cs typeface="Times New Roman" pitchFamily="16" charset="0"/>
              </a:rPr>
              <a:t>có thể dẫn đến ngày không hợp lệ!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H="1" flipV="1">
            <a:off x="3265886" y="4933950"/>
            <a:ext cx="2223690" cy="46355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799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32884" y="1731964"/>
            <a:ext cx="8402902" cy="2289175"/>
          </a:xfrm>
          <a:prstGeom prst="rect">
            <a:avLst/>
          </a:prstGeom>
          <a:solidFill>
            <a:srgbClr val="E4E9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grandparent(X,Z) :- parent(X,Y), parent(X,Y).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parent(X,Y):- father(X,Y).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parent(X,Y):- mother(X,Y).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father(john,lily).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mother(kathy,lily).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mother(lily,bill).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father(ken,karen).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55241" y="4979988"/>
            <a:ext cx="8399463" cy="368300"/>
          </a:xfrm>
          <a:prstGeom prst="rect">
            <a:avLst/>
          </a:prstGeom>
          <a:solidFill>
            <a:srgbClr val="E3CE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</a:rPr>
              <a:t>?-grandparent(Q,bill)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55241" y="4308475"/>
            <a:ext cx="8399463" cy="368300"/>
          </a:xfrm>
          <a:prstGeom prst="rect">
            <a:avLst/>
          </a:prstGeom>
          <a:solidFill>
            <a:srgbClr val="E3CE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</a:rPr>
              <a:t>?-parent(lily,bill)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logic -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622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15938" y="2127250"/>
            <a:ext cx="5013193" cy="2014538"/>
          </a:xfrm>
          <a:prstGeom prst="rect">
            <a:avLst/>
          </a:prstGeom>
          <a:solidFill>
            <a:srgbClr val="E4E9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Tìm ước chung lớn nhất (Python)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66B3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ucln(x, y):</a:t>
            </a:r>
          </a:p>
          <a:p>
            <a:pPr marL="457200" lvl="1" indent="0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66B3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y == 0:</a:t>
            </a:r>
          </a:p>
          <a:p>
            <a:pPr marL="914400" lvl="2" indent="0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66B3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x</a:t>
            </a:r>
          </a:p>
          <a:p>
            <a:pPr marL="457200" lvl="1" indent="0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66B3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914400" lvl="2" indent="0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66B3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ucln(y, x % y)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053667" y="1552575"/>
            <a:ext cx="3389710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ucln(1452,407)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~&gt; ucln(407,231)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~&gt; ucln(231,176)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~&gt; ucln(176,55)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~&gt; ucln(55,11)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~&gt; ucln(11,0)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~&gt; 11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~&gt; 11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~&gt; 11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~&gt; 11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~&gt; 11</a:t>
            </a:r>
          </a:p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~&gt; 11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44463" y="5362576"/>
            <a:ext cx="960847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39725"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Tx/>
              <a:buSzPct val="75000"/>
              <a:buFontTx/>
              <a:buNone/>
            </a:pPr>
            <a:r>
              <a:rPr lang="en-US" sz="2200"/>
              <a:t>Khó cho việc phân tích, kiểm thử và song song hóa chương trình (!?)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-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368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Lập trình hướng đối tượng (HĐT)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11</a:t>
            </a:fld>
            <a:endParaRPr lang="en-US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60400" y="2836864"/>
            <a:ext cx="8255000" cy="3432351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class Date{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public: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void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setDate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newDay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newMonth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newYear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getDay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() { return day; }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private: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day;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month;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year;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600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void Date::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setDate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newDay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newMonth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int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newYear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){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//check validity of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newDay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newMonth</a:t>
            </a:r>
            <a:r>
              <a:rPr lang="en-US" sz="1500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sz="1500" dirty="0" err="1">
                <a:latin typeface="Consolas" pitchFamily="49" charset="0"/>
                <a:cs typeface="Courier New" pitchFamily="49" charset="0"/>
              </a:rPr>
              <a:t>newYear</a:t>
            </a:r>
            <a:endParaRPr lang="en-US" sz="1500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//set new values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   ...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500" dirty="0">
                <a:latin typeface="Consolas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60400" y="1273176"/>
            <a:ext cx="8255000" cy="147002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1313" indent="-339725">
              <a:spcBef>
                <a:spcPts val="350"/>
              </a:spcBef>
              <a:buClrTx/>
              <a:buFontTx/>
              <a:buNone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Khắc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phục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các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hạn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chế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của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Lập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trình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thủ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tục</a:t>
            </a:r>
            <a:endParaRPr lang="en-US" sz="2400" dirty="0">
              <a:solidFill>
                <a:srgbClr val="000000"/>
              </a:solidFill>
            </a:endParaRPr>
          </a:p>
          <a:p>
            <a:pPr marL="339725" indent="-338138">
              <a:spcBef>
                <a:spcPts val="350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</a:pPr>
            <a:r>
              <a:rPr lang="en-US" dirty="0" err="1">
                <a:solidFill>
                  <a:srgbClr val="000000"/>
                </a:solidFill>
              </a:rPr>
              <a:t>Đóng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gói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xử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lý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che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dấu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; </a:t>
            </a:r>
            <a:r>
              <a:rPr lang="en-US" dirty="0" err="1">
                <a:solidFill>
                  <a:srgbClr val="000000"/>
                </a:solidFill>
              </a:rPr>
              <a:t>truy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cập</a:t>
            </a:r>
            <a:r>
              <a:rPr lang="en-US" dirty="0">
                <a:solidFill>
                  <a:srgbClr val="000000"/>
                </a:solidFill>
              </a:rPr>
              <a:t> qua </a:t>
            </a:r>
            <a:r>
              <a:rPr lang="en-US" dirty="0" err="1">
                <a:solidFill>
                  <a:srgbClr val="000000"/>
                </a:solidFill>
              </a:rPr>
              <a:t>giao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diện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pPr marL="339725" indent="-338138">
              <a:spcBef>
                <a:spcPts val="350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</a:pPr>
            <a:r>
              <a:rPr lang="en-US" dirty="0" err="1">
                <a:solidFill>
                  <a:srgbClr val="000000"/>
                </a:solidFill>
              </a:rPr>
              <a:t>Đảm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bảo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nhất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quán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dữ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liệu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các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ràng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buộc</a:t>
            </a:r>
            <a:r>
              <a:rPr lang="en-US" dirty="0">
                <a:solidFill>
                  <a:srgbClr val="000000"/>
                </a:solidFill>
              </a:rPr>
              <a:t>  </a:t>
            </a:r>
          </a:p>
          <a:p>
            <a:pPr marL="339725" indent="-338138">
              <a:spcBef>
                <a:spcPts val="350"/>
              </a:spcBef>
              <a:buClr>
                <a:srgbClr val="00007D"/>
              </a:buClr>
              <a:buSzPct val="75000"/>
              <a:buFont typeface="Wingdings" charset="2"/>
              <a:buChar char=""/>
              <a:tabLst>
                <a:tab pos="341313" algn="l"/>
                <a:tab pos="798513" algn="l"/>
                <a:tab pos="1255713" algn="l"/>
                <a:tab pos="1712913" algn="l"/>
                <a:tab pos="2170113" algn="l"/>
                <a:tab pos="2627313" algn="l"/>
                <a:tab pos="3084513" algn="l"/>
                <a:tab pos="3541713" algn="l"/>
                <a:tab pos="3998913" algn="l"/>
                <a:tab pos="4456113" algn="l"/>
                <a:tab pos="4913313" algn="l"/>
                <a:tab pos="5370513" algn="l"/>
                <a:tab pos="5827713" algn="l"/>
                <a:tab pos="6284913" algn="l"/>
                <a:tab pos="6742113" algn="l"/>
                <a:tab pos="7199313" algn="l"/>
                <a:tab pos="7656513" algn="l"/>
                <a:tab pos="8113713" algn="l"/>
                <a:tab pos="8570913" algn="l"/>
                <a:tab pos="9028113" algn="l"/>
                <a:tab pos="9485313" algn="l"/>
              </a:tabLst>
            </a:pPr>
            <a:r>
              <a:rPr lang="en-US" dirty="0" err="1">
                <a:solidFill>
                  <a:srgbClr val="000000"/>
                </a:solidFill>
              </a:rPr>
              <a:t>Dễ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bảo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trì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hơn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190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Lập trình HĐT (OOP) là gì?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8915400" cy="4525963"/>
          </a:xfrm>
        </p:spPr>
        <p:txBody>
          <a:bodyPr/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lvl="1"/>
            <a:r>
              <a:rPr lang="en-US" sz="2400" dirty="0" err="1"/>
              <a:t>Tái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/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các</a:t>
            </a:r>
            <a:r>
              <a:rPr lang="en-US" sz="2400" dirty="0"/>
              <a:t> “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” (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)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gì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endParaRPr lang="en-US" sz="2400" dirty="0"/>
          </a:p>
          <a:p>
            <a:pPr lvl="1"/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“</a:t>
            </a:r>
            <a:r>
              <a:rPr lang="en-US" sz="2400" dirty="0" err="1"/>
              <a:t>kiểu</a:t>
            </a:r>
            <a:r>
              <a:rPr lang="en-US" sz="2400" dirty="0"/>
              <a:t>” (</a:t>
            </a:r>
            <a:r>
              <a:rPr lang="en-US" sz="2400" dirty="0" err="1"/>
              <a:t>lớp</a:t>
            </a:r>
            <a:r>
              <a:rPr lang="en-US" sz="2400" dirty="0"/>
              <a:t>)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chúng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hành</a:t>
            </a:r>
            <a:r>
              <a:rPr lang="en-US" sz="2400" dirty="0"/>
              <a:t> vi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12</a:t>
            </a:fld>
            <a:endParaRPr lang="en-US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724400" y="2286000"/>
            <a:ext cx="1403350" cy="1219200"/>
          </a:xfrm>
          <a:prstGeom prst="rect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724400" y="1981200"/>
            <a:ext cx="1403350" cy="304800"/>
          </a:xfrm>
          <a:prstGeom prst="rect">
            <a:avLst/>
          </a:prstGeom>
          <a:solidFill>
            <a:srgbClr val="9999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806950" y="2001838"/>
            <a:ext cx="123825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875"/>
              </a:spcBef>
              <a:buClrTx/>
              <a:buFontTx/>
              <a:buNone/>
            </a:pPr>
            <a:r>
              <a:rPr lang="en-US" sz="1400" b="1">
                <a:cs typeface="Courier New" pitchFamily="49" charset="0"/>
              </a:rPr>
              <a:t>STUDENT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4724400" y="2286000"/>
            <a:ext cx="140335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>
                <a:latin typeface="Consolas" pitchFamily="49" charset="0"/>
                <a:cs typeface="Courier New" pitchFamily="49" charset="0"/>
              </a:rPr>
              <a:t>* studentNo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>
                <a:latin typeface="Consolas" pitchFamily="49" charset="0"/>
                <a:cs typeface="Courier New" pitchFamily="49" charset="0"/>
              </a:rPr>
              <a:t>- name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>
                <a:latin typeface="Consolas" pitchFamily="49" charset="0"/>
                <a:cs typeface="Courier New" pitchFamily="49" charset="0"/>
              </a:rPr>
              <a:t>- birthday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30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>
                <a:latin typeface="Consolas" pitchFamily="49" charset="0"/>
                <a:cs typeface="Courier New" pitchFamily="49" charset="0"/>
              </a:rPr>
              <a:t>+ enrol()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>
                <a:latin typeface="Consolas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6127750" y="2819400"/>
            <a:ext cx="1898650" cy="1588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127750" y="2514600"/>
            <a:ext cx="6604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1000"/>
              </a:spcBef>
              <a:buClrTx/>
              <a:buFontTx/>
              <a:buNone/>
            </a:pPr>
            <a:r>
              <a:rPr lang="en-US" sz="1600"/>
              <a:t>*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7696200" y="2482850"/>
            <a:ext cx="3302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1000"/>
              </a:spcBef>
              <a:buClrTx/>
              <a:buFontTx/>
              <a:buNone/>
            </a:pPr>
            <a:r>
              <a:rPr lang="en-US" sz="1600"/>
              <a:t>*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705600" y="2482851"/>
            <a:ext cx="90805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750"/>
              </a:spcBef>
              <a:buClrTx/>
              <a:buFontTx/>
              <a:buNone/>
            </a:pPr>
            <a:r>
              <a:rPr lang="en-US" sz="1200"/>
              <a:t>enrols in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8026400" y="2133600"/>
            <a:ext cx="1816100" cy="1354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 dirty="0">
                <a:latin typeface="Consolas" pitchFamily="49" charset="0"/>
                <a:cs typeface="Courier New" pitchFamily="49" charset="0"/>
              </a:rPr>
              <a:t>* </a:t>
            </a:r>
            <a:r>
              <a:rPr lang="en-US" sz="1300" dirty="0" err="1">
                <a:latin typeface="Consolas" pitchFamily="49" charset="0"/>
                <a:cs typeface="Courier New" pitchFamily="49" charset="0"/>
              </a:rPr>
              <a:t>courseID</a:t>
            </a:r>
            <a:endParaRPr lang="en-US" sz="1300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 dirty="0">
                <a:latin typeface="Consolas" pitchFamily="49" charset="0"/>
                <a:cs typeface="Courier New" pitchFamily="49" charset="0"/>
              </a:rPr>
              <a:t>- lecturer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 dirty="0">
                <a:latin typeface="Consolas" pitchFamily="49" charset="0"/>
                <a:cs typeface="Courier New" pitchFamily="49" charset="0"/>
              </a:rPr>
              <a:t>- instructor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300" dirty="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 dirty="0">
                <a:latin typeface="Consolas" pitchFamily="49" charset="0"/>
                <a:cs typeface="Courier New" pitchFamily="49" charset="0"/>
              </a:rPr>
              <a:t>+ </a:t>
            </a:r>
            <a:r>
              <a:rPr lang="en-US" sz="1300" dirty="0" err="1">
                <a:latin typeface="Consolas" pitchFamily="49" charset="0"/>
                <a:cs typeface="Courier New" pitchFamily="49" charset="0"/>
              </a:rPr>
              <a:t>getStudents</a:t>
            </a:r>
            <a:r>
              <a:rPr lang="en-US" sz="1300" dirty="0">
                <a:latin typeface="Consolas" pitchFamily="49" charset="0"/>
                <a:cs typeface="Courier New" pitchFamily="49" charset="0"/>
              </a:rPr>
              <a:t>()</a:t>
            </a:r>
            <a:br>
              <a:rPr lang="en-US" sz="1300" dirty="0">
                <a:latin typeface="Consolas" pitchFamily="49" charset="0"/>
                <a:cs typeface="Courier New" pitchFamily="49" charset="0"/>
              </a:rPr>
            </a:br>
            <a:r>
              <a:rPr lang="en-US" sz="1300" dirty="0">
                <a:latin typeface="Consolas" pitchFamily="49" charset="0"/>
                <a:cs typeface="Courier New" pitchFamily="49" charset="0"/>
              </a:rPr>
              <a:t>+ </a:t>
            </a:r>
            <a:r>
              <a:rPr lang="en-US" sz="1300" dirty="0" err="1">
                <a:latin typeface="Consolas" pitchFamily="49" charset="0"/>
                <a:cs typeface="Courier New" pitchFamily="49" charset="0"/>
              </a:rPr>
              <a:t>setLecturer</a:t>
            </a:r>
            <a:r>
              <a:rPr lang="en-US" sz="1300" dirty="0">
                <a:latin typeface="Consolas" pitchFamily="49" charset="0"/>
                <a:cs typeface="Courier New" pitchFamily="49" charset="0"/>
              </a:rPr>
              <a:t>()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300" dirty="0">
                <a:latin typeface="Consolas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8026400" y="2133600"/>
            <a:ext cx="1733550" cy="1371600"/>
          </a:xfrm>
          <a:prstGeom prst="rect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8026400" y="1828800"/>
            <a:ext cx="1733550" cy="304800"/>
          </a:xfrm>
          <a:prstGeom prst="rect">
            <a:avLst/>
          </a:prstGeom>
          <a:solidFill>
            <a:srgbClr val="9999FF"/>
          </a:solidFill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7943850" y="1849438"/>
            <a:ext cx="189865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875"/>
              </a:spcBef>
              <a:buClrTx/>
              <a:buFontTx/>
              <a:buNone/>
            </a:pPr>
            <a:r>
              <a:rPr lang="en-US" sz="1400" b="1">
                <a:cs typeface="Courier New" pitchFamily="49" charset="0"/>
              </a:rPr>
              <a:t>CLASS</a:t>
            </a: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8026400" y="2819400"/>
            <a:ext cx="1733550" cy="1588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4724400" y="2971800"/>
            <a:ext cx="1403350" cy="1588"/>
          </a:xfrm>
          <a:prstGeom prst="line">
            <a:avLst/>
          </a:prstGeom>
          <a:noFill/>
          <a:ln w="1908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03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Khái niệm cơ bản về HĐT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915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Trừu tượng hóa</a:t>
            </a:r>
          </a:p>
          <a:p>
            <a:r>
              <a:rPr lang="en-US"/>
              <a:t>Các đối tượng &amp; lớp</a:t>
            </a:r>
          </a:p>
          <a:p>
            <a:pPr lvl="1"/>
            <a:r>
              <a:rPr lang="en-US"/>
              <a:t>Trạng thái và hành vi đối tượng</a:t>
            </a:r>
          </a:p>
          <a:p>
            <a:pPr lvl="1"/>
            <a:r>
              <a:rPr lang="en-US"/>
              <a:t>Định danh đối tượng</a:t>
            </a:r>
          </a:p>
          <a:p>
            <a:pPr lvl="1"/>
            <a:r>
              <a:rPr lang="en-US"/>
              <a:t>Các thông điệp</a:t>
            </a:r>
          </a:p>
          <a:p>
            <a:r>
              <a:rPr lang="en-US"/>
              <a:t>Bao gói</a:t>
            </a:r>
          </a:p>
          <a:p>
            <a:pPr lvl="1"/>
            <a:r>
              <a:rPr lang="en-US"/>
              <a:t>Che dấu thông tin (cài đặt)</a:t>
            </a:r>
          </a:p>
          <a:p>
            <a:r>
              <a:rPr lang="en-US"/>
              <a:t>Kế thừa</a:t>
            </a:r>
          </a:p>
          <a:p>
            <a:r>
              <a:rPr lang="en-US"/>
              <a:t>Đa hình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13</a:t>
            </a:fld>
            <a:endParaRPr lang="en-US"/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5116932" y="1600200"/>
            <a:ext cx="4636668" cy="2836863"/>
            <a:chOff x="2924" y="1111"/>
            <a:chExt cx="2884" cy="1787"/>
          </a:xfrm>
        </p:grpSpPr>
        <p:sp>
          <p:nvSpPr>
            <p:cNvPr id="17412" name="AutoShape 4"/>
            <p:cNvSpPr>
              <a:spLocks noChangeArrowheads="1"/>
            </p:cNvSpPr>
            <p:nvPr/>
          </p:nvSpPr>
          <p:spPr bwMode="auto">
            <a:xfrm>
              <a:off x="3350" y="1395"/>
              <a:ext cx="1461" cy="1180"/>
            </a:xfrm>
            <a:prstGeom prst="flowChartExtract">
              <a:avLst/>
            </a:prstGeom>
            <a:noFill/>
            <a:ln w="1908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3" name="Text Box 5"/>
            <p:cNvSpPr txBox="1">
              <a:spLocks noChangeArrowheads="1"/>
            </p:cNvSpPr>
            <p:nvPr/>
          </p:nvSpPr>
          <p:spPr bwMode="auto">
            <a:xfrm>
              <a:off x="3655" y="2045"/>
              <a:ext cx="85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200" b="1"/>
                <a:t>trừu tượng hóa (abstraction)</a:t>
              </a:r>
            </a:p>
          </p:txBody>
        </p:sp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3446" y="1111"/>
              <a:ext cx="1339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 b="1" dirty="0" err="1"/>
                <a:t>bao</a:t>
              </a:r>
              <a:r>
                <a:rPr lang="en-US" sz="1400" b="1" dirty="0"/>
                <a:t> </a:t>
              </a:r>
              <a:r>
                <a:rPr lang="en-US" sz="1400" b="1" dirty="0" err="1"/>
                <a:t>gói</a:t>
              </a:r>
              <a:r>
                <a:rPr lang="en-US" sz="1400" b="1" dirty="0"/>
                <a:t> (encapsulation)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2924" y="2594"/>
              <a:ext cx="103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 b="1"/>
                <a:t>kế thừa (inheritance)</a:t>
              </a: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4304" y="2551"/>
              <a:ext cx="150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 b="1" dirty="0" err="1"/>
                <a:t>đa</a:t>
              </a:r>
              <a:r>
                <a:rPr lang="en-US" sz="1400" b="1" dirty="0"/>
                <a:t> </a:t>
              </a:r>
              <a:r>
                <a:rPr lang="en-US" sz="1400" b="1" dirty="0" err="1"/>
                <a:t>hình</a:t>
              </a:r>
              <a:r>
                <a:rPr lang="en-US" sz="1400" b="1" dirty="0"/>
                <a:t> </a:t>
              </a:r>
              <a:br>
                <a:rPr lang="en-US" sz="1400" b="1" dirty="0"/>
              </a:br>
              <a:r>
                <a:rPr lang="en-US" sz="1400" b="1" dirty="0"/>
                <a:t>(polymorphism)</a:t>
              </a:r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4569" y="1572"/>
              <a:ext cx="1095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 b="1"/>
                <a:t>Tam giác “P.I.E”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967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Trừu tượng hóa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9677400" cy="4525963"/>
          </a:xfrm>
        </p:spPr>
        <p:txBody>
          <a:bodyPr>
            <a:normAutofit/>
          </a:bodyPr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Smalltalk) </a:t>
            </a:r>
          </a:p>
          <a:p>
            <a:pPr lvl="1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(everything is an object)</a:t>
            </a:r>
          </a:p>
          <a:p>
            <a:pPr lvl="1"/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“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chuyện</a:t>
            </a:r>
            <a:r>
              <a:rPr lang="en-US" dirty="0"/>
              <a:t>”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“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(type)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3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đối tượng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91821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pPr lvl="2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Hành</a:t>
            </a:r>
            <a:r>
              <a:rPr lang="en-US" dirty="0"/>
              <a:t> vi</a:t>
            </a:r>
          </a:p>
          <a:p>
            <a:pPr lvl="2"/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lvl="1"/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ở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lvl="3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)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danh</a:t>
            </a:r>
            <a:endParaRPr lang="en-US" dirty="0"/>
          </a:p>
          <a:p>
            <a:pPr lvl="3"/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(handle) (con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C++;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Java)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15</a:t>
            </a:fld>
            <a:endParaRPr lang="en-US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299200" y="1381897"/>
            <a:ext cx="3302000" cy="2809103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class Date{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public: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void setDate(…);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int getDay();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private: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int day;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int month;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int year;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40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Date today = new Date();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40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>
                <a:latin typeface="Consolas" pitchFamily="49" charset="0"/>
                <a:cs typeface="Courier New" pitchFamily="49" charset="0"/>
              </a:rPr>
              <a:t>today.setDate(2, 9, 2020);</a:t>
            </a:r>
          </a:p>
        </p:txBody>
      </p:sp>
    </p:spTree>
    <p:extLst>
      <p:ext uri="{BB962C8B-B14F-4D97-AF65-F5344CB8AC3E}">
        <p14:creationId xmlns:p14="http://schemas.microsoft.com/office/powerpoint/2010/main" val="1242522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Đối tượng và Tham chiếu đối tượng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16</a:t>
            </a:fld>
            <a:endParaRPr lang="en-US"/>
          </a:p>
        </p:txBody>
      </p:sp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981201" y="1644651"/>
            <a:ext cx="5609960" cy="4113213"/>
            <a:chOff x="1152" y="1036"/>
            <a:chExt cx="3262" cy="2591"/>
          </a:xfrm>
        </p:grpSpPr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2473" y="1612"/>
              <a:ext cx="1477" cy="1199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1200" y="2188"/>
              <a:ext cx="863" cy="191"/>
            </a:xfrm>
            <a:prstGeom prst="rect">
              <a:avLst/>
            </a:prstGeom>
            <a:solidFill>
              <a:srgbClr val="EFEFF7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Text Box 5"/>
            <p:cNvSpPr txBox="1">
              <a:spLocks noChangeArrowheads="1"/>
            </p:cNvSpPr>
            <p:nvPr/>
          </p:nvSpPr>
          <p:spPr bwMode="auto">
            <a:xfrm>
              <a:off x="1152" y="2009"/>
              <a:ext cx="9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>
                  <a:latin typeface="Consolas" pitchFamily="49" charset="0"/>
                  <a:cs typeface="Courier New" pitchFamily="49" charset="0"/>
                </a:rPr>
                <a:t>Date today</a:t>
              </a:r>
            </a:p>
          </p:txBody>
        </p:sp>
        <p:grpSp>
          <p:nvGrpSpPr>
            <p:cNvPr id="20486" name="Group 6"/>
            <p:cNvGrpSpPr>
              <a:grpSpLocks/>
            </p:cNvGrpSpPr>
            <p:nvPr/>
          </p:nvGrpSpPr>
          <p:grpSpPr bwMode="auto">
            <a:xfrm>
              <a:off x="2592" y="1887"/>
              <a:ext cx="1822" cy="212"/>
              <a:chOff x="2592" y="1887"/>
              <a:chExt cx="1822" cy="212"/>
            </a:xfrm>
          </p:grpSpPr>
          <p:sp>
            <p:nvSpPr>
              <p:cNvPr id="20487" name="Rectangle 7"/>
              <p:cNvSpPr>
                <a:spLocks noChangeArrowheads="1"/>
              </p:cNvSpPr>
              <p:nvPr/>
            </p:nvSpPr>
            <p:spPr bwMode="auto">
              <a:xfrm>
                <a:off x="2592" y="1887"/>
                <a:ext cx="862" cy="190"/>
              </a:xfrm>
              <a:prstGeom prst="rect">
                <a:avLst/>
              </a:prstGeom>
              <a:solidFill>
                <a:srgbClr val="EFEFF7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88" name="Text Box 8"/>
              <p:cNvSpPr txBox="1">
                <a:spLocks noChangeArrowheads="1"/>
              </p:cNvSpPr>
              <p:nvPr/>
            </p:nvSpPr>
            <p:spPr bwMode="auto">
              <a:xfrm>
                <a:off x="3456" y="1900"/>
                <a:ext cx="958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1000"/>
                  </a:spcBef>
                  <a:buClrTx/>
                  <a:buFontTx/>
                  <a:buNone/>
                </a:pPr>
                <a:r>
                  <a:rPr lang="en-US" sz="1600">
                    <a:latin typeface="Consolas" pitchFamily="49" charset="0"/>
                    <a:cs typeface="Courier New" pitchFamily="49" charset="0"/>
                  </a:rPr>
                  <a:t>day</a:t>
                </a:r>
              </a:p>
            </p:txBody>
          </p:sp>
        </p:grpSp>
        <p:grpSp>
          <p:nvGrpSpPr>
            <p:cNvPr id="20489" name="Group 9"/>
            <p:cNvGrpSpPr>
              <a:grpSpLocks/>
            </p:cNvGrpSpPr>
            <p:nvPr/>
          </p:nvGrpSpPr>
          <p:grpSpPr bwMode="auto">
            <a:xfrm>
              <a:off x="2569" y="2188"/>
              <a:ext cx="1822" cy="212"/>
              <a:chOff x="2569" y="2188"/>
              <a:chExt cx="1822" cy="212"/>
            </a:xfrm>
          </p:grpSpPr>
          <p:sp>
            <p:nvSpPr>
              <p:cNvPr id="20490" name="Rectangle 10"/>
              <p:cNvSpPr>
                <a:spLocks noChangeArrowheads="1"/>
              </p:cNvSpPr>
              <p:nvPr/>
            </p:nvSpPr>
            <p:spPr bwMode="auto">
              <a:xfrm>
                <a:off x="2569" y="2188"/>
                <a:ext cx="862" cy="190"/>
              </a:xfrm>
              <a:prstGeom prst="rect">
                <a:avLst/>
              </a:prstGeom>
              <a:solidFill>
                <a:srgbClr val="EFEFF7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1" name="Text Box 11"/>
              <p:cNvSpPr txBox="1">
                <a:spLocks noChangeArrowheads="1"/>
              </p:cNvSpPr>
              <p:nvPr/>
            </p:nvSpPr>
            <p:spPr bwMode="auto">
              <a:xfrm>
                <a:off x="3433" y="2201"/>
                <a:ext cx="958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1000"/>
                  </a:spcBef>
                  <a:buClrTx/>
                  <a:buFontTx/>
                  <a:buNone/>
                </a:pPr>
                <a:r>
                  <a:rPr lang="en-US" sz="1600">
                    <a:latin typeface="Consolas" pitchFamily="49" charset="0"/>
                    <a:cs typeface="Courier New" pitchFamily="49" charset="0"/>
                  </a:rPr>
                  <a:t>month</a:t>
                </a:r>
              </a:p>
            </p:txBody>
          </p:sp>
        </p:grpSp>
        <p:grpSp>
          <p:nvGrpSpPr>
            <p:cNvPr id="20492" name="Group 12"/>
            <p:cNvGrpSpPr>
              <a:grpSpLocks/>
            </p:cNvGrpSpPr>
            <p:nvPr/>
          </p:nvGrpSpPr>
          <p:grpSpPr bwMode="auto">
            <a:xfrm>
              <a:off x="2592" y="2476"/>
              <a:ext cx="1822" cy="212"/>
              <a:chOff x="2592" y="2476"/>
              <a:chExt cx="1822" cy="212"/>
            </a:xfrm>
          </p:grpSpPr>
          <p:sp>
            <p:nvSpPr>
              <p:cNvPr id="20493" name="Rectangle 13"/>
              <p:cNvSpPr>
                <a:spLocks noChangeArrowheads="1"/>
              </p:cNvSpPr>
              <p:nvPr/>
            </p:nvSpPr>
            <p:spPr bwMode="auto">
              <a:xfrm>
                <a:off x="2592" y="2476"/>
                <a:ext cx="862" cy="190"/>
              </a:xfrm>
              <a:prstGeom prst="rect">
                <a:avLst/>
              </a:prstGeom>
              <a:solidFill>
                <a:srgbClr val="EFEFF7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4" name="Text Box 14"/>
              <p:cNvSpPr txBox="1">
                <a:spLocks noChangeArrowheads="1"/>
              </p:cNvSpPr>
              <p:nvPr/>
            </p:nvSpPr>
            <p:spPr bwMode="auto">
              <a:xfrm>
                <a:off x="3456" y="2489"/>
                <a:ext cx="958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1000"/>
                  </a:spcBef>
                  <a:buClrTx/>
                  <a:buFontTx/>
                  <a:buNone/>
                </a:pPr>
                <a:r>
                  <a:rPr lang="en-US" sz="1600">
                    <a:latin typeface="Consolas" pitchFamily="49" charset="0"/>
                    <a:cs typeface="Courier New" pitchFamily="49" charset="0"/>
                  </a:rPr>
                  <a:t>year</a:t>
                </a:r>
              </a:p>
            </p:txBody>
          </p:sp>
        </p:grpSp>
        <p:sp>
          <p:nvSpPr>
            <p:cNvPr id="20495" name="Text Box 15"/>
            <p:cNvSpPr txBox="1">
              <a:spLocks noChangeArrowheads="1"/>
            </p:cNvSpPr>
            <p:nvPr/>
          </p:nvSpPr>
          <p:spPr bwMode="auto">
            <a:xfrm>
              <a:off x="2496" y="1612"/>
              <a:ext cx="9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>
                  <a:latin typeface="Consolas" pitchFamily="49" charset="0"/>
                  <a:cs typeface="Courier New" pitchFamily="49" charset="0"/>
                </a:rPr>
                <a:t>Date</a:t>
              </a:r>
            </a:p>
          </p:txBody>
        </p:sp>
        <p:sp>
          <p:nvSpPr>
            <p:cNvPr id="20496" name="Text Box 16"/>
            <p:cNvSpPr txBox="1">
              <a:spLocks noChangeArrowheads="1"/>
            </p:cNvSpPr>
            <p:nvPr/>
          </p:nvSpPr>
          <p:spPr bwMode="auto">
            <a:xfrm>
              <a:off x="2575" y="1276"/>
              <a:ext cx="1199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1125"/>
                </a:spcBef>
                <a:buClrTx/>
                <a:buFontTx/>
                <a:buNone/>
              </a:pPr>
              <a:r>
                <a:rPr lang="en-US">
                  <a:cs typeface="Courier New" pitchFamily="49" charset="0"/>
                </a:rPr>
                <a:t>Vùng nhớ Heap</a:t>
              </a:r>
            </a:p>
          </p:txBody>
        </p:sp>
        <p:sp>
          <p:nvSpPr>
            <p:cNvPr id="20497" name="Oval 17"/>
            <p:cNvSpPr>
              <a:spLocks noChangeArrowheads="1"/>
            </p:cNvSpPr>
            <p:nvPr/>
          </p:nvSpPr>
          <p:spPr bwMode="auto">
            <a:xfrm>
              <a:off x="2253" y="1036"/>
              <a:ext cx="1919" cy="2591"/>
            </a:xfrm>
            <a:prstGeom prst="ellipse">
              <a:avLst/>
            </a:prstGeom>
            <a:noFill/>
            <a:ln w="936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8" name="Line 18"/>
            <p:cNvSpPr>
              <a:spLocks noChangeShapeType="1"/>
            </p:cNvSpPr>
            <p:nvPr/>
          </p:nvSpPr>
          <p:spPr bwMode="auto">
            <a:xfrm flipV="1">
              <a:off x="1632" y="1802"/>
              <a:ext cx="863" cy="48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225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thông điệp (messages)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600201"/>
            <a:ext cx="91059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 err="1"/>
              <a:t>today.setDate</a:t>
            </a:r>
            <a:r>
              <a:rPr lang="en-US" sz="4500" b="1" dirty="0"/>
              <a:t>(2, 9, 2020);</a:t>
            </a:r>
          </a:p>
          <a:p>
            <a:endParaRPr lang="en-US" dirty="0"/>
          </a:p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A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B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B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-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(today)</a:t>
            </a:r>
          </a:p>
          <a:p>
            <a:pPr lvl="1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(</a:t>
            </a:r>
            <a:r>
              <a:rPr lang="en-US" dirty="0" err="1"/>
              <a:t>setDate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-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(2, 9, 2020)</a:t>
            </a:r>
          </a:p>
          <a:p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ở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ngầm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(method invocation)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HĐT</a:t>
            </a:r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lvl="1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pPr lvl="2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qua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điểu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(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/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;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838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lớp đối tượng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600201"/>
            <a:ext cx="9258300" cy="4525963"/>
          </a:xfrm>
        </p:spPr>
        <p:txBody>
          <a:bodyPr>
            <a:normAutofit/>
          </a:bodyPr>
          <a:lstStyle/>
          <a:p>
            <a:r>
              <a:rPr lang="en-US" dirty="0" err="1"/>
              <a:t>Lớp</a:t>
            </a:r>
            <a:r>
              <a:rPr lang="en-US" dirty="0"/>
              <a:t> (Class)</a:t>
            </a:r>
          </a:p>
          <a:p>
            <a:pPr lvl="1"/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“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– </a:t>
            </a:r>
            <a:r>
              <a:rPr lang="en-US" dirty="0" err="1"/>
              <a:t>Biến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(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18</a:t>
            </a:fld>
            <a:endParaRPr lang="en-US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6108700" y="152400"/>
            <a:ext cx="3797300" cy="2753704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b="1">
                <a:latin typeface="Consolas" pitchFamily="49" charset="0"/>
                <a:cs typeface="Courier New" pitchFamily="49" charset="0"/>
              </a:rPr>
              <a:t>class Date</a:t>
            </a:r>
            <a:r>
              <a:rPr lang="en-US" sz="1600">
                <a:latin typeface="Consolas" pitchFamily="49" charset="0"/>
                <a:cs typeface="Courier New" pitchFamily="49" charset="0"/>
              </a:rPr>
              <a:t>{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public: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   void setDate(…);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  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private: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   int day;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  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600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 b="1">
                <a:latin typeface="Consolas" pitchFamily="49" charset="0"/>
                <a:cs typeface="Courier New" pitchFamily="49" charset="0"/>
              </a:rPr>
              <a:t>Date today = new Date();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600" b="1"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600">
                <a:latin typeface="Consolas" pitchFamily="49" charset="0"/>
                <a:cs typeface="Courier New" pitchFamily="49" charset="0"/>
              </a:rPr>
              <a:t>today.setDate(2, 9, 2020);</a:t>
            </a:r>
          </a:p>
        </p:txBody>
      </p:sp>
    </p:spTree>
    <p:extLst>
      <p:ext uri="{BB962C8B-B14F-4D97-AF65-F5344CB8AC3E}">
        <p14:creationId xmlns:p14="http://schemas.microsoft.com/office/powerpoint/2010/main" val="2979574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Bao</a:t>
            </a:r>
            <a:r>
              <a:rPr lang="en-US" sz="4400" dirty="0"/>
              <a:t> </a:t>
            </a:r>
            <a:r>
              <a:rPr lang="en-US" sz="4400" dirty="0" err="1"/>
              <a:t>gói</a:t>
            </a:r>
            <a:r>
              <a:rPr lang="en-US" sz="4400" dirty="0"/>
              <a:t> / </a:t>
            </a:r>
            <a:r>
              <a:rPr lang="en-US" sz="4400" dirty="0" err="1"/>
              <a:t>Che</a:t>
            </a:r>
            <a:r>
              <a:rPr lang="en-US" sz="4400" dirty="0"/>
              <a:t> </a:t>
            </a:r>
            <a:r>
              <a:rPr lang="en-US" sz="4400" dirty="0" err="1"/>
              <a:t>dấu</a:t>
            </a:r>
            <a:r>
              <a:rPr lang="en-US" sz="4400" dirty="0"/>
              <a:t> </a:t>
            </a:r>
            <a:r>
              <a:rPr lang="en-US" sz="4400" dirty="0" err="1"/>
              <a:t>thông</a:t>
            </a:r>
            <a:r>
              <a:rPr lang="en-US" sz="4400" dirty="0"/>
              <a:t> tin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371600"/>
            <a:ext cx="7010400" cy="5029200"/>
          </a:xfrm>
        </p:spPr>
        <p:txBody>
          <a:bodyPr>
            <a:normAutofit fontScale="92500"/>
          </a:bodyPr>
          <a:lstStyle/>
          <a:p>
            <a:r>
              <a:rPr lang="en-US" sz="3000" dirty="0" err="1"/>
              <a:t>Bao</a:t>
            </a:r>
            <a:r>
              <a:rPr lang="en-US" sz="3000" dirty="0"/>
              <a:t> </a:t>
            </a:r>
            <a:r>
              <a:rPr lang="en-US" sz="3000" dirty="0" err="1"/>
              <a:t>gói</a:t>
            </a:r>
            <a:r>
              <a:rPr lang="en-US" sz="3000" dirty="0"/>
              <a:t> (encapsulation): </a:t>
            </a:r>
            <a:r>
              <a:rPr lang="en-US" sz="3000" dirty="0" err="1"/>
              <a:t>để</a:t>
            </a:r>
            <a:r>
              <a:rPr lang="en-US" sz="3000" dirty="0"/>
              <a:t> </a:t>
            </a:r>
            <a:r>
              <a:rPr lang="en-US" sz="3000" dirty="0" err="1"/>
              <a:t>nhóm</a:t>
            </a:r>
            <a:r>
              <a:rPr lang="en-US" sz="3000" dirty="0"/>
              <a:t> </a:t>
            </a:r>
            <a:r>
              <a:rPr lang="en-US" sz="3000" dirty="0" err="1"/>
              <a:t>các</a:t>
            </a:r>
            <a:r>
              <a:rPr lang="en-US" sz="3000" dirty="0"/>
              <a:t> </a:t>
            </a:r>
            <a:r>
              <a:rPr lang="en-US" sz="3000" dirty="0" err="1"/>
              <a:t>thứ</a:t>
            </a:r>
            <a:r>
              <a:rPr lang="en-US" sz="3000" dirty="0"/>
              <a:t> </a:t>
            </a:r>
            <a:r>
              <a:rPr lang="en-US" sz="3000" dirty="0" err="1"/>
              <a:t>liên</a:t>
            </a:r>
            <a:r>
              <a:rPr lang="en-US" sz="3000" dirty="0"/>
              <a:t>  </a:t>
            </a:r>
            <a:r>
              <a:rPr lang="en-US" sz="3000" dirty="0" err="1"/>
              <a:t>quan</a:t>
            </a:r>
            <a:r>
              <a:rPr lang="en-US" sz="3000" dirty="0"/>
              <a:t> </a:t>
            </a:r>
            <a:r>
              <a:rPr lang="en-US" sz="3000" dirty="0" err="1"/>
              <a:t>thành</a:t>
            </a:r>
            <a:r>
              <a:rPr lang="en-US" sz="3000" dirty="0"/>
              <a:t> </a:t>
            </a: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tổng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</a:t>
            </a: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định</a:t>
            </a:r>
            <a:r>
              <a:rPr lang="en-US" sz="3000" dirty="0"/>
              <a:t> </a:t>
            </a:r>
            <a:r>
              <a:rPr lang="en-US" sz="3000" dirty="0" err="1"/>
              <a:t>danh</a:t>
            </a:r>
            <a:endParaRPr lang="en-US" sz="3000" dirty="0"/>
          </a:p>
          <a:p>
            <a:pPr lvl="1"/>
            <a:r>
              <a:rPr lang="en-US" dirty="0" err="1"/>
              <a:t>Hàm</a:t>
            </a:r>
            <a:r>
              <a:rPr lang="en-US" dirty="0"/>
              <a:t>/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pPr lvl="1"/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  <a:p>
            <a:r>
              <a:rPr lang="en-US" sz="2800" dirty="0" err="1"/>
              <a:t>Che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tin: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che</a:t>
            </a:r>
            <a:r>
              <a:rPr lang="en-US" sz="2800" dirty="0"/>
              <a:t> </a:t>
            </a:r>
            <a:r>
              <a:rPr lang="en-US" sz="2800" dirty="0" err="1"/>
              <a:t>dấu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và</a:t>
            </a:r>
            <a:r>
              <a:rPr lang="en-US" sz="2800" dirty="0"/>
              <a:t> chi </a:t>
            </a:r>
            <a:r>
              <a:rPr lang="en-US" sz="2800" dirty="0" err="1"/>
              <a:t>tiết</a:t>
            </a:r>
            <a:r>
              <a:rPr lang="en-US" sz="2800" dirty="0"/>
              <a:t>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ngoài</a:t>
            </a:r>
            <a:endParaRPr lang="en-US" sz="2800" dirty="0"/>
          </a:p>
          <a:p>
            <a:pPr lvl="1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“clients” 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đen</a:t>
            </a:r>
            <a:endParaRPr lang="en-US" dirty="0"/>
          </a:p>
          <a:p>
            <a:pPr lvl="1"/>
            <a:r>
              <a:rPr lang="en-US" dirty="0"/>
              <a:t>public, private, </a:t>
            </a:r>
            <a:r>
              <a:rPr lang="en-US" dirty="0" err="1"/>
              <a:t>và</a:t>
            </a:r>
            <a:r>
              <a:rPr lang="en-US" dirty="0"/>
              <a:t> protected</a:t>
            </a:r>
          </a:p>
          <a:p>
            <a:pPr lvl="1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(interface) &amp;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(implementation)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0B78C-C54A-4433-BD0D-522E6EC2943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92983"/>
            <a:ext cx="28194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7086600" y="2212976"/>
            <a:ext cx="2724150" cy="3390801"/>
          </a:xfrm>
          <a:prstGeom prst="rect">
            <a:avLst/>
          </a:prstGeom>
          <a:solidFill>
            <a:srgbClr val="EFEFF7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class Date{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>
                <a:latin typeface="Consolas" pitchFamily="49" charset="0"/>
                <a:cs typeface="Courier New" pitchFamily="49" charset="0"/>
              </a:rPr>
              <a:t>public</a:t>
            </a:r>
            <a:r>
              <a:rPr lang="en-US" sz="1400">
                <a:latin typeface="Consolas" pitchFamily="49" charset="0"/>
                <a:cs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void setDate(…);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   int getDay()  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 b="1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private</a:t>
            </a: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int day;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int month;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int year;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latin typeface="Consolas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endParaRPr lang="en-US" sz="1400">
              <a:solidFill>
                <a:srgbClr val="3333FF"/>
              </a:solidFill>
              <a:latin typeface="Consolas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void Date::setDate{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//check validity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...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//set new values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   ... 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400">
                <a:solidFill>
                  <a:srgbClr val="3333FF"/>
                </a:solidFill>
                <a:latin typeface="Consolas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43653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1"/>
            <a:ext cx="9601200" cy="4525963"/>
          </a:xfrm>
        </p:spPr>
        <p:txBody>
          <a:bodyPr>
            <a:normAutofit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“is-a”</a:t>
            </a:r>
          </a:p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(derived class)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(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(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(base class)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(generic)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chúng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20</a:t>
            </a:fld>
            <a:endParaRPr lang="en-US"/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-152400"/>
            <a:ext cx="4108582" cy="329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6775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Đa hình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371600"/>
            <a:ext cx="8915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thức</a:t>
            </a:r>
            <a:r>
              <a:rPr lang="en-US" dirty="0"/>
              <a:t> (forms / shapes)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dạng</a:t>
            </a:r>
            <a:endParaRPr lang="en-US" dirty="0"/>
          </a:p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(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2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draw(),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b="1" dirty="0"/>
              <a:t>Rectangle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Triangle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21</a:t>
            </a:fld>
            <a:endParaRPr lang="en-US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217" y="0"/>
            <a:ext cx="4099983" cy="342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1835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Lịch sử của Lập trình HĐT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493837"/>
            <a:ext cx="9448800" cy="4525963"/>
          </a:xfrm>
        </p:spPr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HĐT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Simula</a:t>
            </a:r>
            <a:r>
              <a:rPr lang="en-US" dirty="0"/>
              <a:t> (1967) -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HĐT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,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/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Smalltalk (1970s):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HĐT </a:t>
            </a:r>
            <a:br>
              <a:rPr lang="en-US" dirty="0"/>
            </a:br>
            <a:r>
              <a:rPr lang="en-US" dirty="0"/>
              <a:t>(“object-oriented programming”)</a:t>
            </a:r>
          </a:p>
          <a:p>
            <a:r>
              <a:rPr lang="en-US" dirty="0"/>
              <a:t>Ở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,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HĐT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Pentium)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020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HĐT trong các ngôn ngữ lập trình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92202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Các hệ thống HĐT giai đoạn đầu không có các lớp</a:t>
            </a:r>
          </a:p>
          <a:p>
            <a:pPr lvl="1"/>
            <a:r>
              <a:rPr lang="en-US"/>
              <a:t>Chỉ các “đối tượng” và “thông điệp” (chẳng hạn Hypertalk)</a:t>
            </a:r>
          </a:p>
          <a:p>
            <a:r>
              <a:rPr lang="en-US"/>
              <a:t>Gần đây, được hợp nhất và bổ sung thêm các khái niệm</a:t>
            </a:r>
          </a:p>
          <a:p>
            <a:pPr lvl="1"/>
            <a:r>
              <a:rPr lang="en-US"/>
              <a:t>Lớp</a:t>
            </a:r>
          </a:p>
          <a:p>
            <a:pPr lvl="1"/>
            <a:r>
              <a:rPr lang="en-US"/>
              <a:t>Kế thừa và Kết gắn động</a:t>
            </a:r>
          </a:p>
          <a:p>
            <a:r>
              <a:rPr lang="en-US"/>
              <a:t>Một vài đặc tính HĐT có thể được cài đặt trong các ngôn ngữ lập trình thủ tục như C</a:t>
            </a:r>
          </a:p>
          <a:p>
            <a:r>
              <a:rPr lang="en-US"/>
              <a:t>Các ngôn ngữ HĐT: Các khái niệm lập trình HĐT được nhúng vào và phải được tuân thủ</a:t>
            </a:r>
          </a:p>
          <a:p>
            <a:r>
              <a:rPr lang="en-US"/>
              <a:t>Cấp độ HĐT ở các ngôn ngữ HĐT có thể khác nhau</a:t>
            </a:r>
          </a:p>
          <a:p>
            <a:pPr lvl="1"/>
            <a:r>
              <a:rPr lang="en-US"/>
              <a:t>Eiffel (thuần khiết), Java (cao), C++ (hỗn hợp)</a:t>
            </a:r>
          </a:p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122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Chương trình Java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228600" y="1600201"/>
            <a:ext cx="9410700" cy="4525963"/>
          </a:xfrm>
        </p:spPr>
        <p:txBody>
          <a:bodyPr>
            <a:normAutofit/>
          </a:bodyPr>
          <a:lstStyle/>
          <a:p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Java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import)</a:t>
            </a:r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mô-đun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  <a:p>
            <a:pPr lvl="1"/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20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2450380" y="365125"/>
            <a:ext cx="7429500" cy="2033506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GradeBook.java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GradeBook</a:t>
            </a:r>
          </a:p>
          <a:p>
            <a:pPr>
              <a:buClrTx/>
              <a:buSzTx/>
              <a:buFontTx/>
              <a:buNone/>
            </a:pPr>
            <a:r>
              <a:rPr lang="en-US" sz="1400" b="1">
                <a:latin typeface="Consolas" pitchFamily="49" charset="0"/>
              </a:rPr>
              <a:t>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display a welcome message to the GradeBook user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void</a:t>
            </a:r>
            <a:r>
              <a:rPr lang="en-US" sz="1400" b="1">
                <a:latin typeface="Consolas" pitchFamily="49" charset="0"/>
              </a:rPr>
              <a:t> displayMessage()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System.out.println(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"Welcome to the Grade Book!"</a:t>
            </a:r>
            <a:r>
              <a:rPr lang="en-US" sz="1400" b="1">
                <a:latin typeface="Consolas" pitchFamily="49" charset="0"/>
              </a:rPr>
              <a:t> );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end class GradeBook 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450380" y="2816225"/>
            <a:ext cx="7429500" cy="2679837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GradeBookTest.java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GradeBookTest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main method begins program execution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static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void</a:t>
            </a:r>
            <a:r>
              <a:rPr lang="en-US" sz="1400" b="1">
                <a:latin typeface="Consolas" pitchFamily="49" charset="0"/>
              </a:rPr>
              <a:t> main( String args[] )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create a GradeBook object and assign it to myGradeBook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GradeBook myGradeBook =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new</a:t>
            </a:r>
            <a:r>
              <a:rPr lang="en-US" sz="1400" b="1">
                <a:latin typeface="Consolas" pitchFamily="49" charset="0"/>
              </a:rPr>
              <a:t> GradeBook();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call myGradeBook's displayMessage method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myGradeBook.displayMessage();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 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end class GradeBookTest 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450380" y="5699124"/>
            <a:ext cx="7429500" cy="520700"/>
          </a:xfrm>
          <a:prstGeom prst="rect">
            <a:avLst/>
          </a:prstGeom>
          <a:solidFill>
            <a:srgbClr val="CCCCE6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Welcome to the Grade Book! </a:t>
            </a:r>
          </a:p>
        </p:txBody>
      </p:sp>
      <p:sp>
        <p:nvSpPr>
          <p:cNvPr id="8196" name="AutoShape 4"/>
          <p:cNvSpPr>
            <a:spLocks noChangeAspect="1" noChangeArrowheads="1"/>
          </p:cNvSpPr>
          <p:nvPr/>
        </p:nvSpPr>
        <p:spPr bwMode="auto">
          <a:xfrm>
            <a:off x="4658593" y="2841624"/>
            <a:ext cx="51593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197" name="Group 5"/>
          <p:cNvGrpSpPr>
            <a:grpSpLocks/>
          </p:cNvGrpSpPr>
          <p:nvPr/>
        </p:nvGrpSpPr>
        <p:grpSpPr bwMode="auto">
          <a:xfrm>
            <a:off x="4677510" y="176212"/>
            <a:ext cx="5118101" cy="525462"/>
            <a:chOff x="2639" y="217"/>
            <a:chExt cx="2976" cy="331"/>
          </a:xfrm>
        </p:grpSpPr>
        <p:sp>
          <p:nvSpPr>
            <p:cNvPr id="8198" name="Text Box 6"/>
            <p:cNvSpPr txBox="1">
              <a:spLocks noChangeArrowheads="1"/>
            </p:cNvSpPr>
            <p:nvPr/>
          </p:nvSpPr>
          <p:spPr bwMode="auto">
            <a:xfrm>
              <a:off x="3696" y="217"/>
              <a:ext cx="1919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lớp được khai báo </a:t>
              </a:r>
              <a:r>
                <a:rPr lang="en-US" sz="1400" b="1"/>
                <a:t>public</a:t>
              </a:r>
              <a:r>
                <a:rPr lang="en-US" sz="1400"/>
                <a:t> phải được lưu trong tệp cùng tên lớp</a:t>
              </a:r>
            </a:p>
          </p:txBody>
        </p:sp>
        <p:sp>
          <p:nvSpPr>
            <p:cNvPr id="8199" name="Line 7"/>
            <p:cNvSpPr>
              <a:spLocks noChangeShapeType="1"/>
            </p:cNvSpPr>
            <p:nvPr/>
          </p:nvSpPr>
          <p:spPr bwMode="auto">
            <a:xfrm flipH="1">
              <a:off x="2975" y="409"/>
              <a:ext cx="721" cy="9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 flipH="1">
              <a:off x="2639" y="409"/>
              <a:ext cx="1057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1" name="Group 9"/>
          <p:cNvGrpSpPr>
            <a:grpSpLocks/>
          </p:cNvGrpSpPr>
          <p:nvPr/>
        </p:nvGrpSpPr>
        <p:grpSpPr bwMode="auto">
          <a:xfrm>
            <a:off x="221530" y="523875"/>
            <a:ext cx="2309681" cy="1668463"/>
            <a:chOff x="48" y="436"/>
            <a:chExt cx="1343" cy="1051"/>
          </a:xfrm>
        </p:grpSpPr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48" y="436"/>
              <a:ext cx="959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khai báo Lớp</a:t>
              </a:r>
              <a:br>
                <a:rPr lang="en-US" sz="1400"/>
              </a:br>
              <a:r>
                <a:rPr lang="en-US" sz="1400"/>
                <a:t>bắt đầu/kết thúc</a:t>
              </a:r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1008" y="576"/>
              <a:ext cx="383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>
              <a:off x="1008" y="576"/>
              <a:ext cx="383" cy="911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5" name="Group 13"/>
          <p:cNvGrpSpPr>
            <a:grpSpLocks/>
          </p:cNvGrpSpPr>
          <p:nvPr/>
        </p:nvGrpSpPr>
        <p:grpSpPr bwMode="auto">
          <a:xfrm>
            <a:off x="5337909" y="2574925"/>
            <a:ext cx="4339035" cy="1141413"/>
            <a:chOff x="3023" y="1728"/>
            <a:chExt cx="2523" cy="719"/>
          </a:xfrm>
        </p:grpSpPr>
        <p:sp>
          <p:nvSpPr>
            <p:cNvPr id="8206" name="Text Box 14"/>
            <p:cNvSpPr txBox="1">
              <a:spLocks noChangeArrowheads="1"/>
            </p:cNvSpPr>
            <p:nvPr/>
          </p:nvSpPr>
          <p:spPr bwMode="auto">
            <a:xfrm>
              <a:off x="3648" y="1728"/>
              <a:ext cx="1898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 b="1"/>
                <a:t>main()</a:t>
              </a:r>
              <a:r>
                <a:rPr lang="en-US" sz="1400"/>
                <a:t> được gọi tự động bởi máy ảo Java khi chương trình được thực thi</a:t>
              </a:r>
            </a:p>
          </p:txBody>
        </p:sp>
        <p:sp>
          <p:nvSpPr>
            <p:cNvPr id="8207" name="Line 15"/>
            <p:cNvSpPr>
              <a:spLocks noChangeShapeType="1"/>
            </p:cNvSpPr>
            <p:nvPr/>
          </p:nvSpPr>
          <p:spPr bwMode="auto">
            <a:xfrm flipH="1">
              <a:off x="3023" y="1968"/>
              <a:ext cx="625" cy="47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8" name="Group 16"/>
          <p:cNvGrpSpPr>
            <a:grpSpLocks/>
          </p:cNvGrpSpPr>
          <p:nvPr/>
        </p:nvGrpSpPr>
        <p:grpSpPr bwMode="auto">
          <a:xfrm>
            <a:off x="221530" y="1209675"/>
            <a:ext cx="2309681" cy="1668463"/>
            <a:chOff x="48" y="868"/>
            <a:chExt cx="1343" cy="1051"/>
          </a:xfrm>
        </p:grpSpPr>
        <p:sp>
          <p:nvSpPr>
            <p:cNvPr id="8209" name="Text Box 17"/>
            <p:cNvSpPr txBox="1">
              <a:spLocks noChangeArrowheads="1"/>
            </p:cNvSpPr>
            <p:nvPr/>
          </p:nvSpPr>
          <p:spPr bwMode="auto">
            <a:xfrm>
              <a:off x="48" y="868"/>
              <a:ext cx="959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02 lớp</a:t>
              </a:r>
              <a:br>
                <a:rPr lang="en-US" sz="1400"/>
              </a:br>
              <a:r>
                <a:rPr lang="en-US" sz="1400"/>
                <a:t>trong 02 tệp</a:t>
              </a:r>
            </a:p>
          </p:txBody>
        </p:sp>
        <p:sp>
          <p:nvSpPr>
            <p:cNvPr id="8210" name="Line 18"/>
            <p:cNvSpPr>
              <a:spLocks noChangeShapeType="1"/>
            </p:cNvSpPr>
            <p:nvPr/>
          </p:nvSpPr>
          <p:spPr bwMode="auto">
            <a:xfrm>
              <a:off x="1008" y="1008"/>
              <a:ext cx="383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Line 19"/>
            <p:cNvSpPr>
              <a:spLocks noChangeShapeType="1"/>
            </p:cNvSpPr>
            <p:nvPr/>
          </p:nvSpPr>
          <p:spPr bwMode="auto">
            <a:xfrm>
              <a:off x="1008" y="1008"/>
              <a:ext cx="383" cy="911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12" name="Group 20"/>
          <p:cNvGrpSpPr>
            <a:grpSpLocks/>
          </p:cNvGrpSpPr>
          <p:nvPr/>
        </p:nvGrpSpPr>
        <p:grpSpPr bwMode="auto">
          <a:xfrm>
            <a:off x="6086021" y="4554540"/>
            <a:ext cx="3590925" cy="831851"/>
            <a:chOff x="3458" y="2975"/>
            <a:chExt cx="2088" cy="524"/>
          </a:xfrm>
        </p:grpSpPr>
        <p:sp>
          <p:nvSpPr>
            <p:cNvPr id="8213" name="Text Box 21"/>
            <p:cNvSpPr txBox="1">
              <a:spLocks noChangeArrowheads="1"/>
            </p:cNvSpPr>
            <p:nvPr/>
          </p:nvSpPr>
          <p:spPr bwMode="auto">
            <a:xfrm>
              <a:off x="3603" y="3168"/>
              <a:ext cx="1943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tạo một thể hiện (đối tượng) của lớp và được tham chiếu bởi myGradeBook</a:t>
              </a:r>
            </a:p>
          </p:txBody>
        </p:sp>
        <p:sp>
          <p:nvSpPr>
            <p:cNvPr id="8214" name="Line 22"/>
            <p:cNvSpPr>
              <a:spLocks noChangeShapeType="1"/>
            </p:cNvSpPr>
            <p:nvPr/>
          </p:nvSpPr>
          <p:spPr bwMode="auto">
            <a:xfrm flipH="1" flipV="1">
              <a:off x="3458" y="2975"/>
              <a:ext cx="577" cy="19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52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-3505200" y="1462088"/>
            <a:ext cx="9310952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342900" eaLnBrk="1" hangingPunct="1">
              <a:spcBef>
                <a:spcPts val="600"/>
              </a:spcBef>
              <a:buClrTx/>
              <a:buSzPct val="75000"/>
              <a:buFontTx/>
              <a:buNone/>
            </a:pPr>
            <a:endParaRPr lang="en-US" sz="2400" dirty="0"/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806583" y="3392489"/>
            <a:ext cx="8588640" cy="258750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>
                <a:solidFill>
                  <a:srgbClr val="0000CC"/>
                </a:solidFill>
              </a:rPr>
              <a:t>public class</a:t>
            </a:r>
            <a:r>
              <a:rPr lang="en-US"/>
              <a:t> GradeBookTest {</a:t>
            </a:r>
          </a:p>
          <a:p>
            <a:pPr>
              <a:buClrTx/>
              <a:buFontTx/>
              <a:buNone/>
            </a:pPr>
            <a:r>
              <a:rPr lang="en-US"/>
              <a:t>  </a:t>
            </a:r>
            <a:r>
              <a:rPr lang="en-US">
                <a:solidFill>
                  <a:srgbClr val="00CC00"/>
                </a:solidFill>
              </a:rPr>
              <a:t>// phương thức main bắt đầu thực thi chương trình</a:t>
            </a:r>
          </a:p>
          <a:p>
            <a:pPr>
              <a:buClrTx/>
              <a:buFontTx/>
              <a:buNone/>
            </a:pPr>
            <a:r>
              <a:rPr lang="en-US"/>
              <a:t>  </a:t>
            </a:r>
            <a:r>
              <a:rPr lang="en-US">
                <a:solidFill>
                  <a:srgbClr val="0000CC"/>
                </a:solidFill>
              </a:rPr>
              <a:t>public static</a:t>
            </a:r>
            <a:r>
              <a:rPr lang="en-US"/>
              <a:t> </a:t>
            </a:r>
            <a:r>
              <a:rPr lang="en-US">
                <a:solidFill>
                  <a:srgbClr val="0000CC"/>
                </a:solidFill>
              </a:rPr>
              <a:t>void</a:t>
            </a:r>
            <a:r>
              <a:rPr lang="en-US"/>
              <a:t> main( String args[] ) {</a:t>
            </a:r>
          </a:p>
          <a:p>
            <a:pPr>
              <a:buClrTx/>
              <a:buFontTx/>
              <a:buNone/>
            </a:pPr>
            <a:r>
              <a:rPr lang="en-US"/>
              <a:t>    </a:t>
            </a:r>
            <a:r>
              <a:rPr lang="en-US">
                <a:solidFill>
                  <a:srgbClr val="00CC00"/>
                </a:solidFill>
              </a:rPr>
              <a:t>// tạo đối tượng GradeBook và gán cho myGradeBook</a:t>
            </a:r>
            <a:r>
              <a:rPr lang="en-US"/>
              <a:t> </a:t>
            </a:r>
          </a:p>
          <a:p>
            <a:pPr>
              <a:buClrTx/>
              <a:buFontTx/>
              <a:buNone/>
            </a:pPr>
            <a:r>
              <a:rPr lang="en-US" b="1"/>
              <a:t>    GradeBook myGradeBook = </a:t>
            </a:r>
            <a:r>
              <a:rPr lang="en-US" b="1">
                <a:solidFill>
                  <a:srgbClr val="0000CC"/>
                </a:solidFill>
              </a:rPr>
              <a:t>new</a:t>
            </a:r>
            <a:r>
              <a:rPr lang="en-US" b="1"/>
              <a:t> GradeBook(); </a:t>
            </a:r>
          </a:p>
          <a:p>
            <a:pPr>
              <a:buClrTx/>
              <a:buSzTx/>
              <a:buFontTx/>
              <a:buNone/>
            </a:pPr>
            <a:r>
              <a:rPr lang="en-US"/>
              <a:t>    </a:t>
            </a:r>
            <a:r>
              <a:rPr lang="en-US">
                <a:solidFill>
                  <a:srgbClr val="00CC00"/>
                </a:solidFill>
              </a:rPr>
              <a:t>// gọi phương thức displayMessage của myGradeBook</a:t>
            </a:r>
          </a:p>
          <a:p>
            <a:pPr>
              <a:buClrTx/>
              <a:buFontTx/>
              <a:buNone/>
            </a:pPr>
            <a:r>
              <a:rPr lang="en-US" b="1"/>
              <a:t>    myGradeBook.displayMessage();</a:t>
            </a:r>
            <a:r>
              <a:rPr lang="en-US"/>
              <a:t> </a:t>
            </a:r>
          </a:p>
          <a:p>
            <a:pPr>
              <a:buClrTx/>
              <a:buFontTx/>
              <a:buNone/>
            </a:pPr>
            <a:r>
              <a:rPr lang="en-US"/>
              <a:t>  }  </a:t>
            </a:r>
          </a:p>
          <a:p>
            <a:pPr>
              <a:buClrTx/>
              <a:buFontTx/>
              <a:buNone/>
            </a:pPr>
            <a:r>
              <a:rPr lang="en-US"/>
              <a:t>} </a:t>
            </a:r>
            <a:r>
              <a:rPr lang="en-US">
                <a:solidFill>
                  <a:srgbClr val="00CC00"/>
                </a:solidFill>
              </a:rPr>
              <a:t>// kết thúc lớp GradeBookTest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đối tượng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qua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(references)</a:t>
            </a:r>
          </a:p>
          <a:p>
            <a:pPr lvl="1"/>
            <a:r>
              <a:rPr lang="en-US" sz="2000" dirty="0"/>
              <a:t>C</a:t>
            </a:r>
            <a:r>
              <a:rPr lang="en-US" sz="2000"/>
              <a:t>ác </a:t>
            </a:r>
            <a:r>
              <a:rPr lang="en-US" sz="2000" dirty="0" err="1"/>
              <a:t>tham</a:t>
            </a:r>
            <a:r>
              <a:rPr lang="en-US" sz="2000" dirty="0"/>
              <a:t> </a:t>
            </a:r>
            <a:r>
              <a:rPr lang="en-US" sz="2000" dirty="0" err="1"/>
              <a:t>chiếu</a:t>
            </a:r>
            <a:r>
              <a:rPr lang="en-US" sz="2000" dirty="0"/>
              <a:t> </a:t>
            </a: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tượng</a:t>
            </a:r>
            <a:r>
              <a:rPr lang="en-US" sz="2000" dirty="0"/>
              <a:t> </a:t>
            </a:r>
            <a:r>
              <a:rPr lang="en-US" sz="2000" dirty="0" err="1"/>
              <a:t>đóng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</a:t>
            </a:r>
            <a:r>
              <a:rPr lang="en-US" sz="2000" dirty="0" err="1"/>
              <a:t>trò</a:t>
            </a:r>
            <a:r>
              <a:rPr lang="en-US" sz="2000" dirty="0"/>
              <a:t> </a:t>
            </a:r>
            <a:r>
              <a:rPr lang="en-US" sz="2000" dirty="0" err="1"/>
              <a:t>giống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con </a:t>
            </a:r>
            <a:r>
              <a:rPr lang="en-US" sz="2000" dirty="0" err="1"/>
              <a:t>trỏ</a:t>
            </a:r>
            <a:endParaRPr lang="en-US" sz="2000" dirty="0"/>
          </a:p>
          <a:p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tường</a:t>
            </a:r>
            <a:r>
              <a:rPr lang="en-US" sz="2400" dirty="0"/>
              <a:t> minh </a:t>
            </a:r>
            <a:r>
              <a:rPr lang="en-US" sz="2400" dirty="0" err="1"/>
              <a:t>bởi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new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85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Đối tượng và Tham chiếu đối tượng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883173" y="2979738"/>
            <a:ext cx="5154215" cy="3198812"/>
            <a:chOff x="1095" y="1877"/>
            <a:chExt cx="2997" cy="2015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auto">
            <a:xfrm>
              <a:off x="2438" y="2617"/>
              <a:ext cx="1343" cy="527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1142" y="2761"/>
              <a:ext cx="863" cy="191"/>
            </a:xfrm>
            <a:prstGeom prst="rect">
              <a:avLst/>
            </a:prstGeom>
            <a:solidFill>
              <a:srgbClr val="EFEFF7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5" name="Text Box 5"/>
            <p:cNvSpPr txBox="1">
              <a:spLocks noChangeArrowheads="1"/>
            </p:cNvSpPr>
            <p:nvPr/>
          </p:nvSpPr>
          <p:spPr bwMode="auto">
            <a:xfrm>
              <a:off x="1095" y="2582"/>
              <a:ext cx="9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>
                  <a:latin typeface="Consolas" pitchFamily="49" charset="0"/>
                  <a:cs typeface="Courier New" pitchFamily="49" charset="0"/>
                </a:rPr>
                <a:t>myGradeBook</a:t>
              </a:r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2643" y="2660"/>
              <a:ext cx="95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>
                  <a:latin typeface="Consolas" pitchFamily="49" charset="0"/>
                  <a:cs typeface="Courier New" pitchFamily="49" charset="0"/>
                </a:rPr>
                <a:t>GradeBook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2517" y="2115"/>
              <a:ext cx="1199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ts val="1125"/>
                </a:spcBef>
                <a:buClrTx/>
                <a:buFontTx/>
                <a:buNone/>
              </a:pPr>
              <a:r>
                <a:rPr lang="en-US">
                  <a:cs typeface="Courier New" pitchFamily="49" charset="0"/>
                </a:rPr>
                <a:t>Vùng nhớ</a:t>
              </a:r>
              <a:br>
                <a:rPr lang="en-US">
                  <a:cs typeface="Courier New" pitchFamily="49" charset="0"/>
                </a:rPr>
              </a:br>
              <a:r>
                <a:rPr lang="en-US">
                  <a:cs typeface="Courier New" pitchFamily="49" charset="0"/>
                </a:rPr>
                <a:t>Heap</a:t>
              </a:r>
            </a:p>
          </p:txBody>
        </p:sp>
        <p:sp>
          <p:nvSpPr>
            <p:cNvPr id="10248" name="Oval 8"/>
            <p:cNvSpPr>
              <a:spLocks noChangeArrowheads="1"/>
            </p:cNvSpPr>
            <p:nvPr/>
          </p:nvSpPr>
          <p:spPr bwMode="auto">
            <a:xfrm>
              <a:off x="2173" y="1877"/>
              <a:ext cx="1919" cy="2015"/>
            </a:xfrm>
            <a:prstGeom prst="ellipse">
              <a:avLst/>
            </a:prstGeom>
            <a:noFill/>
            <a:ln w="936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 flipV="1">
              <a:off x="1574" y="2712"/>
              <a:ext cx="863" cy="14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629444" y="1460500"/>
            <a:ext cx="8602398" cy="1110177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...</a:t>
            </a:r>
          </a:p>
          <a:p>
            <a:pPr>
              <a:buClrTx/>
              <a:buSzTx/>
              <a:buFontTx/>
              <a:buNone/>
            </a:pPr>
            <a:r>
              <a:rPr lang="en-US"/>
              <a:t>        </a:t>
            </a:r>
            <a:r>
              <a:rPr lang="en-US">
                <a:solidFill>
                  <a:srgbClr val="00CC00"/>
                </a:solidFill>
              </a:rPr>
              <a:t>// tạo đối tượng GradeBook và gán cho myGradeBook</a:t>
            </a:r>
          </a:p>
          <a:p>
            <a:pPr>
              <a:buClrTx/>
              <a:buFontTx/>
              <a:buNone/>
            </a:pPr>
            <a:r>
              <a:rPr lang="en-US" sz="1600" b="1">
                <a:latin typeface="Consolas" pitchFamily="49" charset="0"/>
              </a:rPr>
              <a:t>    GradeBook myGradeBook = </a:t>
            </a:r>
            <a:r>
              <a:rPr lang="en-US" sz="1600" b="1">
                <a:solidFill>
                  <a:srgbClr val="0000CC"/>
                </a:solidFill>
                <a:latin typeface="Consolas" pitchFamily="49" charset="0"/>
              </a:rPr>
              <a:t>new</a:t>
            </a:r>
            <a:r>
              <a:rPr lang="en-US" sz="1600" b="1">
                <a:latin typeface="Consolas" pitchFamily="49" charset="0"/>
              </a:rPr>
              <a:t> GradeBook(); </a:t>
            </a:r>
          </a:p>
          <a:p>
            <a:pPr>
              <a:buClrTx/>
              <a:buFontTx/>
              <a:buNone/>
            </a:pPr>
            <a:r>
              <a:rPr lang="en-US" sz="1600" b="1">
                <a:latin typeface="Consolas" pitchFamily="49" charset="0"/>
              </a:rPr>
              <a:t>...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87458" y="4191000"/>
            <a:ext cx="140335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en-US">
                <a:latin typeface="Times New Roman" pitchFamily="16" charset="0"/>
              </a:rPr>
              <a:t>Tham chiếu</a:t>
            </a:r>
            <a:br>
              <a:rPr lang="en-US">
                <a:latin typeface="Times New Roman" pitchFamily="16" charset="0"/>
              </a:rPr>
            </a:br>
            <a:r>
              <a:rPr lang="en-US">
                <a:latin typeface="Times New Roman" pitchFamily="16" charset="0"/>
              </a:rPr>
              <a:t>đối tượng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7248922" y="4265614"/>
            <a:ext cx="2579688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en-US">
                <a:latin typeface="Times New Roman" pitchFamily="16" charset="0"/>
              </a:rPr>
              <a:t>đối tượng được tạo bởi </a:t>
            </a:r>
            <a:br>
              <a:rPr lang="en-US">
                <a:latin typeface="Times New Roman" pitchFamily="16" charset="0"/>
              </a:rPr>
            </a:br>
            <a:r>
              <a:rPr lang="en-US">
                <a:latin typeface="Times New Roman" pitchFamily="16" charset="0"/>
              </a:rPr>
              <a:t>new GradeBook()</a:t>
            </a:r>
          </a:p>
        </p:txBody>
      </p:sp>
      <p:sp>
        <p:nvSpPr>
          <p:cNvPr id="10253" name="AutoShape 13"/>
          <p:cNvSpPr>
            <a:spLocks noChangeArrowheads="1"/>
          </p:cNvSpPr>
          <p:nvPr/>
        </p:nvSpPr>
        <p:spPr bwMode="auto">
          <a:xfrm>
            <a:off x="1630363" y="4403725"/>
            <a:ext cx="247650" cy="2286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AutoShape 14"/>
          <p:cNvSpPr>
            <a:spLocks noChangeArrowheads="1"/>
          </p:cNvSpPr>
          <p:nvPr/>
        </p:nvSpPr>
        <p:spPr bwMode="auto">
          <a:xfrm flipH="1">
            <a:off x="6748463" y="4494213"/>
            <a:ext cx="495300" cy="304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23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err="1"/>
              <a:t>Thuộc</a:t>
            </a:r>
            <a:r>
              <a:rPr lang="en-US" sz="4000" dirty="0"/>
              <a:t> </a:t>
            </a:r>
            <a:r>
              <a:rPr lang="en-US" sz="4000" dirty="0" err="1"/>
              <a:t>tính</a:t>
            </a:r>
            <a:r>
              <a:rPr lang="en-US" sz="4000" dirty="0"/>
              <a:t>, </a:t>
            </a:r>
            <a:r>
              <a:rPr lang="en-US" sz="4000" dirty="0" err="1"/>
              <a:t>Phương</a:t>
            </a:r>
            <a:r>
              <a:rPr lang="en-US" sz="4000" dirty="0"/>
              <a:t> </a:t>
            </a:r>
            <a:r>
              <a:rPr lang="en-US" sz="4000" dirty="0" err="1"/>
              <a:t>thức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soát</a:t>
            </a:r>
            <a:r>
              <a:rPr lang="en-US" sz="4000" dirty="0"/>
              <a:t> </a:t>
            </a:r>
            <a:r>
              <a:rPr lang="en-US" sz="4000" dirty="0" err="1"/>
              <a:t>truy</a:t>
            </a:r>
            <a:r>
              <a:rPr lang="en-US" sz="4000" dirty="0"/>
              <a:t> </a:t>
            </a:r>
            <a:r>
              <a:rPr lang="en-US" sz="4000" dirty="0" err="1"/>
              <a:t>cập</a:t>
            </a:r>
            <a:endParaRPr lang="en-US" sz="4000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phạm vi truy cập</a:t>
            </a:r>
          </a:p>
          <a:p>
            <a:pPr lvl="1"/>
            <a:r>
              <a:rPr lang="en-US"/>
              <a:t>Public</a:t>
            </a:r>
          </a:p>
          <a:p>
            <a:pPr lvl="2"/>
            <a:r>
              <a:rPr lang="en-US"/>
              <a:t>Có thể truy cập ở bất kỳ đâu và bởi bất kỳ ai</a:t>
            </a:r>
          </a:p>
          <a:p>
            <a:pPr lvl="1"/>
            <a:r>
              <a:rPr lang="en-US"/>
              <a:t>Protected</a:t>
            </a:r>
          </a:p>
          <a:p>
            <a:pPr lvl="2"/>
            <a:r>
              <a:rPr lang="en-US"/>
              <a:t>Chỉ có thể truy cập bởi lớp đó và các lớp con hoặc các lớp trong cùng gói (package)</a:t>
            </a:r>
          </a:p>
          <a:p>
            <a:pPr lvl="1"/>
            <a:r>
              <a:rPr lang="en-US"/>
              <a:t>Private</a:t>
            </a:r>
          </a:p>
          <a:p>
            <a:pPr lvl="2"/>
            <a:r>
              <a:rPr lang="en-US"/>
              <a:t>Chỉ có thể truy cập bởi lớp đó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471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/>
          <p:cNvSpPr txBox="1">
            <a:spLocks noChangeArrowheads="1"/>
          </p:cNvSpPr>
          <p:nvPr/>
        </p:nvSpPr>
        <p:spPr bwMode="auto">
          <a:xfrm>
            <a:off x="1981200" y="1676401"/>
            <a:ext cx="7429500" cy="461883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GradeBook.java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GradeBook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private</a:t>
            </a:r>
            <a:r>
              <a:rPr lang="en-US" sz="1400" b="1">
                <a:latin typeface="Consolas" pitchFamily="49" charset="0"/>
              </a:rPr>
              <a:t> String courseName;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course name for this GradeBook</a:t>
            </a:r>
          </a:p>
          <a:p>
            <a:pPr>
              <a:buClrTx/>
              <a:buFontTx/>
              <a:buNone/>
            </a:pP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// method to set the course name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void</a:t>
            </a:r>
            <a:r>
              <a:rPr lang="en-US" sz="1400" b="1">
                <a:latin typeface="Consolas" pitchFamily="49" charset="0"/>
              </a:rPr>
              <a:t> setCourseName( String name )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courseName = name;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store the course name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method to retrieve the course name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</a:t>
            </a:r>
            <a:r>
              <a:rPr lang="en-US" sz="1400" b="1">
                <a:latin typeface="Consolas" pitchFamily="49" charset="0"/>
              </a:rPr>
              <a:t>String getCourseName()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 </a:t>
            </a:r>
            <a:r>
              <a:rPr lang="en-US" sz="1400" b="1">
                <a:latin typeface="Consolas" pitchFamily="49" charset="0"/>
              </a:rPr>
              <a:t>courseName;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display a welcome message to the GradeBook user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void</a:t>
            </a:r>
            <a:r>
              <a:rPr lang="en-US" sz="1400" b="1">
                <a:latin typeface="Consolas" pitchFamily="49" charset="0"/>
              </a:rPr>
              <a:t> displayMessage()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System.out.println(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"Welcome to the Grade Book!"</a:t>
            </a:r>
            <a:r>
              <a:rPr lang="en-US" sz="1400" b="1">
                <a:latin typeface="Consolas" pitchFamily="49" charset="0"/>
              </a:rPr>
              <a:t> );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end class GradeBook </a:t>
            </a:r>
          </a:p>
        </p:txBody>
      </p:sp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5281480" y="2589214"/>
            <a:ext cx="4622801" cy="742951"/>
            <a:chOff x="3071" y="1631"/>
            <a:chExt cx="2688" cy="468"/>
          </a:xfrm>
        </p:grpSpPr>
        <p:sp>
          <p:nvSpPr>
            <p:cNvPr id="12291" name="Text Box 3"/>
            <p:cNvSpPr txBox="1">
              <a:spLocks noChangeArrowheads="1"/>
            </p:cNvSpPr>
            <p:nvPr/>
          </p:nvSpPr>
          <p:spPr bwMode="auto">
            <a:xfrm>
              <a:off x="4056" y="1632"/>
              <a:ext cx="1703" cy="46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thuộc tính (attribute):</a:t>
              </a:r>
              <a:br>
                <a:rPr lang="en-US" sz="1400"/>
              </a:br>
              <a:r>
                <a:rPr lang="en-US" sz="1400"/>
                <a:t>Mỗi đối tượng </a:t>
              </a:r>
              <a:r>
                <a:rPr lang="en-US" sz="1400" b="1"/>
                <a:t>Gradebook</a:t>
              </a:r>
              <a:r>
                <a:rPr lang="en-US" sz="1400"/>
                <a:t> có biến thể hiện tên </a:t>
              </a:r>
              <a:r>
                <a:rPr lang="en-US" sz="1400" b="1"/>
                <a:t>courseName</a:t>
              </a:r>
              <a:r>
                <a:rPr lang="en-US" sz="1400"/>
                <a:t> </a:t>
              </a:r>
            </a:p>
          </p:txBody>
        </p:sp>
        <p:sp>
          <p:nvSpPr>
            <p:cNvPr id="12292" name="Line 4"/>
            <p:cNvSpPr>
              <a:spLocks noChangeShapeType="1"/>
            </p:cNvSpPr>
            <p:nvPr/>
          </p:nvSpPr>
          <p:spPr bwMode="auto">
            <a:xfrm flipH="1" flipV="1">
              <a:off x="3071" y="1631"/>
              <a:ext cx="961" cy="19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3" name="Group 5"/>
          <p:cNvGrpSpPr>
            <a:grpSpLocks/>
          </p:cNvGrpSpPr>
          <p:nvPr/>
        </p:nvGrpSpPr>
        <p:grpSpPr bwMode="auto">
          <a:xfrm>
            <a:off x="165100" y="1600199"/>
            <a:ext cx="2062031" cy="955675"/>
            <a:chOff x="96" y="1008"/>
            <a:chExt cx="1199" cy="602"/>
          </a:xfrm>
        </p:grpSpPr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96" y="1008"/>
              <a:ext cx="911" cy="602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 b="1"/>
                <a:t>private</a:t>
              </a:r>
              <a:r>
                <a:rPr lang="en-US" sz="1400"/>
                <a:t>: </a:t>
              </a:r>
              <a:br>
                <a:rPr lang="en-US" sz="1400"/>
              </a:br>
              <a:r>
                <a:rPr lang="en-US" sz="1400"/>
                <a:t>chỉ được truy cập bởi các phương thức của lớp</a:t>
              </a:r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>
              <a:off x="1008" y="1584"/>
              <a:ext cx="287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6" name="Group 8"/>
          <p:cNvGrpSpPr>
            <a:grpSpLocks/>
          </p:cNvGrpSpPr>
          <p:nvPr/>
        </p:nvGrpSpPr>
        <p:grpSpPr bwMode="auto">
          <a:xfrm>
            <a:off x="297525" y="2589214"/>
            <a:ext cx="2259806" cy="1593851"/>
            <a:chOff x="173" y="1631"/>
            <a:chExt cx="1314" cy="1004"/>
          </a:xfrm>
        </p:grpSpPr>
        <p:sp>
          <p:nvSpPr>
            <p:cNvPr id="12297" name="Text Box 9"/>
            <p:cNvSpPr txBox="1">
              <a:spLocks noChangeArrowheads="1"/>
            </p:cNvSpPr>
            <p:nvPr/>
          </p:nvSpPr>
          <p:spPr bwMode="auto">
            <a:xfrm>
              <a:off x="173" y="2304"/>
              <a:ext cx="657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các phạm vi truy cập</a:t>
              </a:r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 flipV="1">
              <a:off x="830" y="1631"/>
              <a:ext cx="657" cy="67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830" y="2304"/>
              <a:ext cx="454" cy="28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0" name="Group 12"/>
          <p:cNvGrpSpPr>
            <a:grpSpLocks/>
          </p:cNvGrpSpPr>
          <p:nvPr/>
        </p:nvGrpSpPr>
        <p:grpSpPr bwMode="auto">
          <a:xfrm>
            <a:off x="5118100" y="381001"/>
            <a:ext cx="3382831" cy="1598613"/>
            <a:chOff x="2976" y="240"/>
            <a:chExt cx="1967" cy="1007"/>
          </a:xfrm>
        </p:grpSpPr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2976" y="240"/>
              <a:ext cx="1967" cy="1007"/>
            </a:xfrm>
            <a:prstGeom prst="rect">
              <a:avLst/>
            </a:prstGeom>
            <a:solidFill>
              <a:srgbClr val="EFEFF7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Text Box 14"/>
            <p:cNvSpPr txBox="1">
              <a:spLocks noChangeArrowheads="1"/>
            </p:cNvSpPr>
            <p:nvPr/>
          </p:nvSpPr>
          <p:spPr bwMode="auto">
            <a:xfrm>
              <a:off x="3513" y="288"/>
              <a:ext cx="893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 b="1">
                  <a:cs typeface="Courier New" pitchFamily="49" charset="0"/>
                </a:rPr>
                <a:t>GradeBook</a:t>
              </a:r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>
              <a:off x="2976" y="480"/>
              <a:ext cx="1967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3065" y="480"/>
              <a:ext cx="1878" cy="7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- courseName : String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setCourseName( n</a:t>
              </a:r>
              <a:r>
                <a:rPr lang="en-US" sz="1400"/>
                <a:t>ame : String </a:t>
              </a:r>
              <a:r>
                <a:rPr lang="en-US" sz="1400">
                  <a:cs typeface="Courier New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</a:t>
              </a:r>
              <a:r>
                <a:rPr lang="en-US" sz="1400"/>
                <a:t>getCourseName() : String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displayMessage()</a:t>
              </a:r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>
              <a:off x="2976" y="672"/>
              <a:ext cx="1967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6" name="Group 18"/>
          <p:cNvGrpSpPr>
            <a:grpSpLocks/>
          </p:cNvGrpSpPr>
          <p:nvPr/>
        </p:nvGrpSpPr>
        <p:grpSpPr bwMode="auto">
          <a:xfrm>
            <a:off x="5033831" y="3275014"/>
            <a:ext cx="3780102" cy="1828801"/>
            <a:chOff x="2927" y="2063"/>
            <a:chExt cx="2198" cy="1152"/>
          </a:xfrm>
        </p:grpSpPr>
        <p:sp>
          <p:nvSpPr>
            <p:cNvPr id="12307" name="Text Box 19"/>
            <p:cNvSpPr txBox="1">
              <a:spLocks noChangeArrowheads="1"/>
            </p:cNvSpPr>
            <p:nvPr/>
          </p:nvSpPr>
          <p:spPr bwMode="auto">
            <a:xfrm>
              <a:off x="4088" y="2832"/>
              <a:ext cx="1037" cy="19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/>
                <a:t>các phương thức</a:t>
              </a:r>
            </a:p>
          </p:txBody>
        </p:sp>
        <p:sp>
          <p:nvSpPr>
            <p:cNvPr id="12308" name="Line 20"/>
            <p:cNvSpPr>
              <a:spLocks noChangeShapeType="1"/>
            </p:cNvSpPr>
            <p:nvPr/>
          </p:nvSpPr>
          <p:spPr bwMode="auto">
            <a:xfrm flipH="1" flipV="1">
              <a:off x="3415" y="2687"/>
              <a:ext cx="673" cy="14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 flipH="1">
              <a:off x="3294" y="2832"/>
              <a:ext cx="794" cy="38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22"/>
            <p:cNvSpPr>
              <a:spLocks noChangeShapeType="1"/>
            </p:cNvSpPr>
            <p:nvPr/>
          </p:nvSpPr>
          <p:spPr bwMode="auto">
            <a:xfrm flipH="1" flipV="1">
              <a:off x="2927" y="2063"/>
              <a:ext cx="1161" cy="76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308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495300" y="1616076"/>
            <a:ext cx="8915400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MyDate d = new MyDate();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d.year = 2005;    // compile error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632200" y="533400"/>
            <a:ext cx="5943600" cy="274320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1313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class MyDate {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>
                <a:latin typeface="Courier New" pitchFamily="49" charset="0"/>
                <a:cs typeface="Courier New" pitchFamily="49" charset="0"/>
              </a:rPr>
              <a:t> int year, mon, day;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>
                <a:latin typeface="Courier New" pitchFamily="49" charset="0"/>
                <a:cs typeface="Courier New" pitchFamily="49" charset="0"/>
              </a:rPr>
              <a:t> int getYear() {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        return year;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>
                <a:latin typeface="Courier New" pitchFamily="49" charset="0"/>
                <a:cs typeface="Courier New" pitchFamily="49" charset="0"/>
              </a:rPr>
              <a:t> void setYear(int y){      	  year=y;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	  } 	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SzPct val="75000"/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495300" y="4960938"/>
            <a:ext cx="90805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buClrTx/>
              <a:buSzPct val="76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d.setYear(2005);</a:t>
            </a:r>
          </a:p>
          <a:p>
            <a:pPr eaLnBrk="1" hangingPunct="1">
              <a:buClrTx/>
              <a:buSzPct val="76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System.out.println(d.getYear());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764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Nạp chồng phương thức</a:t>
            </a:r>
            <a:br>
              <a:rPr lang="en-US"/>
            </a:br>
            <a:r>
              <a:rPr lang="en-US"/>
              <a:t>(overloading)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MyDate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setMonth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m) { …}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setMonth</a:t>
            </a:r>
            <a:r>
              <a:rPr lang="en-US" dirty="0"/>
              <a:t>(String s) { …}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d.setMonth</a:t>
            </a:r>
            <a:r>
              <a:rPr lang="en-US" dirty="0"/>
              <a:t>(9);</a:t>
            </a:r>
          </a:p>
          <a:p>
            <a:pPr marL="0" indent="0">
              <a:buNone/>
            </a:pPr>
            <a:r>
              <a:rPr lang="en-US" dirty="0" err="1"/>
              <a:t>d.setMonth</a:t>
            </a:r>
            <a:r>
              <a:rPr lang="en-US" dirty="0"/>
              <a:t>(”September”);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37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Phương thức khởi tạo (constructor)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1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 err="1"/>
              <a:t>ngay</a:t>
            </a:r>
            <a:r>
              <a:rPr lang="en-US" i="1" dirty="0"/>
              <a:t> </a:t>
            </a:r>
            <a:r>
              <a:rPr lang="en-US" i="1" dirty="0" err="1"/>
              <a:t>sau</a:t>
            </a:r>
            <a:r>
              <a:rPr lang="en-US" i="1" dirty="0"/>
              <a:t> </a:t>
            </a:r>
            <a:r>
              <a:rPr lang="en-US" i="1" dirty="0" err="1"/>
              <a:t>khi</a:t>
            </a:r>
            <a:r>
              <a:rPr lang="en-US" i="1" dirty="0"/>
              <a:t> </a:t>
            </a:r>
            <a:r>
              <a:rPr lang="en-US" i="1" dirty="0" err="1"/>
              <a:t>đối</a:t>
            </a:r>
            <a:r>
              <a:rPr lang="en-US" i="1" dirty="0"/>
              <a:t> </a:t>
            </a:r>
            <a:r>
              <a:rPr lang="en-US" i="1" dirty="0" err="1"/>
              <a:t>tượng</a:t>
            </a:r>
            <a:r>
              <a:rPr lang="en-US" i="1" dirty="0"/>
              <a:t> </a:t>
            </a:r>
            <a:r>
              <a:rPr lang="en-US" i="1" dirty="0" err="1"/>
              <a:t>được</a:t>
            </a:r>
            <a:r>
              <a:rPr lang="en-US" i="1" dirty="0"/>
              <a:t> </a:t>
            </a:r>
            <a:r>
              <a:rPr lang="en-US" i="1" dirty="0" err="1"/>
              <a:t>tạo</a:t>
            </a:r>
            <a:r>
              <a:rPr lang="en-US" i="1" dirty="0"/>
              <a:t> </a:t>
            </a:r>
            <a:r>
              <a:rPr lang="en-US" i="1" dirty="0" err="1"/>
              <a:t>ra</a:t>
            </a:r>
            <a:endParaRPr lang="en-US" i="1" dirty="0"/>
          </a:p>
          <a:p>
            <a:pPr lvl="1"/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6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Phương thức khởi tạo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Tên trùng với tên lớp</a:t>
            </a:r>
          </a:p>
          <a:p>
            <a:r>
              <a:rPr lang="en-US"/>
              <a:t>Không nhận giá trị trả lại</a:t>
            </a:r>
          </a:p>
          <a:p>
            <a:r>
              <a:rPr lang="en-US"/>
              <a:t>Được gọi tự động mỗi khi đối tượng được tạo (bởi toán tử new)</a:t>
            </a:r>
          </a:p>
          <a:p>
            <a:pPr lvl="1"/>
            <a:r>
              <a:rPr lang="en-US"/>
              <a:t>nếu không khai báo, hệ thống sẽ gọi phương thức khởi tạo mặc định - phương thức rỗng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74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/>
          <p:cNvSpPr txBox="1">
            <a:spLocks noChangeArrowheads="1"/>
          </p:cNvSpPr>
          <p:nvPr/>
        </p:nvSpPr>
        <p:spPr bwMode="auto">
          <a:xfrm>
            <a:off x="412750" y="768351"/>
            <a:ext cx="7512050" cy="569604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GradeBook.java</a:t>
            </a:r>
            <a:r>
              <a:rPr lang="en-US" sz="1400" b="1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>
                <a:latin typeface="Consolas" pitchFamily="49" charset="0"/>
              </a:rPr>
              <a:t> GradeBook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{ </a:t>
            </a:r>
          </a:p>
          <a:p>
            <a:pPr>
              <a:buClrTx/>
              <a:buSz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private</a:t>
            </a:r>
            <a:r>
              <a:rPr lang="en-US" sz="1400">
                <a:latin typeface="Consolas" pitchFamily="49" charset="0"/>
              </a:rPr>
              <a:t> String courseName;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course name</a:t>
            </a:r>
          </a:p>
          <a:p>
            <a:pPr>
              <a:buClrTx/>
              <a:buFontTx/>
              <a:buNone/>
            </a:pPr>
            <a:endParaRPr lang="en-US" sz="1400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constructor initializes courseName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public GradeBook( String name )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courseName = name; </a:t>
            </a: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initializes courseName 12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}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method to set the course name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public void</a:t>
            </a:r>
            <a:r>
              <a:rPr lang="en-US" sz="1400">
                <a:latin typeface="Consolas" pitchFamily="49" charset="0"/>
              </a:rPr>
              <a:t> setCourseName( String name )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  courseName = name;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store the course name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}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method to retrieve the course name</a:t>
            </a:r>
            <a:r>
              <a:rPr lang="en-US" sz="1400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public </a:t>
            </a:r>
            <a:r>
              <a:rPr lang="en-US" sz="1400">
                <a:latin typeface="Consolas" pitchFamily="49" charset="0"/>
              </a:rPr>
              <a:t>String getCourseName()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{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  </a:t>
            </a: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return </a:t>
            </a:r>
            <a:r>
              <a:rPr lang="en-US" sz="1400">
                <a:latin typeface="Consolas" pitchFamily="49" charset="0"/>
              </a:rPr>
              <a:t>courseName;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}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display a welcome message to the GradeBook user</a:t>
            </a:r>
            <a:r>
              <a:rPr lang="en-US" sz="1400">
                <a:latin typeface="Consolas" pitchFamily="49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</a:t>
            </a:r>
            <a:r>
              <a:rPr lang="en-US" sz="1400">
                <a:solidFill>
                  <a:srgbClr val="0000CC"/>
                </a:solidFill>
                <a:latin typeface="Consolas" pitchFamily="49" charset="0"/>
              </a:rPr>
              <a:t>public void</a:t>
            </a:r>
            <a:r>
              <a:rPr lang="en-US" sz="1400">
                <a:latin typeface="Consolas" pitchFamily="49" charset="0"/>
              </a:rPr>
              <a:t> displayMessage()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{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  System.out.println( </a:t>
            </a:r>
            <a:r>
              <a:rPr lang="en-US" sz="1400">
                <a:solidFill>
                  <a:srgbClr val="0000FF"/>
                </a:solidFill>
                <a:latin typeface="Consolas" pitchFamily="49" charset="0"/>
              </a:rPr>
              <a:t>"Welcome to the Grade Book!"</a:t>
            </a:r>
            <a:r>
              <a:rPr lang="en-US" sz="1400">
                <a:latin typeface="Consolas" pitchFamily="49" charset="0"/>
              </a:rPr>
              <a:t> );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  } </a:t>
            </a:r>
          </a:p>
          <a:p>
            <a:pPr>
              <a:buClrTx/>
              <a:buFontTx/>
              <a:buNone/>
            </a:pPr>
            <a:r>
              <a:rPr lang="en-US" sz="1400">
                <a:latin typeface="Consolas" pitchFamily="49" charset="0"/>
              </a:rPr>
              <a:t>} </a:t>
            </a:r>
            <a:r>
              <a:rPr lang="en-US" sz="1400">
                <a:solidFill>
                  <a:srgbClr val="00CC00"/>
                </a:solidFill>
                <a:latin typeface="Consolas" pitchFamily="49" charset="0"/>
              </a:rPr>
              <a:t>// end class GradeBook </a:t>
            </a:r>
          </a:p>
        </p:txBody>
      </p:sp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5943600" y="152401"/>
            <a:ext cx="3960681" cy="1906588"/>
            <a:chOff x="3456" y="96"/>
            <a:chExt cx="2303" cy="1201"/>
          </a:xfrm>
        </p:grpSpPr>
        <p:sp>
          <p:nvSpPr>
            <p:cNvPr id="17411" name="Rectangle 3"/>
            <p:cNvSpPr>
              <a:spLocks noChangeArrowheads="1"/>
            </p:cNvSpPr>
            <p:nvPr/>
          </p:nvSpPr>
          <p:spPr bwMode="auto">
            <a:xfrm>
              <a:off x="3456" y="96"/>
              <a:ext cx="2245" cy="1199"/>
            </a:xfrm>
            <a:prstGeom prst="rect">
              <a:avLst/>
            </a:prstGeom>
            <a:solidFill>
              <a:srgbClr val="EFEFF7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2" name="Text Box 4"/>
            <p:cNvSpPr txBox="1">
              <a:spLocks noChangeArrowheads="1"/>
            </p:cNvSpPr>
            <p:nvPr/>
          </p:nvSpPr>
          <p:spPr bwMode="auto">
            <a:xfrm>
              <a:off x="4182" y="144"/>
              <a:ext cx="953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000"/>
                </a:spcBef>
                <a:buClrTx/>
                <a:buFontTx/>
                <a:buNone/>
              </a:pPr>
              <a:r>
                <a:rPr lang="en-US" sz="1600" b="1">
                  <a:cs typeface="Courier New" pitchFamily="49" charset="0"/>
                </a:rPr>
                <a:t>GradeBook</a:t>
              </a:r>
            </a:p>
          </p:txBody>
        </p:sp>
        <p:sp>
          <p:nvSpPr>
            <p:cNvPr id="17413" name="Line 5"/>
            <p:cNvSpPr>
              <a:spLocks noChangeShapeType="1"/>
            </p:cNvSpPr>
            <p:nvPr/>
          </p:nvSpPr>
          <p:spPr bwMode="auto">
            <a:xfrm>
              <a:off x="3456" y="336"/>
              <a:ext cx="2252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3456" y="336"/>
              <a:ext cx="2303" cy="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- courseName : String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Arial" charset="0"/>
                </a:rPr>
                <a:t>«</a:t>
              </a:r>
              <a:r>
                <a:rPr lang="en-US" sz="1400">
                  <a:cs typeface="Courier New" pitchFamily="49" charset="0"/>
                </a:rPr>
                <a:t>constructor</a:t>
              </a:r>
              <a:r>
                <a:rPr lang="en-US" sz="1400"/>
                <a:t>»</a:t>
              </a:r>
              <a:r>
                <a:rPr lang="en-US" sz="1400">
                  <a:cs typeface="Courier New" pitchFamily="49" charset="0"/>
                </a:rPr>
                <a:t> GradeBook</a:t>
              </a:r>
              <a:r>
                <a:rPr lang="en-US" sz="1400"/>
                <a:t>( name: String )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setCourseName( n</a:t>
              </a:r>
              <a:r>
                <a:rPr lang="en-US" sz="1400"/>
                <a:t>ame: String </a:t>
              </a:r>
              <a:r>
                <a:rPr lang="en-US" sz="1400">
                  <a:cs typeface="Courier New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</a:t>
              </a:r>
              <a:r>
                <a:rPr lang="en-US" sz="1400"/>
                <a:t>getCourseName() : String</a:t>
              </a:r>
            </a:p>
            <a:p>
              <a:pPr>
                <a:lnSpc>
                  <a:spcPct val="90000"/>
                </a:lnSpc>
                <a:spcBef>
                  <a:spcPts val="875"/>
                </a:spcBef>
                <a:buClrTx/>
                <a:buFontTx/>
                <a:buNone/>
              </a:pPr>
              <a:r>
                <a:rPr lang="en-US" sz="1400">
                  <a:cs typeface="Courier New" pitchFamily="49" charset="0"/>
                </a:rPr>
                <a:t>+ displayMessage()</a:t>
              </a:r>
            </a:p>
          </p:txBody>
        </p:sp>
        <p:sp>
          <p:nvSpPr>
            <p:cNvPr id="17415" name="Line 7"/>
            <p:cNvSpPr>
              <a:spLocks noChangeShapeType="1"/>
            </p:cNvSpPr>
            <p:nvPr/>
          </p:nvSpPr>
          <p:spPr bwMode="auto">
            <a:xfrm>
              <a:off x="3456" y="528"/>
              <a:ext cx="2252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1981200" y="4718050"/>
            <a:ext cx="7759700" cy="1387176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GradeBookTest.java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…</a:t>
            </a:r>
          </a:p>
          <a:p>
            <a:pPr>
              <a:buClrTx/>
              <a:buFontTx/>
              <a:buNone/>
            </a:pPr>
            <a:r>
              <a:rPr lang="en-US" sz="1400" b="1"/>
              <a:t>         </a:t>
            </a:r>
            <a:r>
              <a:rPr lang="en-US" sz="1400" b="1">
                <a:solidFill>
                  <a:srgbClr val="00CC00"/>
                </a:solidFill>
              </a:rPr>
              <a:t>// tạo đối tượng GradeBook và gán cho myGradeBook</a:t>
            </a:r>
            <a:r>
              <a:rPr lang="en-US" sz="1400" b="1"/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GradeBook myGradeBook =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new</a:t>
            </a:r>
            <a:r>
              <a:rPr lang="en-US" sz="1400" b="1">
                <a:latin typeface="Consolas" pitchFamily="49" charset="0"/>
              </a:rPr>
              <a:t> GradeBook(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"CS101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Introduction to Java Programming“ </a:t>
            </a:r>
            <a:r>
              <a:rPr lang="en-US" sz="1400" b="1">
                <a:latin typeface="Consolas" pitchFamily="49" charset="0"/>
              </a:rPr>
              <a:t>);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04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00965" y="1471614"/>
            <a:ext cx="9212923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600">
                <a:cs typeface="Times New Roman" pitchFamily="16" charset="0"/>
              </a:rPr>
              <a:t>Phương thức khởi tạo không được khai báo tường minh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8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>
                <a:latin typeface="Courier New" pitchFamily="49" charset="0"/>
                <a:cs typeface="Courier New" pitchFamily="49" charset="0"/>
              </a:rPr>
              <a:t>class MyDate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8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>
                <a:latin typeface="Courier New" pitchFamily="49" charset="0"/>
                <a:cs typeface="Courier New" pitchFamily="49" charset="0"/>
              </a:rPr>
              <a:t>MyDate date = new MyDate();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18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95300" y="1387475"/>
            <a:ext cx="8915400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 err="1">
                <a:cs typeface="Courier New" pitchFamily="49" charset="0"/>
              </a:rPr>
              <a:t>Phương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thức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khởi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tạo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không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nhận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tham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dirty="0" err="1">
                <a:cs typeface="Courier New" pitchFamily="49" charset="0"/>
              </a:rPr>
              <a:t>số</a:t>
            </a:r>
            <a:endParaRPr lang="en-US" sz="2800" dirty="0"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  private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day, month, year;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 day=1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month=1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  year=2014;	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(”A new date created”);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d= new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386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559727" y="1447800"/>
            <a:ext cx="7974673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class MyDate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  private int day, month, year;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	  public MyDate()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	  day=1;month=1;year=2014;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    System.out.println(”A new date created”);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public MyDate(int d,m,y)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    day=d;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	  month=m;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		  year=y; 	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MyDate d1 = new MyDate();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MyDate d2 = new MyDate(19,9,2014);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62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57200" y="1485900"/>
            <a:ext cx="891540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  private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day, month, year;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	  public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800">
                <a:latin typeface="Courier New" pitchFamily="49" charset="0"/>
                <a:cs typeface="Courier New" pitchFamily="49" charset="0"/>
              </a:rPr>
              <a:t>,int m,int y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  day=d;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	  month=m;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	  year=y; 	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d1 = new </a:t>
            </a:r>
            <a:r>
              <a:rPr lang="en-US" sz="28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	//error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d2 = new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(19,9,2014);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54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95300" y="1447800"/>
            <a:ext cx="8915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0" indent="0" eaLnBrk="1" hangingPunct="1">
              <a:spcBef>
                <a:spcPts val="600"/>
              </a:spcBef>
              <a:buClr>
                <a:srgbClr val="00007D"/>
              </a:buClr>
              <a:buSzPct val="75000"/>
            </a:pPr>
            <a:r>
              <a:rPr lang="en-US" sz="2400" dirty="0" err="1"/>
              <a:t>Khởi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endParaRPr lang="en-US" sz="2400" dirty="0"/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private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year, month, day;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 {...}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d) {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  year =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d.year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  month =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d.month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    day =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d.day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273050" indent="-271463"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 (copy constructor)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904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495300" y="152400"/>
            <a:ext cx="8915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457200" y="1463675"/>
            <a:ext cx="8915400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71463"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842963" algn="l"/>
                <a:tab pos="1757363" algn="l"/>
                <a:tab pos="2671763" algn="l"/>
                <a:tab pos="3586163" algn="l"/>
                <a:tab pos="4500563" algn="l"/>
                <a:tab pos="5414963" algn="l"/>
                <a:tab pos="6329363" algn="l"/>
                <a:tab pos="7243763" algn="l"/>
                <a:tab pos="8158163" algn="l"/>
                <a:tab pos="9072563" algn="l"/>
                <a:tab pos="998696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d = new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d.setYear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(2005);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d.setMonth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(9);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d.setDay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(12);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openDay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(d);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d;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82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Cài đặt và Giao diện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219200"/>
            <a:ext cx="9906000" cy="4525963"/>
          </a:xfrm>
        </p:spPr>
        <p:txBody>
          <a:bodyPr>
            <a:normAutofit/>
          </a:bodyPr>
          <a:lstStyle/>
          <a:p>
            <a:r>
              <a:rPr lang="en-US" sz="2800" dirty="0" err="1"/>
              <a:t>GradeBookTest</a:t>
            </a:r>
            <a:r>
              <a:rPr lang="en-US" sz="2800" dirty="0"/>
              <a:t>: </a:t>
            </a:r>
            <a:r>
              <a:rPr lang="en-US" sz="2800" dirty="0" err="1"/>
              <a:t>là</a:t>
            </a:r>
            <a:r>
              <a:rPr lang="en-US" sz="2800" dirty="0"/>
              <a:t> “client”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GradeBook</a:t>
            </a:r>
            <a:endParaRPr lang="en-US" sz="2800" dirty="0"/>
          </a:p>
          <a:p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(Implementation)</a:t>
            </a:r>
          </a:p>
          <a:p>
            <a:pPr lvl="1"/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(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)</a:t>
            </a:r>
          </a:p>
          <a:p>
            <a:pPr lvl="1"/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endParaRPr lang="en-US" sz="2400" dirty="0"/>
          </a:p>
          <a:p>
            <a:pPr lvl="1"/>
            <a:r>
              <a:rPr lang="en-US" sz="2400" dirty="0"/>
              <a:t>“clients”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endParaRPr lang="en-US" sz="2400" dirty="0"/>
          </a:p>
          <a:p>
            <a:r>
              <a:rPr lang="en-US" sz="2800" dirty="0" err="1"/>
              <a:t>Giao</a:t>
            </a:r>
            <a:r>
              <a:rPr lang="en-US" sz="2800" dirty="0"/>
              <a:t> </a:t>
            </a:r>
            <a:r>
              <a:rPr lang="en-US" sz="2800" dirty="0" err="1"/>
              <a:t>diện</a:t>
            </a:r>
            <a:r>
              <a:rPr lang="en-US" sz="2800" dirty="0"/>
              <a:t> (Interface)</a:t>
            </a:r>
          </a:p>
          <a:p>
            <a:pPr lvl="1"/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khiển</a:t>
            </a:r>
            <a:r>
              <a:rPr lang="en-US" sz="2400" dirty="0"/>
              <a:t> </a:t>
            </a:r>
            <a:r>
              <a:rPr lang="en-US" sz="2400" dirty="0" err="1"/>
              <a:t>lộ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ngoài</a:t>
            </a:r>
            <a:r>
              <a:rPr lang="en-US" sz="2400" dirty="0"/>
              <a:t>,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“client” </a:t>
            </a:r>
            <a:r>
              <a:rPr lang="en-US" sz="2400" dirty="0" err="1"/>
              <a:t>gửi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(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)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endParaRPr lang="en-US" sz="2400" dirty="0"/>
          </a:p>
          <a:p>
            <a:pPr lvl="1"/>
            <a:r>
              <a:rPr lang="en-US" sz="2400" dirty="0" err="1"/>
              <a:t>Giống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bấm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hộp</a:t>
            </a:r>
            <a:r>
              <a:rPr lang="en-US" sz="2400" dirty="0"/>
              <a:t> </a:t>
            </a:r>
            <a:r>
              <a:rPr lang="en-US" sz="2400" dirty="0" err="1"/>
              <a:t>đen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003300" y="5334000"/>
            <a:ext cx="7759700" cy="95628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CC00"/>
                </a:solidFill>
                <a:latin typeface="Consolas" pitchFamily="49" charset="0"/>
              </a:rPr>
              <a:t>// GradeBookTest.java</a:t>
            </a:r>
          </a:p>
          <a:p>
            <a:pPr>
              <a:buClrTx/>
              <a:buFontTx/>
              <a:buNone/>
            </a:pPr>
            <a:r>
              <a:rPr lang="en-US" sz="1400" b="1"/>
              <a:t>         </a:t>
            </a:r>
            <a:r>
              <a:rPr lang="en-US" sz="1400" b="1">
                <a:solidFill>
                  <a:srgbClr val="00CC00"/>
                </a:solidFill>
              </a:rPr>
              <a:t>// tạo đối tượng GradeBook và gán cho myGradeBook</a:t>
            </a:r>
            <a:r>
              <a:rPr lang="en-US" sz="1400" b="1"/>
              <a:t>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GradeBook myGradeBook = 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 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new</a:t>
            </a:r>
            <a:r>
              <a:rPr lang="en-US" sz="1400" b="1">
                <a:latin typeface="Consolas" pitchFamily="49" charset="0"/>
              </a:rPr>
              <a:t> GradeBook(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"CS101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nsolas" pitchFamily="49" charset="0"/>
              </a:rPr>
              <a:t>Introduction to Java Programming“ </a:t>
            </a:r>
            <a:r>
              <a:rPr lang="en-US" sz="1400" b="1">
                <a:latin typeface="Consolas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1846656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Bao gói / Che dấu thông tin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“Không lộ các cấu trúc dữ liệu bên trong!”</a:t>
            </a:r>
          </a:p>
          <a:p>
            <a:r>
              <a:rPr lang="en-US"/>
              <a:t>Các đối tượng lưu giữ dữ liệu và mã lệnh</a:t>
            </a:r>
          </a:p>
          <a:p>
            <a:pPr lvl="1"/>
            <a:r>
              <a:rPr lang="en-US"/>
              <a:t>Không lộ ra </a:t>
            </a:r>
            <a:r>
              <a:rPr lang="en-US" smtClean="0"/>
              <a:t>cho </a:t>
            </a:r>
            <a:r>
              <a:rPr lang="en-US"/>
              <a:t>người dùng cuối</a:t>
            </a:r>
          </a:p>
          <a:p>
            <a:r>
              <a:rPr lang="en-US"/>
              <a:t>Các đối tượng mở ra / cung cấp các giao diện</a:t>
            </a:r>
          </a:p>
          <a:p>
            <a:pPr lvl="1"/>
            <a:r>
              <a:rPr lang="en-US"/>
              <a:t>dịch vụ được cung cấp bởi các đối tượng </a:t>
            </a:r>
          </a:p>
          <a:p>
            <a:r>
              <a:rPr lang="en-US"/>
              <a:t>Độ phức tạp được ẩn bên trong đối tượng </a:t>
            </a:r>
          </a:p>
          <a:p>
            <a:pPr lvl="1"/>
            <a:r>
              <a:rPr lang="en-US"/>
              <a:t>Tạo thuận tiện cho các “client” (chế ngự độ phức tạp) </a:t>
            </a:r>
          </a:p>
          <a:p>
            <a:pPr lvl="1"/>
            <a:r>
              <a:rPr lang="en-US"/>
              <a:t>Tính mô-đun hóa cao (cục bộ hóa sự thay đổi) </a:t>
            </a:r>
          </a:p>
          <a:p>
            <a:pPr lvl="2"/>
            <a:r>
              <a:rPr lang="en-US"/>
              <a:t>Cài đặt có thể được thay đổi mà không ảnh hưởng bên ngoài </a:t>
            </a:r>
            <a:br>
              <a:rPr lang="en-US"/>
            </a:br>
            <a:r>
              <a:rPr lang="en-US"/>
              <a:t>(thành phần khác) </a:t>
            </a:r>
          </a:p>
          <a:p>
            <a:pPr lvl="1"/>
            <a:r>
              <a:rPr lang="en-US"/>
              <a:t>Ít phát sinh lỗi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Lớp và Đối tượng trong Java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3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Tổng quan về Lập trình HĐT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93710" y="2967335"/>
            <a:ext cx="77185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192350524"/>
      </p:ext>
    </p:extLst>
  </p:cSld>
  <p:clrMapOvr>
    <a:masterClrMapping/>
  </p:clrMapOvr>
</p:sld>
</file>

<file path=ppt/theme/theme1.xml><?xml version="1.0" encoding="utf-8"?>
<a:theme xmlns:a="http://schemas.openxmlformats.org/drawingml/2006/main" name="Trinhlk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Trinhlk_template</Template>
  <TotalTime>20915</TotalTime>
  <Words>3177</Words>
  <Application>Microsoft Office PowerPoint</Application>
  <PresentationFormat>A4 Paper (210x297 mm)</PresentationFormat>
  <Paragraphs>699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SimSun</vt:lpstr>
      <vt:lpstr>Arial</vt:lpstr>
      <vt:lpstr>Calibri</vt:lpstr>
      <vt:lpstr>Candara</vt:lpstr>
      <vt:lpstr>Century Gothic</vt:lpstr>
      <vt:lpstr>Consolas</vt:lpstr>
      <vt:lpstr>Courier New</vt:lpstr>
      <vt:lpstr>Noto Sans CJK SC Regular</vt:lpstr>
      <vt:lpstr>Times New Roman</vt:lpstr>
      <vt:lpstr>Wingdings</vt:lpstr>
      <vt:lpstr>Trinhlk_template</vt:lpstr>
      <vt:lpstr>Bài 2: Tổng quan về Lập trình hướng đối tượng</vt:lpstr>
      <vt:lpstr>Đã học</vt:lpstr>
      <vt:lpstr>Nội dung</vt:lpstr>
      <vt:lpstr>Các phương pháp lập trình</vt:lpstr>
      <vt:lpstr>Lập trình phi cấu trúc</vt:lpstr>
      <vt:lpstr>Lập trình phi cấu trúc - Ví dụ</vt:lpstr>
      <vt:lpstr>Lập trình  thủ tục (Algol, Pascal, C, ...)</vt:lpstr>
      <vt:lpstr>Lập trình thủ tục (2)</vt:lpstr>
      <vt:lpstr>Lập trình logic - Ví dụ</vt:lpstr>
      <vt:lpstr>Lập trình hàm - Ví dụ</vt:lpstr>
      <vt:lpstr>Lập trình hướng đối tượng (HĐT)</vt:lpstr>
      <vt:lpstr>Lập trình HĐT (OOP) là gì?</vt:lpstr>
      <vt:lpstr>Khái niệm cơ bản về HĐT</vt:lpstr>
      <vt:lpstr>Trừu tượng hóa</vt:lpstr>
      <vt:lpstr>Các đối tượng</vt:lpstr>
      <vt:lpstr>Đối tượng và Tham chiếu đối tượng</vt:lpstr>
      <vt:lpstr>Các thông điệp (messages)</vt:lpstr>
      <vt:lpstr>Các lớp đối tượng</vt:lpstr>
      <vt:lpstr>Bao gói / Che dấu thông tin</vt:lpstr>
      <vt:lpstr>Kế thừa</vt:lpstr>
      <vt:lpstr>Đa hình</vt:lpstr>
      <vt:lpstr>Lịch sử của Lập trình HĐT</vt:lpstr>
      <vt:lpstr>HĐT trong các ngôn ngữ lập trình</vt:lpstr>
      <vt:lpstr>Chương trình Java</vt:lpstr>
      <vt:lpstr>PowerPoint Presentation</vt:lpstr>
      <vt:lpstr>Các đối tượng</vt:lpstr>
      <vt:lpstr>Đối tượng và Tham chiếu đối tượng</vt:lpstr>
      <vt:lpstr>Thuộc tính, Phương thức và  Kiểm soát truy cập</vt:lpstr>
      <vt:lpstr>PowerPoint Presentation</vt:lpstr>
      <vt:lpstr>PowerPoint Presentation</vt:lpstr>
      <vt:lpstr>Nạp chồng phương thức (overloading)</vt:lpstr>
      <vt:lpstr>Phương thức khởi tạo (constructor)</vt:lpstr>
      <vt:lpstr>Phương thức khởi tạo</vt:lpstr>
      <vt:lpstr>PowerPoint Presentation</vt:lpstr>
      <vt:lpstr>Ví dụ: Phương thức khởi tạo rỗng</vt:lpstr>
      <vt:lpstr>Ví dụ: Phương thức khởi tạo mặc định</vt:lpstr>
      <vt:lpstr>Ví dụ: Nhiều phương thức khởi tạo</vt:lpstr>
      <vt:lpstr>Ví dụ: Khi không có phương thức khởi tạo mặc định</vt:lpstr>
      <vt:lpstr>Khởi tạo sao chép (copy constructor)</vt:lpstr>
      <vt:lpstr>Ví dụ khởi tạo sao chép</vt:lpstr>
      <vt:lpstr>Cài đặt và Giao diện</vt:lpstr>
      <vt:lpstr>Bao gói / Che dấu thông tin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Method for Automated Generating Test Cases for Memory Protection of Autosar OS</dc:title>
  <dc:creator>Trinh Le</dc:creator>
  <cp:lastModifiedBy>Viet Tran Hoang</cp:lastModifiedBy>
  <cp:revision>704</cp:revision>
  <cp:lastPrinted>2016-09-21T04:17:26Z</cp:lastPrinted>
  <dcterms:created xsi:type="dcterms:W3CDTF">2016-05-31T12:51:22Z</dcterms:created>
  <dcterms:modified xsi:type="dcterms:W3CDTF">2025-09-05T15:45:58Z</dcterms:modified>
</cp:coreProperties>
</file>